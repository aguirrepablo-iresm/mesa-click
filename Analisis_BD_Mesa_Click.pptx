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8"/>
        </a:solidFill>
        <a:effectLst/>
      </p:bgPr>
    </p:bg>
    <p:spTree>
      <p:nvGrpSpPr>
        <p:cNvPr id="1" name=""/>
        <p:cNvGrpSpPr/>
        <p:nvPr/>
      </p:nvGrpSpPr>
      <p:grpSpPr/>
      <p:sp>
        <p:nvSpPr>
          <p:cNvPr id="2" name="Rectangle 1"/>
          <p:cNvSpPr/>
          <p:nvPr/>
        </p:nvSpPr>
        <p:spPr>
          <a:xfrm>
            <a:off x="731520" y="914400"/>
            <a:ext cx="1371600" cy="73152"/>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2011680" cy="365760"/>
          </a:xfrm>
          <a:prstGeom prst="round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MESA CLICK</a:t>
            </a:r>
          </a:p>
        </p:txBody>
      </p:sp>
      <p:sp>
        <p:nvSpPr>
          <p:cNvPr id="4" name="TextBox 3"/>
          <p:cNvSpPr txBox="1"/>
          <p:nvPr/>
        </p:nvSpPr>
        <p:spPr>
          <a:xfrm>
            <a:off x="731520" y="1737360"/>
            <a:ext cx="10515600" cy="2194560"/>
          </a:xfrm>
          <a:prstGeom prst="rect">
            <a:avLst/>
          </a:prstGeom>
          <a:noFill/>
        </p:spPr>
        <p:txBody>
          <a:bodyPr wrap="square">
            <a:spAutoFit/>
          </a:bodyPr>
          <a:lstStyle/>
          <a:p>
            <a:pPr>
              <a:defRPr sz="4000" b="1">
                <a:solidFill>
                  <a:srgbClr val="FFFFFF"/>
                </a:solidFill>
                <a:latin typeface="Segoe UI"/>
              </a:defRPr>
            </a:pPr>
            <a:r>
              <a:t>Análisis de Base de Datos</a:t>
            </a:r>
          </a:p>
          <a:p>
            <a:pPr>
              <a:defRPr sz="2000">
                <a:solidFill>
                  <a:srgbClr val="FAE8D8"/>
                </a:solidFill>
                <a:latin typeface="Segoe UI"/>
              </a:defRPr>
            </a:pPr>
            <a:r>
              <a:t>Justificación del motor de datos relacional (PostgreSQL) y diseño de la estructura del esquema</a:t>
            </a:r>
          </a:p>
          <a:p>
            <a:pPr>
              <a:defRPr sz="1400">
                <a:solidFill>
                  <a:srgbClr val="BABAB4"/>
                </a:solidFill>
                <a:latin typeface="Segoe UI"/>
              </a:defRPr>
            </a:pPr>
            <a:r>
              <a:t>De la evaluación inicial en MongoDB hacia una arquitectura relacional transaccional y multi-tenant</a:t>
            </a:r>
          </a:p>
        </p:txBody>
      </p:sp>
      <p:sp>
        <p:nvSpPr>
          <p:cNvPr id="5" name="Rounded Rectangle 4"/>
          <p:cNvSpPr/>
          <p:nvPr/>
        </p:nvSpPr>
        <p:spPr>
          <a:xfrm>
            <a:off x="731520" y="4389120"/>
            <a:ext cx="10698480" cy="1645920"/>
          </a:xfrm>
          <a:prstGeom prst="roundRect">
            <a:avLst/>
          </a:prstGeom>
          <a:solidFill>
            <a:srgbClr val="242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480560"/>
            <a:ext cx="10058400" cy="1463040"/>
          </a:xfrm>
          <a:prstGeom prst="rect">
            <a:avLst/>
          </a:prstGeom>
          <a:noFill/>
        </p:spPr>
        <p:txBody>
          <a:bodyPr wrap="square">
            <a:spAutoFit/>
          </a:bodyPr>
          <a:lstStyle/>
          <a:p>
            <a:pPr>
              <a:defRPr sz="1000" b="1">
                <a:solidFill>
                  <a:srgbClr val="E25B1A"/>
                </a:solidFill>
                <a:latin typeface="Segoe UI"/>
              </a:defRPr>
            </a:pPr>
            <a:r>
              <a:t>ALUMNO / AUTOR</a:t>
            </a:r>
          </a:p>
          <a:p>
            <a:pPr>
              <a:defRPr sz="1500" b="1">
                <a:solidFill>
                  <a:srgbClr val="FFFFFF"/>
                </a:solidFill>
                <a:latin typeface="Segoe UI"/>
              </a:defRPr>
            </a:pPr>
            <a:r>
              <a:t>Pablo Aguirre — Analista en Sistemas</a:t>
            </a:r>
          </a:p>
          <a:p>
            <a:pPr>
              <a:defRPr sz="1200">
                <a:solidFill>
                  <a:srgbClr val="9A9A94"/>
                </a:solidFill>
                <a:latin typeface="Segoe UI"/>
              </a:defRPr>
            </a:pPr>
            <a:r>
              <a:t>Instituto Remedios de Escalada de San Martín (IREMS) · Práctica Profesionalizante I · Año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 RELEVAMIENTO DE DOMINIO</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¿Qué datos maneja Mesa CLICK?</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Antes de elegir un motor, analizamos la forma y relaciones críticas de nuestros datos</a:t>
            </a:r>
          </a:p>
        </p:txBody>
      </p:sp>
      <p:sp>
        <p:nvSpPr>
          <p:cNvPr id="5" name="Rounded Rectangle 4"/>
          <p:cNvSpPr/>
          <p:nvPr/>
        </p:nvSpPr>
        <p:spPr>
          <a:xfrm>
            <a:off x="731520" y="1645920"/>
            <a:ext cx="3383280" cy="18288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73152"/>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1463040"/>
          </a:xfrm>
          <a:prstGeom prst="rect">
            <a:avLst/>
          </a:prstGeom>
          <a:noFill/>
        </p:spPr>
        <p:txBody>
          <a:bodyPr wrap="square">
            <a:spAutoFit/>
          </a:bodyPr>
          <a:lstStyle/>
          <a:p>
            <a:pPr>
              <a:defRPr sz="1400" b="1">
                <a:solidFill>
                  <a:srgbClr val="1A1A18"/>
                </a:solidFill>
                <a:latin typeface="Segoe UI"/>
              </a:defRPr>
            </a:pPr>
            <a:r>
              <a:t>Tenants &amp; Sucursales</a:t>
            </a:r>
          </a:p>
          <a:p>
            <a:pPr>
              <a:defRPr sz="1100">
                <a:solidFill>
                  <a:srgbClr val="5A5A55"/>
                </a:solidFill>
                <a:latin typeface="Segoe UI"/>
              </a:defRPr>
            </a:pPr>
            <a:r>
              <a:t>Negocios gastronómicos independientes, multi-sucursal, configuración de horarios y tokens de cobro.</a:t>
            </a:r>
          </a:p>
        </p:txBody>
      </p:sp>
      <p:sp>
        <p:nvSpPr>
          <p:cNvPr id="8" name="Rounded Rectangle 7"/>
          <p:cNvSpPr/>
          <p:nvPr/>
        </p:nvSpPr>
        <p:spPr>
          <a:xfrm>
            <a:off x="4389120" y="1645920"/>
            <a:ext cx="3383280" cy="18288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7315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28800"/>
            <a:ext cx="3017520" cy="1463040"/>
          </a:xfrm>
          <a:prstGeom prst="rect">
            <a:avLst/>
          </a:prstGeom>
          <a:noFill/>
        </p:spPr>
        <p:txBody>
          <a:bodyPr wrap="square">
            <a:spAutoFit/>
          </a:bodyPr>
          <a:lstStyle/>
          <a:p>
            <a:pPr>
              <a:defRPr sz="1400" b="1">
                <a:solidFill>
                  <a:srgbClr val="1A1A18"/>
                </a:solidFill>
                <a:latin typeface="Segoe UI"/>
              </a:defRPr>
            </a:pPr>
            <a:r>
              <a:t>Sectores &amp; Mesas QR</a:t>
            </a:r>
          </a:p>
          <a:p>
            <a:pPr>
              <a:defRPr sz="1100">
                <a:solidFill>
                  <a:srgbClr val="5A5A55"/>
                </a:solidFill>
                <a:latin typeface="Segoe UI"/>
              </a:defRPr>
            </a:pPr>
            <a:r>
              <a:t>Distribución física del salón (Terraza, Interior), mesas con QR estático único y control de estado.</a:t>
            </a:r>
          </a:p>
        </p:txBody>
      </p:sp>
      <p:sp>
        <p:nvSpPr>
          <p:cNvPr id="11" name="Rounded Rectangle 10"/>
          <p:cNvSpPr/>
          <p:nvPr/>
        </p:nvSpPr>
        <p:spPr>
          <a:xfrm>
            <a:off x="8046720" y="1645920"/>
            <a:ext cx="3383280" cy="18288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828800"/>
            <a:ext cx="3017520" cy="1463040"/>
          </a:xfrm>
          <a:prstGeom prst="rect">
            <a:avLst/>
          </a:prstGeom>
          <a:noFill/>
        </p:spPr>
        <p:txBody>
          <a:bodyPr wrap="square">
            <a:spAutoFit/>
          </a:bodyPr>
          <a:lstStyle/>
          <a:p>
            <a:pPr>
              <a:defRPr sz="1400" b="1">
                <a:solidFill>
                  <a:srgbClr val="1A1A18"/>
                </a:solidFill>
                <a:latin typeface="Segoe UI"/>
              </a:defRPr>
            </a:pPr>
            <a:r>
              <a:t>Carta Digital &amp; Variantes</a:t>
            </a:r>
          </a:p>
          <a:p>
            <a:pPr>
              <a:defRPr sz="1100">
                <a:solidFill>
                  <a:srgbClr val="5A5A55"/>
                </a:solidFill>
                <a:latin typeface="Segoe UI"/>
              </a:defRPr>
            </a:pPr>
            <a:r>
              <a:t>Categorías, artículos, precios de lista, fotos, grupos de variantes y disponibilidad en tiempo real (86).</a:t>
            </a:r>
          </a:p>
        </p:txBody>
      </p:sp>
      <p:sp>
        <p:nvSpPr>
          <p:cNvPr id="14" name="Rounded Rectangle 13"/>
          <p:cNvSpPr/>
          <p:nvPr/>
        </p:nvSpPr>
        <p:spPr>
          <a:xfrm>
            <a:off x="731520" y="3657600"/>
            <a:ext cx="3383280" cy="18288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657600"/>
            <a:ext cx="3383280" cy="73152"/>
          </a:xfrm>
          <a:prstGeom prst="rect">
            <a:avLst/>
          </a:prstGeom>
          <a:solidFill>
            <a:srgbClr val="A738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40480"/>
            <a:ext cx="3017520" cy="1463040"/>
          </a:xfrm>
          <a:prstGeom prst="rect">
            <a:avLst/>
          </a:prstGeom>
          <a:noFill/>
        </p:spPr>
        <p:txBody>
          <a:bodyPr wrap="square">
            <a:spAutoFit/>
          </a:bodyPr>
          <a:lstStyle/>
          <a:p>
            <a:pPr>
              <a:defRPr sz="1400" b="1">
                <a:solidFill>
                  <a:srgbClr val="1A1A18"/>
                </a:solidFill>
                <a:latin typeface="Segoe UI"/>
              </a:defRPr>
            </a:pPr>
            <a:r>
              <a:t>Comensales &amp; Pedidos</a:t>
            </a:r>
          </a:p>
          <a:p>
            <a:pPr>
              <a:defRPr sz="1100">
                <a:solidFill>
                  <a:srgbClr val="5A5A55"/>
                </a:solidFill>
                <a:latin typeface="Segoe UI"/>
              </a:defRPr>
            </a:pPr>
            <a:r>
              <a:t>Pedidos colaborativos en la misma mesa por dispositivo, notas, comensal identificado y estados de cocina.</a:t>
            </a:r>
          </a:p>
        </p:txBody>
      </p:sp>
      <p:sp>
        <p:nvSpPr>
          <p:cNvPr id="17" name="Rounded Rectangle 16"/>
          <p:cNvSpPr/>
          <p:nvPr/>
        </p:nvSpPr>
        <p:spPr>
          <a:xfrm>
            <a:off x="4389120" y="3657600"/>
            <a:ext cx="3383280" cy="18288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657600"/>
            <a:ext cx="3383280" cy="7315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840480"/>
            <a:ext cx="3017520" cy="1463040"/>
          </a:xfrm>
          <a:prstGeom prst="rect">
            <a:avLst/>
          </a:prstGeom>
          <a:noFill/>
        </p:spPr>
        <p:txBody>
          <a:bodyPr wrap="square">
            <a:spAutoFit/>
          </a:bodyPr>
          <a:lstStyle/>
          <a:p>
            <a:pPr>
              <a:defRPr sz="1400" b="1">
                <a:solidFill>
                  <a:srgbClr val="1A1A18"/>
                </a:solidFill>
                <a:latin typeface="Segoe UI"/>
              </a:defRPr>
            </a:pPr>
            <a:r>
              <a:t>Cuentas &amp; Pagos</a:t>
            </a:r>
          </a:p>
          <a:p>
            <a:pPr>
              <a:defRPr sz="1100">
                <a:solidFill>
                  <a:srgbClr val="5A5A55"/>
                </a:solidFill>
                <a:latin typeface="Segoe UI"/>
              </a:defRPr>
            </a:pPr>
            <a:r>
              <a:t>Cuentas por mesa con control de reapertura (cuenta_version), auditoría y webhooks de Mercado Pago.</a:t>
            </a:r>
          </a:p>
        </p:txBody>
      </p:sp>
      <p:sp>
        <p:nvSpPr>
          <p:cNvPr id="20" name="Rounded Rectangle 19"/>
          <p:cNvSpPr/>
          <p:nvPr/>
        </p:nvSpPr>
        <p:spPr>
          <a:xfrm>
            <a:off x="8046720" y="3657600"/>
            <a:ext cx="3383280" cy="18288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3657600"/>
            <a:ext cx="3383280"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840480"/>
            <a:ext cx="3017520" cy="1463040"/>
          </a:xfrm>
          <a:prstGeom prst="rect">
            <a:avLst/>
          </a:prstGeom>
          <a:noFill/>
        </p:spPr>
        <p:txBody>
          <a:bodyPr wrap="square">
            <a:spAutoFit/>
          </a:bodyPr>
          <a:lstStyle/>
          <a:p>
            <a:pPr>
              <a:defRPr sz="1400" b="1">
                <a:solidFill>
                  <a:srgbClr val="1A1A18"/>
                </a:solidFill>
                <a:latin typeface="Segoe UI"/>
              </a:defRPr>
            </a:pPr>
            <a:r>
              <a:t>Usuarios &amp; Roles</a:t>
            </a:r>
          </a:p>
          <a:p>
            <a:pPr>
              <a:defRPr sz="1100">
                <a:solidFill>
                  <a:srgbClr val="5A5A55"/>
                </a:solidFill>
                <a:latin typeface="Segoe UI"/>
              </a:defRPr>
            </a:pPr>
            <a:r>
              <a:t>Acceso administrativo y operativo (admin, encargado, mozo) autenticado mediante Magic Links efímeros.</a:t>
            </a:r>
          </a:p>
        </p:txBody>
      </p:sp>
      <p:sp>
        <p:nvSpPr>
          <p:cNvPr id="23" name="Rounded Rectangle 22"/>
          <p:cNvSpPr/>
          <p:nvPr/>
        </p:nvSpPr>
        <p:spPr>
          <a:xfrm>
            <a:off x="731520" y="5577840"/>
            <a:ext cx="10698480" cy="822960"/>
          </a:xfrm>
          <a:prstGeom prst="roundRect">
            <a:avLst/>
          </a:prstGeom>
          <a:solidFill>
            <a:srgbClr val="F3F2EE"/>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623560"/>
            <a:ext cx="10332720" cy="731520"/>
          </a:xfrm>
          <a:prstGeom prst="rect">
            <a:avLst/>
          </a:prstGeom>
          <a:noFill/>
        </p:spPr>
        <p:txBody>
          <a:bodyPr wrap="square">
            <a:spAutoFit/>
          </a:bodyPr>
          <a:lstStyle/>
          <a:p>
            <a:pPr>
              <a:defRPr sz="1100" b="1">
                <a:solidFill>
                  <a:srgbClr val="1A1A18"/>
                </a:solidFill>
                <a:latin typeface="Segoe UI"/>
              </a:defRPr>
            </a:pPr>
            <a:r>
              <a:t>Conclusión del relevamiento: Los datos de Mesa CLICK están intrínsecamente relacionados (Tenant -&gt; Sucursal -&gt; Mesa -&gt; Pedido -&gt; Items -&gt; Pagos). Se requiere consistencia ACID estricta para no duplicar pedidos, mezclar mesas ni perder cobros en caja.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2. PARADIGMAS DE PERSISTENCIA</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Dos familias de bases de datos</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Comparación estructural entre modelos Relacionales (SQL) y Orientados a Documentos (NoSQL)</a:t>
            </a:r>
          </a:p>
        </p:txBody>
      </p:sp>
      <p:sp>
        <p:nvSpPr>
          <p:cNvPr id="5" name="Rounded Rectangle 4"/>
          <p:cNvSpPr/>
          <p:nvPr/>
        </p:nvSpPr>
        <p:spPr>
          <a:xfrm>
            <a:off x="731520" y="1645920"/>
            <a:ext cx="512064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54864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defRPr sz="1500" b="1">
                <a:solidFill>
                  <a:srgbClr val="FFFFFF"/>
                </a:solidFill>
                <a:latin typeface="Segoe UI"/>
              </a:defRPr>
            </a:pPr>
            <a:r>
              <a:t>SQL Relacional (PostgreSQL / MySQL)</a:t>
            </a:r>
          </a:p>
        </p:txBody>
      </p:sp>
      <p:sp>
        <p:nvSpPr>
          <p:cNvPr id="7" name="TextBox 6"/>
          <p:cNvSpPr txBox="1"/>
          <p:nvPr/>
        </p:nvSpPr>
        <p:spPr>
          <a:xfrm>
            <a:off x="1005840" y="2377440"/>
            <a:ext cx="4572000" cy="3474720"/>
          </a:xfrm>
          <a:prstGeom prst="rect">
            <a:avLst/>
          </a:prstGeom>
          <a:noFill/>
        </p:spPr>
        <p:txBody>
          <a:bodyPr wrap="square">
            <a:spAutoFit/>
          </a:bodyPr>
          <a:lstStyle/>
          <a:p>
            <a:r>
              <a:rPr b="1" sz="1150">
                <a:solidFill>
                  <a:srgbClr val="1A1A18"/>
                </a:solidFill>
              </a:rPr>
              <a:t>Tablas, filas y columnas: </a:t>
            </a:r>
            <a:r>
              <a:rPr sz="1100">
                <a:solidFill>
                  <a:srgbClr val="5A5A55"/>
                </a:solidFill>
              </a:rPr>
              <a:t>Estructura rigurosa y normalizada definida de antemano.
</a:t>
            </a:r>
          </a:p>
          <a:p>
            <a:r>
              <a:rPr b="1" sz="1150">
                <a:solidFill>
                  <a:srgbClr val="1A1A18"/>
                </a:solidFill>
              </a:rPr>
              <a:t>Claves foráneas (FK): </a:t>
            </a:r>
            <a:r>
              <a:rPr sz="1100">
                <a:solidFill>
                  <a:srgbClr val="5A5A55"/>
                </a:solidFill>
              </a:rPr>
              <a:t>Integridad referencial que impide ítems huérfanos o pedidos sin mesa.
</a:t>
            </a:r>
          </a:p>
          <a:p>
            <a:r>
              <a:rPr b="1" sz="1150">
                <a:solidFill>
                  <a:srgbClr val="1A1A18"/>
                </a:solidFill>
              </a:rPr>
              <a:t>Transacciones ACID nativas: </a:t>
            </a:r>
            <a:r>
              <a:rPr sz="1100">
                <a:solidFill>
                  <a:srgbClr val="5A5A55"/>
                </a:solidFill>
              </a:rPr>
              <a:t>Atomicidad y aislamiento total: cobros y cambios de estado 'todo o nada'.
</a:t>
            </a:r>
          </a:p>
          <a:p>
            <a:r>
              <a:rPr b="1" sz="1150">
                <a:solidFill>
                  <a:srgbClr val="1A1A18"/>
                </a:solidFill>
              </a:rPr>
              <a:t>Consultas y Agregaciones: </a:t>
            </a:r>
            <a:r>
              <a:rPr sz="1100">
                <a:solidFill>
                  <a:srgbClr val="5A5A55"/>
                </a:solidFill>
              </a:rPr>
              <a:t>SQL declarativo optimizado mediante JOINs, índices B-Tree y métricas GROUP BY.
</a:t>
            </a:r>
          </a:p>
          <a:p>
            <a:r>
              <a:rPr b="1" sz="1150">
                <a:solidFill>
                  <a:srgbClr val="1A1A18"/>
                </a:solidFill>
              </a:rPr>
              <a:t>Migraciones formales: </a:t>
            </a:r>
            <a:r>
              <a:rPr sz="1100">
                <a:solidFill>
                  <a:srgbClr val="5A5A55"/>
                </a:solidFill>
              </a:rPr>
              <a:t>Evolución controlada y trazable mediante archivos SQL versionados.
</a:t>
            </a:r>
          </a:p>
        </p:txBody>
      </p:sp>
      <p:sp>
        <p:nvSpPr>
          <p:cNvPr id="8" name="Rounded Rectangle 7"/>
          <p:cNvSpPr/>
          <p:nvPr/>
        </p:nvSpPr>
        <p:spPr>
          <a:xfrm>
            <a:off x="6309360" y="1645920"/>
            <a:ext cx="512064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645920"/>
            <a:ext cx="5120640" cy="5486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defRPr sz="1500" b="1">
                <a:solidFill>
                  <a:srgbClr val="FFFFFF"/>
                </a:solidFill>
                <a:latin typeface="Segoe UI"/>
              </a:defRPr>
            </a:pPr>
            <a:r>
              <a:t>NoSQL de Documentos (MongoDB / Firestore)</a:t>
            </a:r>
          </a:p>
        </p:txBody>
      </p:sp>
      <p:sp>
        <p:nvSpPr>
          <p:cNvPr id="10" name="TextBox 9"/>
          <p:cNvSpPr txBox="1"/>
          <p:nvPr/>
        </p:nvSpPr>
        <p:spPr>
          <a:xfrm>
            <a:off x="6583680" y="2377440"/>
            <a:ext cx="4572000" cy="3474720"/>
          </a:xfrm>
          <a:prstGeom prst="rect">
            <a:avLst/>
          </a:prstGeom>
          <a:noFill/>
        </p:spPr>
        <p:txBody>
          <a:bodyPr wrap="square">
            <a:spAutoFit/>
          </a:bodyPr>
          <a:lstStyle/>
          <a:p>
            <a:r>
              <a:rPr b="1" sz="1150">
                <a:solidFill>
                  <a:srgbClr val="1A1A18"/>
                </a:solidFill>
              </a:rPr>
              <a:t>Documentos BSON / JSON: </a:t>
            </a:r>
            <a:r>
              <a:rPr sz="1100">
                <a:solidFill>
                  <a:srgbClr val="5A5A55"/>
                </a:solidFill>
              </a:rPr>
              <a:t>Colecciones donde cada documento puede tener campos y tipos distintos.
</a:t>
            </a:r>
          </a:p>
          <a:p>
            <a:r>
              <a:rPr b="1" sz="1150">
                <a:solidFill>
                  <a:srgbClr val="1A1A18"/>
                </a:solidFill>
              </a:rPr>
              <a:t>Datos anidados (Embedding): </a:t>
            </a:r>
            <a:r>
              <a:rPr sz="1100">
                <a:solidFill>
                  <a:srgbClr val="5A5A55"/>
                </a:solidFill>
              </a:rPr>
              <a:t>Agrupa ítems dentro del pedido en lugar de relacionar tablas.
</a:t>
            </a:r>
          </a:p>
          <a:p>
            <a:r>
              <a:rPr b="1" sz="1150">
                <a:solidFill>
                  <a:srgbClr val="1A1A18"/>
                </a:solidFill>
              </a:rPr>
              <a:t>Sin claves foráneas estrictas: </a:t>
            </a:r>
            <a:r>
              <a:rPr sz="1100">
                <a:solidFill>
                  <a:srgbClr val="5A5A55"/>
                </a:solidFill>
              </a:rPr>
              <a:t>La consistencia de datos recae completamente en el código de backend.
</a:t>
            </a:r>
          </a:p>
          <a:p>
            <a:r>
              <a:rPr b="1" sz="1150">
                <a:solidFill>
                  <a:srgbClr val="1A1A18"/>
                </a:solidFill>
              </a:rPr>
              <a:t>Transacciones distribuidas: </a:t>
            </a:r>
            <a:r>
              <a:rPr sz="1100">
                <a:solidFill>
                  <a:srgbClr val="5A5A55"/>
                </a:solidFill>
              </a:rPr>
              <a:t>Soporta transacciones multi-documento pero con mayor costo y complejidad.
</a:t>
            </a:r>
          </a:p>
          <a:p>
            <a:r>
              <a:rPr b="1" sz="1150">
                <a:solidFill>
                  <a:srgbClr val="1A1A18"/>
                </a:solidFill>
              </a:rPr>
              <a:t>Escalabilidad horizontal nativa: </a:t>
            </a:r>
            <a:r>
              <a:rPr sz="1100">
                <a:solidFill>
                  <a:srgbClr val="5A5A55"/>
                </a:solidFill>
              </a:rPr>
              <a:t>Diseñado para volúmenes masivos de datos desnormalizados e independientes.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3. EVALUACIÓN TÉCNICA</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Cuadro comparativo: SQL vs NoSQL</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Análisis riguroso de requerimientos frente a las necesidades reales de Mesa CLICK</a:t>
            </a: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560320"/>
                <a:gridCol w="4069080"/>
                <a:gridCol w="4069080"/>
              </a:tblGrid>
              <a:tr h="627017">
                <a:tc>
                  <a:txBody>
                    <a:bodyPr wrap="square" lIns="109728" rIns="109728" tIns="73152"/>
                    <a:lstStyle/>
                    <a:p>
                      <a:pPr>
                        <a:defRPr sz="1100" b="1">
                          <a:solidFill>
                            <a:srgbClr val="FFFFFF"/>
                          </a:solidFill>
                          <a:latin typeface="Segoe UI"/>
                        </a:defRPr>
                      </a:pPr>
                      <a:r>
                        <a:t>Criterio Operativo</a:t>
                      </a:r>
                    </a:p>
                  </a:txBody>
                  <a:tcPr>
                    <a:solidFill>
                      <a:srgbClr val="1A1A18"/>
                    </a:solidFill>
                  </a:tcPr>
                </a:tc>
                <a:tc>
                  <a:txBody>
                    <a:bodyPr wrap="square" lIns="109728" rIns="109728" tIns="73152"/>
                    <a:lstStyle/>
                    <a:p>
                      <a:pPr>
                        <a:defRPr sz="1100" b="1">
                          <a:solidFill>
                            <a:srgbClr val="FFFFFF"/>
                          </a:solidFill>
                          <a:latin typeface="Segoe UI"/>
                        </a:defRPr>
                      </a:pPr>
                      <a:r>
                        <a:t>SQL Relacional (PostgreSQL) - ELEGIDO</a:t>
                      </a:r>
                    </a:p>
                  </a:txBody>
                  <a:tcPr>
                    <a:solidFill>
                      <a:srgbClr val="E25B1A"/>
                    </a:solidFill>
                  </a:tcPr>
                </a:tc>
                <a:tc>
                  <a:txBody>
                    <a:bodyPr wrap="square" lIns="109728" rIns="109728" tIns="73152"/>
                    <a:lstStyle/>
                    <a:p>
                      <a:pPr>
                        <a:defRPr sz="1100" b="1">
                          <a:solidFill>
                            <a:srgbClr val="FFFFFF"/>
                          </a:solidFill>
                          <a:latin typeface="Segoe UI"/>
                        </a:defRPr>
                      </a:pPr>
                      <a:r>
                        <a:t>NoSQL Documentos (MongoDB) - DESCARTADO</a:t>
                      </a:r>
                    </a:p>
                  </a:txBody>
                  <a:tcPr>
                    <a:solidFill>
                      <a:srgbClr val="4A4A48"/>
                    </a:solidFill>
                  </a:tcPr>
                </a:tc>
              </a:tr>
              <a:tr h="627017">
                <a:tc>
                  <a:txBody>
                    <a:bodyPr wrap="square" lIns="109728" rIns="109728" tIns="54864"/>
                    <a:lstStyle/>
                    <a:p>
                      <a:pPr>
                        <a:defRPr sz="950" b="1">
                          <a:solidFill>
                            <a:srgbClr val="1A1A18"/>
                          </a:solidFill>
                          <a:latin typeface="Segoe UI"/>
                        </a:defRPr>
                      </a:pPr>
                      <a:r>
                        <a:t>Modelo de Datos y Multi-Tenancy</a:t>
                      </a:r>
                    </a:p>
                  </a:txBody>
                  <a:tcPr>
                    <a:solidFill>
                      <a:srgbClr val="FFFFFF"/>
                    </a:solidFill>
                  </a:tcPr>
                </a:tc>
                <a:tc>
                  <a:txBody>
                    <a:bodyPr wrap="square" lIns="109728" rIns="109728" tIns="54864"/>
                    <a:lstStyle/>
                    <a:p>
                      <a:pPr>
                        <a:defRPr sz="950">
                          <a:solidFill>
                            <a:srgbClr val="0F682A"/>
                          </a:solidFill>
                          <a:latin typeface="Segoe UI"/>
                        </a:defRPr>
                      </a:pPr>
                      <a:r>
                        <a:t>Encaja perfecto: Tenant -&gt; Sucursal -&gt; Sector -&gt; Mesa -&gt; Pedidos con FK estrictas.</a:t>
                      </a:r>
                    </a:p>
                  </a:txBody>
                  <a:tcPr>
                    <a:solidFill>
                      <a:srgbClr val="FFFFFF"/>
                    </a:solidFill>
                  </a:tcPr>
                </a:tc>
                <a:tc>
                  <a:txBody>
                    <a:bodyPr wrap="square" lIns="109728" rIns="109728" tIns="54864"/>
                    <a:lstStyle/>
                    <a:p>
                      <a:pPr>
                        <a:defRPr sz="950">
                          <a:solidFill>
                            <a:srgbClr val="8A2424"/>
                          </a:solidFill>
                          <a:latin typeface="Segoe UI"/>
                        </a:defRPr>
                      </a:pPr>
                      <a:r>
                        <a:t>Obliga a duplicar tenant/sucursal en cada documento o usar $lookup manual.</a:t>
                      </a:r>
                    </a:p>
                  </a:txBody>
                  <a:tcPr>
                    <a:solidFill>
                      <a:srgbClr val="FFFFFF"/>
                    </a:solidFill>
                  </a:tcPr>
                </a:tc>
              </a:tr>
              <a:tr h="627017">
                <a:tc>
                  <a:txBody>
                    <a:bodyPr wrap="square" lIns="109728" rIns="109728" tIns="54864"/>
                    <a:lstStyle/>
                    <a:p>
                      <a:pPr>
                        <a:defRPr sz="950" b="1">
                          <a:solidFill>
                            <a:srgbClr val="1A1A18"/>
                          </a:solidFill>
                          <a:latin typeface="Segoe UI"/>
                        </a:defRPr>
                      </a:pPr>
                      <a:r>
                        <a:t>Consistencia e Integridad</a:t>
                      </a:r>
                    </a:p>
                  </a:txBody>
                  <a:tcPr>
                    <a:solidFill>
                      <a:srgbClr val="F3F2EE"/>
                    </a:solidFill>
                  </a:tcPr>
                </a:tc>
                <a:tc>
                  <a:txBody>
                    <a:bodyPr wrap="square" lIns="109728" rIns="109728" tIns="54864"/>
                    <a:lstStyle/>
                    <a:p>
                      <a:pPr>
                        <a:defRPr sz="950">
                          <a:solidFill>
                            <a:srgbClr val="0F682A"/>
                          </a:solidFill>
                          <a:latin typeface="Segoe UI"/>
                        </a:defRPr>
                      </a:pPr>
                      <a:r>
                        <a:t>Claves foráneas y checks evitan pedidos huérfanos, mesas inválidas o cuentas duplicadas.</a:t>
                      </a:r>
                    </a:p>
                  </a:txBody>
                  <a:tcPr>
                    <a:solidFill>
                      <a:srgbClr val="F3F2EE"/>
                    </a:solidFill>
                  </a:tcPr>
                </a:tc>
                <a:tc>
                  <a:txBody>
                    <a:bodyPr wrap="square" lIns="109728" rIns="109728" tIns="54864"/>
                    <a:lstStyle/>
                    <a:p>
                      <a:pPr>
                        <a:defRPr sz="950">
                          <a:solidFill>
                            <a:srgbClr val="8A2424"/>
                          </a:solidFill>
                          <a:latin typeface="Segoe UI"/>
                        </a:defRPr>
                      </a:pPr>
                      <a:r>
                        <a:t>Sin FK: la integridad queda en manos del código, riesgoso en altas de cocina y salón.</a:t>
                      </a:r>
                    </a:p>
                  </a:txBody>
                  <a:tcPr>
                    <a:solidFill>
                      <a:srgbClr val="F3F2EE"/>
                    </a:solidFill>
                  </a:tcPr>
                </a:tc>
              </a:tr>
              <a:tr h="627017">
                <a:tc>
                  <a:txBody>
                    <a:bodyPr wrap="square" lIns="109728" rIns="109728" tIns="54864"/>
                    <a:lstStyle/>
                    <a:p>
                      <a:pPr>
                        <a:defRPr sz="950" b="1">
                          <a:solidFill>
                            <a:srgbClr val="1A1A18"/>
                          </a:solidFill>
                          <a:latin typeface="Segoe UI"/>
                        </a:defRPr>
                      </a:pPr>
                      <a:r>
                        <a:t>Concurrencia en Mesa (Múltiples Celulares)</a:t>
                      </a:r>
                    </a:p>
                  </a:txBody>
                  <a:tcPr>
                    <a:solidFill>
                      <a:srgbClr val="FFFFFF"/>
                    </a:solidFill>
                  </a:tcPr>
                </a:tc>
                <a:tc>
                  <a:txBody>
                    <a:bodyPr wrap="square" lIns="109728" rIns="109728" tIns="54864"/>
                    <a:lstStyle/>
                    <a:p>
                      <a:pPr>
                        <a:defRPr sz="950">
                          <a:solidFill>
                            <a:srgbClr val="0F682A"/>
                          </a:solidFill>
                          <a:latin typeface="Segoe UI"/>
                        </a:defRPr>
                      </a:pPr>
                      <a:r>
                        <a:t>Aislamiento transaccional y bloqueo por fila: varios comensales agregan ítems sin colisión.</a:t>
                      </a:r>
                    </a:p>
                  </a:txBody>
                  <a:tcPr>
                    <a:solidFill>
                      <a:srgbClr val="FFFFFF"/>
                    </a:solidFill>
                  </a:tcPr>
                </a:tc>
                <a:tc>
                  <a:txBody>
                    <a:bodyPr wrap="square" lIns="109728" rIns="109728" tIns="54864"/>
                    <a:lstStyle/>
                    <a:p>
                      <a:pPr>
                        <a:defRPr sz="950">
                          <a:solidFill>
                            <a:srgbClr val="8A2424"/>
                          </a:solidFill>
                          <a:latin typeface="Segoe UI"/>
                        </a:defRPr>
                      </a:pPr>
                      <a:r>
                        <a:t>Actualizar arrays concurrentes en un mismo documento genera colisiones y 'lost updates'.</a:t>
                      </a:r>
                    </a:p>
                  </a:txBody>
                  <a:tcPr>
                    <a:solidFill>
                      <a:srgbClr val="FFFFFF"/>
                    </a:solidFill>
                  </a:tcPr>
                </a:tc>
              </a:tr>
              <a:tr h="627017">
                <a:tc>
                  <a:txBody>
                    <a:bodyPr wrap="square" lIns="109728" rIns="109728" tIns="54864"/>
                    <a:lstStyle/>
                    <a:p>
                      <a:pPr>
                        <a:defRPr sz="950" b="1">
                          <a:solidFill>
                            <a:srgbClr val="1A1A18"/>
                          </a:solidFill>
                          <a:latin typeface="Segoe UI"/>
                        </a:defRPr>
                      </a:pPr>
                      <a:r>
                        <a:t>Snapshots Históricos de Precios</a:t>
                      </a:r>
                    </a:p>
                  </a:txBody>
                  <a:tcPr>
                    <a:solidFill>
                      <a:srgbClr val="F3F2EE"/>
                    </a:solidFill>
                  </a:tcPr>
                </a:tc>
                <a:tc>
                  <a:txBody>
                    <a:bodyPr wrap="square" lIns="109728" rIns="109728" tIns="54864"/>
                    <a:lstStyle/>
                    <a:p>
                      <a:pPr>
                        <a:defRPr sz="950">
                          <a:solidFill>
                            <a:srgbClr val="0F682A"/>
                          </a:solidFill>
                          <a:latin typeface="Segoe UI"/>
                        </a:defRPr>
                      </a:pPr>
                      <a:r>
                        <a:t>Separa artículo del precio histórico unitario en pedido_items de forma inmutable.</a:t>
                      </a:r>
                    </a:p>
                  </a:txBody>
                  <a:tcPr>
                    <a:solidFill>
                      <a:srgbClr val="F3F2EE"/>
                    </a:solidFill>
                  </a:tcPr>
                </a:tc>
                <a:tc>
                  <a:txBody>
                    <a:bodyPr wrap="square" lIns="109728" rIns="109728" tIns="54864"/>
                    <a:lstStyle/>
                    <a:p>
                      <a:pPr>
                        <a:defRPr sz="950">
                          <a:solidFill>
                            <a:srgbClr val="8A2424"/>
                          </a:solidFill>
                          <a:latin typeface="Segoe UI"/>
                        </a:defRPr>
                      </a:pPr>
                      <a:r>
                        <a:t>Requiere desnormalizar el artículo completo dentro de la comanda para no perder histórico.</a:t>
                      </a:r>
                    </a:p>
                  </a:txBody>
                  <a:tcPr>
                    <a:solidFill>
                      <a:srgbClr val="F3F2EE"/>
                    </a:solidFill>
                  </a:tcPr>
                </a:tc>
              </a:tr>
              <a:tr h="627017">
                <a:tc>
                  <a:txBody>
                    <a:bodyPr wrap="square" lIns="109728" rIns="109728" tIns="54864"/>
                    <a:lstStyle/>
                    <a:p>
                      <a:pPr>
                        <a:defRPr sz="950" b="1">
                          <a:solidFill>
                            <a:srgbClr val="1A1A18"/>
                          </a:solidFill>
                          <a:latin typeface="Segoe UI"/>
                        </a:defRPr>
                      </a:pPr>
                      <a:r>
                        <a:t>Reportes, Métricas &amp; Facturación (S17)</a:t>
                      </a:r>
                    </a:p>
                  </a:txBody>
                  <a:tcPr>
                    <a:solidFill>
                      <a:srgbClr val="FFFFFF"/>
                    </a:solidFill>
                  </a:tcPr>
                </a:tc>
                <a:tc>
                  <a:txBody>
                    <a:bodyPr wrap="square" lIns="109728" rIns="109728" tIns="54864"/>
                    <a:lstStyle/>
                    <a:p>
                      <a:pPr>
                        <a:defRPr sz="950">
                          <a:solidFill>
                            <a:srgbClr val="0F682A"/>
                          </a:solidFill>
                          <a:latin typeface="Segoe UI"/>
                        </a:defRPr>
                      </a:pPr>
                      <a:r>
                        <a:t>SQL estándar con GROUP BY, SUM(), índices B-Tree ultra rápidos y analítica nativa.</a:t>
                      </a:r>
                    </a:p>
                  </a:txBody>
                  <a:tcPr>
                    <a:solidFill>
                      <a:srgbClr val="FFFFFF"/>
                    </a:solidFill>
                  </a:tcPr>
                </a:tc>
                <a:tc>
                  <a:txBody>
                    <a:bodyPr wrap="square" lIns="109728" rIns="109728" tIns="54864"/>
                    <a:lstStyle/>
                    <a:p>
                      <a:pPr>
                        <a:defRPr sz="950">
                          <a:solidFill>
                            <a:srgbClr val="8A2424"/>
                          </a:solidFill>
                          <a:latin typeface="Segoe UI"/>
                        </a:defRPr>
                      </a:pPr>
                      <a:r>
                        <a:t>Pipelines de agregación ($unwind, $group) verbosos, difíciles de mantener y pesados.</a:t>
                      </a:r>
                    </a:p>
                  </a:txBody>
                  <a:tcPr>
                    <a:solidFill>
                      <a:srgbClr val="FFFFFF"/>
                    </a:solidFill>
                  </a:tcPr>
                </a:tc>
              </a:tr>
              <a:tr h="627018">
                <a:tc>
                  <a:txBody>
                    <a:bodyPr wrap="square" lIns="109728" rIns="109728" tIns="54864"/>
                    <a:lstStyle/>
                    <a:p>
                      <a:pPr>
                        <a:defRPr sz="950" b="1">
                          <a:solidFill>
                            <a:srgbClr val="1A1A18"/>
                          </a:solidFill>
                          <a:latin typeface="Segoe UI"/>
                        </a:defRPr>
                      </a:pPr>
                      <a:r>
                        <a:t>Flexibilidad Semiestructurada</a:t>
                      </a:r>
                    </a:p>
                  </a:txBody>
                  <a:tcPr>
                    <a:solidFill>
                      <a:srgbClr val="F3F2EE"/>
                    </a:solidFill>
                  </a:tcPr>
                </a:tc>
                <a:tc>
                  <a:txBody>
                    <a:bodyPr wrap="square" lIns="109728" rIns="109728" tIns="54864"/>
                    <a:lstStyle/>
                    <a:p>
                      <a:pPr>
                        <a:defRPr sz="950">
                          <a:solidFill>
                            <a:srgbClr val="0F682A"/>
                          </a:solidFill>
                          <a:latin typeface="Segoe UI"/>
                        </a:defRPr>
                      </a:pPr>
                      <a:r>
                        <a:t>Soporte híbrido con JSONB nativo para horarios de turnos y webhooks de Mercado Pago.</a:t>
                      </a:r>
                    </a:p>
                  </a:txBody>
                  <a:tcPr>
                    <a:solidFill>
                      <a:srgbClr val="F3F2EE"/>
                    </a:solidFill>
                  </a:tcPr>
                </a:tc>
                <a:tc>
                  <a:txBody>
                    <a:bodyPr wrap="square" lIns="109728" rIns="109728" tIns="54864"/>
                    <a:lstStyle/>
                    <a:p>
                      <a:pPr>
                        <a:defRPr sz="950">
                          <a:solidFill>
                            <a:srgbClr val="8A2424"/>
                          </a:solidFill>
                          <a:latin typeface="Segoe UI"/>
                        </a:defRPr>
                      </a:pPr>
                      <a:r>
                        <a:t>Esquema flexible, pero la heterogeneidad de documentos complica el código Go en el back.</a:t>
                      </a:r>
                    </a:p>
                  </a:txBody>
                  <a:tcPr>
                    <a:solidFill>
                      <a:srgbClr val="F3F2EE"/>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4. SELECCIÓN DE TECNOLOGÍA</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Motores evaluados: Matriz de ponderación</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Puntaje cuantitativo de 1 a 5 según requerimientos técnicos de Mesa CLICK</a:t>
            </a:r>
          </a:p>
        </p:txBody>
      </p:sp>
      <p:graphicFrame>
        <p:nvGraphicFramePr>
          <p:cNvPr id="5" name="Table 4"/>
          <p:cNvGraphicFramePr>
            <a:graphicFrameLocks noGrp="1"/>
          </p:cNvGraphicFramePr>
          <p:nvPr/>
        </p:nvGraphicFramePr>
        <p:xfrm>
          <a:off x="731520" y="1645920"/>
          <a:ext cx="10698480" cy="3291840"/>
        </p:xfrm>
        <a:graphic>
          <a:graphicData uri="http://schemas.openxmlformats.org/drawingml/2006/table">
            <a:tbl>
              <a:tblPr firstRow="1" bandRow="1">
                <a:tableStyleId>{5C22544A-7EE6-4342-B048-85BDC9FD1C3A}</a:tableStyleId>
              </a:tblPr>
              <a:tblGrid>
                <a:gridCol w="3383280"/>
                <a:gridCol w="1828800"/>
                <a:gridCol w="1828800"/>
                <a:gridCol w="1828800"/>
                <a:gridCol w="1828800"/>
              </a:tblGrid>
              <a:tr h="470262">
                <a:tc>
                  <a:txBody>
                    <a:bodyPr wrap="square"/>
                    <a:lstStyle/>
                    <a:p>
                      <a:pPr algn="l">
                        <a:defRPr sz="1100" b="1">
                          <a:solidFill>
                            <a:srgbClr val="FFFFFF"/>
                          </a:solidFill>
                          <a:latin typeface="Segoe UI"/>
                        </a:defRPr>
                      </a:pPr>
                      <a:r>
                        <a:t>Criterio de Evaluación (1 al 5)</a:t>
                      </a:r>
                    </a:p>
                  </a:txBody>
                  <a:tcPr>
                    <a:solidFill>
                      <a:srgbClr val="1A1A18"/>
                    </a:solidFill>
                  </a:tcPr>
                </a:tc>
                <a:tc>
                  <a:txBody>
                    <a:bodyPr wrap="square"/>
                    <a:lstStyle/>
                    <a:p>
                      <a:pPr algn="ctr">
                        <a:defRPr sz="1100" b="1">
                          <a:solidFill>
                            <a:srgbClr val="FFFFFF"/>
                          </a:solidFill>
                          <a:latin typeface="Segoe UI"/>
                        </a:defRPr>
                      </a:pPr>
                      <a:r>
                        <a:t>PostgreSQL</a:t>
                      </a:r>
                    </a:p>
                  </a:txBody>
                  <a:tcPr>
                    <a:solidFill>
                      <a:srgbClr val="E25B1A"/>
                    </a:solidFill>
                  </a:tcPr>
                </a:tc>
                <a:tc>
                  <a:txBody>
                    <a:bodyPr wrap="square"/>
                    <a:lstStyle/>
                    <a:p>
                      <a:pPr algn="ctr">
                        <a:defRPr sz="1100" b="1">
                          <a:solidFill>
                            <a:srgbClr val="FFFFFF"/>
                          </a:solidFill>
                          <a:latin typeface="Segoe UI"/>
                        </a:defRPr>
                      </a:pPr>
                      <a:r>
                        <a:t>MongoDB</a:t>
                      </a:r>
                    </a:p>
                  </a:txBody>
                  <a:tcPr>
                    <a:solidFill>
                      <a:srgbClr val="1A1A18"/>
                    </a:solidFill>
                  </a:tcPr>
                </a:tc>
                <a:tc>
                  <a:txBody>
                    <a:bodyPr wrap="square"/>
                    <a:lstStyle/>
                    <a:p>
                      <a:pPr algn="ctr">
                        <a:defRPr sz="1100" b="1">
                          <a:solidFill>
                            <a:srgbClr val="FFFFFF"/>
                          </a:solidFill>
                          <a:latin typeface="Segoe UI"/>
                        </a:defRPr>
                      </a:pPr>
                      <a:r>
                        <a:t>MySQL / MariaDB</a:t>
                      </a:r>
                    </a:p>
                  </a:txBody>
                  <a:tcPr>
                    <a:solidFill>
                      <a:srgbClr val="1A1A18"/>
                    </a:solidFill>
                  </a:tcPr>
                </a:tc>
                <a:tc>
                  <a:txBody>
                    <a:bodyPr wrap="square"/>
                    <a:lstStyle/>
                    <a:p>
                      <a:pPr algn="ctr">
                        <a:defRPr sz="1100" b="1">
                          <a:solidFill>
                            <a:srgbClr val="FFFFFF"/>
                          </a:solidFill>
                          <a:latin typeface="Segoe UI"/>
                        </a:defRPr>
                      </a:pPr>
                      <a:r>
                        <a:t>SQLite</a:t>
                      </a:r>
                    </a:p>
                  </a:txBody>
                  <a:tcPr>
                    <a:solidFill>
                      <a:srgbClr val="1A1A18"/>
                    </a:solidFill>
                  </a:tcPr>
                </a:tc>
              </a:tr>
              <a:tr h="470262">
                <a:tc>
                  <a:txBody>
                    <a:bodyPr wrap="square"/>
                    <a:lstStyle/>
                    <a:p>
                      <a:pPr algn="l">
                        <a:defRPr sz="1000" b="0">
                          <a:solidFill>
                            <a:srgbClr val="1A1A18"/>
                          </a:solidFill>
                          <a:latin typeface="Segoe UI"/>
                        </a:defRPr>
                      </a:pPr>
                      <a:r>
                        <a:t>Ajuste a datos relacionales y Multi-Tenancy</a:t>
                      </a:r>
                    </a:p>
                  </a:txBody>
                  <a:tcPr>
                    <a:solidFill>
                      <a:srgbClr val="FFFFFF"/>
                    </a:solidFill>
                  </a:tcPr>
                </a:tc>
                <a:tc>
                  <a:txBody>
                    <a:bodyPr wrap="square"/>
                    <a:lstStyle/>
                    <a:p>
                      <a:pPr algn="ctr">
                        <a:defRPr sz="1000" b="1">
                          <a:solidFill>
                            <a:srgbClr val="E25B1A"/>
                          </a:solidFill>
                          <a:latin typeface="Segoe UI"/>
                        </a:defRPr>
                      </a:pPr>
                      <a:r>
                        <a:t>5</a:t>
                      </a:r>
                    </a:p>
                  </a:txBody>
                  <a:tcPr>
                    <a:solidFill>
                      <a:srgbClr val="FFFFFF"/>
                    </a:solidFill>
                  </a:tcPr>
                </a:tc>
                <a:tc>
                  <a:txBody>
                    <a:bodyPr wrap="square"/>
                    <a:lstStyle/>
                    <a:p>
                      <a:pPr algn="ctr">
                        <a:defRPr sz="1000" b="0">
                          <a:solidFill>
                            <a:srgbClr val="1A1A18"/>
                          </a:solidFill>
                          <a:latin typeface="Segoe UI"/>
                        </a:defRPr>
                      </a:pPr>
                      <a:r>
                        <a:t>2</a:t>
                      </a:r>
                    </a:p>
                  </a:txBody>
                  <a:tcPr>
                    <a:solidFill>
                      <a:srgbClr val="FFFFFF"/>
                    </a:solidFill>
                  </a:tcPr>
                </a:tc>
                <a:tc>
                  <a:txBody>
                    <a:bodyPr wrap="square"/>
                    <a:lstStyle/>
                    <a:p>
                      <a:pPr algn="ctr">
                        <a:defRPr sz="1000" b="0">
                          <a:solidFill>
                            <a:srgbClr val="1A1A18"/>
                          </a:solidFill>
                          <a:latin typeface="Segoe UI"/>
                        </a:defRPr>
                      </a:pPr>
                      <a:r>
                        <a:t>5</a:t>
                      </a:r>
                    </a:p>
                  </a:txBody>
                  <a:tcPr>
                    <a:solidFill>
                      <a:srgbClr val="FFFFFF"/>
                    </a:solidFill>
                  </a:tcPr>
                </a:tc>
                <a:tc>
                  <a:txBody>
                    <a:bodyPr wrap="square"/>
                    <a:lstStyle/>
                    <a:p>
                      <a:pPr algn="ctr">
                        <a:defRPr sz="1000" b="0">
                          <a:solidFill>
                            <a:srgbClr val="1A1A18"/>
                          </a:solidFill>
                          <a:latin typeface="Segoe UI"/>
                        </a:defRPr>
                      </a:pPr>
                      <a:r>
                        <a:t>4</a:t>
                      </a:r>
                    </a:p>
                  </a:txBody>
                  <a:tcPr>
                    <a:solidFill>
                      <a:srgbClr val="FFFFFF"/>
                    </a:solidFill>
                  </a:tcPr>
                </a:tc>
              </a:tr>
              <a:tr h="470262">
                <a:tc>
                  <a:txBody>
                    <a:bodyPr wrap="square"/>
                    <a:lstStyle/>
                    <a:p>
                      <a:pPr algn="l">
                        <a:defRPr sz="1000" b="0">
                          <a:solidFill>
                            <a:srgbClr val="1A1A18"/>
                          </a:solidFill>
                          <a:latin typeface="Segoe UI"/>
                        </a:defRPr>
                      </a:pPr>
                      <a:r>
                        <a:t>Integridad referencial y transacciones ACID</a:t>
                      </a:r>
                    </a:p>
                  </a:txBody>
                  <a:tcPr>
                    <a:solidFill>
                      <a:srgbClr val="F3F2EE"/>
                    </a:solidFill>
                  </a:tcPr>
                </a:tc>
                <a:tc>
                  <a:txBody>
                    <a:bodyPr wrap="square"/>
                    <a:lstStyle/>
                    <a:p>
                      <a:pPr algn="ctr">
                        <a:defRPr sz="1000" b="1">
                          <a:solidFill>
                            <a:srgbClr val="E25B1A"/>
                          </a:solidFill>
                          <a:latin typeface="Segoe UI"/>
                        </a:defRPr>
                      </a:pPr>
                      <a:r>
                        <a:t>5</a:t>
                      </a:r>
                    </a:p>
                  </a:txBody>
                  <a:tcPr>
                    <a:solidFill>
                      <a:srgbClr val="F3F2EE"/>
                    </a:solidFill>
                  </a:tcPr>
                </a:tc>
                <a:tc>
                  <a:txBody>
                    <a:bodyPr wrap="square"/>
                    <a:lstStyle/>
                    <a:p>
                      <a:pPr algn="ctr">
                        <a:defRPr sz="1000" b="0">
                          <a:solidFill>
                            <a:srgbClr val="1A1A18"/>
                          </a:solidFill>
                          <a:latin typeface="Segoe UI"/>
                        </a:defRPr>
                      </a:pPr>
                      <a:r>
                        <a:t>3</a:t>
                      </a:r>
                    </a:p>
                  </a:txBody>
                  <a:tcPr>
                    <a:solidFill>
                      <a:srgbClr val="F3F2EE"/>
                    </a:solidFill>
                  </a:tcPr>
                </a:tc>
                <a:tc>
                  <a:txBody>
                    <a:bodyPr wrap="square"/>
                    <a:lstStyle/>
                    <a:p>
                      <a:pPr algn="ctr">
                        <a:defRPr sz="1000" b="0">
                          <a:solidFill>
                            <a:srgbClr val="1A1A18"/>
                          </a:solidFill>
                          <a:latin typeface="Segoe UI"/>
                        </a:defRPr>
                      </a:pPr>
                      <a:r>
                        <a:t>5</a:t>
                      </a:r>
                    </a:p>
                  </a:txBody>
                  <a:tcPr>
                    <a:solidFill>
                      <a:srgbClr val="F3F2EE"/>
                    </a:solidFill>
                  </a:tcPr>
                </a:tc>
                <a:tc>
                  <a:txBody>
                    <a:bodyPr wrap="square"/>
                    <a:lstStyle/>
                    <a:p>
                      <a:pPr algn="ctr">
                        <a:defRPr sz="1000" b="0">
                          <a:solidFill>
                            <a:srgbClr val="1A1A18"/>
                          </a:solidFill>
                          <a:latin typeface="Segoe UI"/>
                        </a:defRPr>
                      </a:pPr>
                      <a:r>
                        <a:t>3</a:t>
                      </a:r>
                    </a:p>
                  </a:txBody>
                  <a:tcPr>
                    <a:solidFill>
                      <a:srgbClr val="F3F2EE"/>
                    </a:solidFill>
                  </a:tcPr>
                </a:tc>
              </a:tr>
              <a:tr h="470262">
                <a:tc>
                  <a:txBody>
                    <a:bodyPr wrap="square"/>
                    <a:lstStyle/>
                    <a:p>
                      <a:pPr algn="l">
                        <a:defRPr sz="1000" b="0">
                          <a:solidFill>
                            <a:srgbClr val="1A1A18"/>
                          </a:solidFill>
                          <a:latin typeface="Segoe UI"/>
                        </a:defRPr>
                      </a:pPr>
                      <a:r>
                        <a:t>Soporte para JSON semiestructurado nativo</a:t>
                      </a:r>
                    </a:p>
                  </a:txBody>
                  <a:tcPr>
                    <a:solidFill>
                      <a:srgbClr val="FFFFFF"/>
                    </a:solidFill>
                  </a:tcPr>
                </a:tc>
                <a:tc>
                  <a:txBody>
                    <a:bodyPr wrap="square"/>
                    <a:lstStyle/>
                    <a:p>
                      <a:pPr algn="ctr">
                        <a:defRPr sz="1000" b="1">
                          <a:solidFill>
                            <a:srgbClr val="E25B1A"/>
                          </a:solidFill>
                          <a:latin typeface="Segoe UI"/>
                        </a:defRPr>
                      </a:pPr>
                      <a:r>
                        <a:t>5 (JSONB)</a:t>
                      </a:r>
                    </a:p>
                  </a:txBody>
                  <a:tcPr>
                    <a:solidFill>
                      <a:srgbClr val="FFFFFF"/>
                    </a:solidFill>
                  </a:tcPr>
                </a:tc>
                <a:tc>
                  <a:txBody>
                    <a:bodyPr wrap="square"/>
                    <a:lstStyle/>
                    <a:p>
                      <a:pPr algn="ctr">
                        <a:defRPr sz="1000" b="0">
                          <a:solidFill>
                            <a:srgbClr val="1A1A18"/>
                          </a:solidFill>
                          <a:latin typeface="Segoe UI"/>
                        </a:defRPr>
                      </a:pPr>
                      <a:r>
                        <a:t>5</a:t>
                      </a:r>
                    </a:p>
                  </a:txBody>
                  <a:tcPr>
                    <a:solidFill>
                      <a:srgbClr val="FFFFFF"/>
                    </a:solidFill>
                  </a:tcPr>
                </a:tc>
                <a:tc>
                  <a:txBody>
                    <a:bodyPr wrap="square"/>
                    <a:lstStyle/>
                    <a:p>
                      <a:pPr algn="ctr">
                        <a:defRPr sz="1000" b="0">
                          <a:solidFill>
                            <a:srgbClr val="1A1A18"/>
                          </a:solidFill>
                          <a:latin typeface="Segoe UI"/>
                        </a:defRPr>
                      </a:pPr>
                      <a:r>
                        <a:t>4</a:t>
                      </a:r>
                    </a:p>
                  </a:txBody>
                  <a:tcPr>
                    <a:solidFill>
                      <a:srgbClr val="FFFFFF"/>
                    </a:solidFill>
                  </a:tcPr>
                </a:tc>
                <a:tc>
                  <a:txBody>
                    <a:bodyPr wrap="square"/>
                    <a:lstStyle/>
                    <a:p>
                      <a:pPr algn="ctr">
                        <a:defRPr sz="1000" b="0">
                          <a:solidFill>
                            <a:srgbClr val="1A1A18"/>
                          </a:solidFill>
                          <a:latin typeface="Segoe UI"/>
                        </a:defRPr>
                      </a:pPr>
                      <a:r>
                        <a:t>3</a:t>
                      </a:r>
                    </a:p>
                  </a:txBody>
                  <a:tcPr>
                    <a:solidFill>
                      <a:srgbClr val="FFFFFF"/>
                    </a:solidFill>
                  </a:tcPr>
                </a:tc>
              </a:tr>
              <a:tr h="470262">
                <a:tc>
                  <a:txBody>
                    <a:bodyPr wrap="square"/>
                    <a:lstStyle/>
                    <a:p>
                      <a:pPr algn="l">
                        <a:defRPr sz="1000" b="0">
                          <a:solidFill>
                            <a:srgbClr val="1A1A18"/>
                          </a:solidFill>
                          <a:latin typeface="Segoe UI"/>
                        </a:defRPr>
                      </a:pPr>
                      <a:r>
                        <a:t>Concurrencia, Pool y performance en Go</a:t>
                      </a:r>
                    </a:p>
                  </a:txBody>
                  <a:tcPr>
                    <a:solidFill>
                      <a:srgbClr val="F3F2EE"/>
                    </a:solidFill>
                  </a:tcPr>
                </a:tc>
                <a:tc>
                  <a:txBody>
                    <a:bodyPr wrap="square"/>
                    <a:lstStyle/>
                    <a:p>
                      <a:pPr algn="ctr">
                        <a:defRPr sz="1000" b="1">
                          <a:solidFill>
                            <a:srgbClr val="E25B1A"/>
                          </a:solidFill>
                          <a:latin typeface="Segoe UI"/>
                        </a:defRPr>
                      </a:pPr>
                      <a:r>
                        <a:t>5 (pgx nativo)</a:t>
                      </a:r>
                    </a:p>
                  </a:txBody>
                  <a:tcPr>
                    <a:solidFill>
                      <a:srgbClr val="F3F2EE"/>
                    </a:solidFill>
                  </a:tcPr>
                </a:tc>
                <a:tc>
                  <a:txBody>
                    <a:bodyPr wrap="square"/>
                    <a:lstStyle/>
                    <a:p>
                      <a:pPr algn="ctr">
                        <a:defRPr sz="1000" b="0">
                          <a:solidFill>
                            <a:srgbClr val="1A1A18"/>
                          </a:solidFill>
                          <a:latin typeface="Segoe UI"/>
                        </a:defRPr>
                      </a:pPr>
                      <a:r>
                        <a:t>3</a:t>
                      </a:r>
                    </a:p>
                  </a:txBody>
                  <a:tcPr>
                    <a:solidFill>
                      <a:srgbClr val="F3F2EE"/>
                    </a:solidFill>
                  </a:tcPr>
                </a:tc>
                <a:tc>
                  <a:txBody>
                    <a:bodyPr wrap="square"/>
                    <a:lstStyle/>
                    <a:p>
                      <a:pPr algn="ctr">
                        <a:defRPr sz="1000" b="0">
                          <a:solidFill>
                            <a:srgbClr val="1A1A18"/>
                          </a:solidFill>
                          <a:latin typeface="Segoe UI"/>
                        </a:defRPr>
                      </a:pPr>
                      <a:r>
                        <a:t>4</a:t>
                      </a:r>
                    </a:p>
                  </a:txBody>
                  <a:tcPr>
                    <a:solidFill>
                      <a:srgbClr val="F3F2EE"/>
                    </a:solidFill>
                  </a:tcPr>
                </a:tc>
                <a:tc>
                  <a:txBody>
                    <a:bodyPr wrap="square"/>
                    <a:lstStyle/>
                    <a:p>
                      <a:pPr algn="ctr">
                        <a:defRPr sz="1000" b="0">
                          <a:solidFill>
                            <a:srgbClr val="1A1A18"/>
                          </a:solidFill>
                          <a:latin typeface="Segoe UI"/>
                        </a:defRPr>
                      </a:pPr>
                      <a:r>
                        <a:t>2</a:t>
                      </a:r>
                    </a:p>
                  </a:txBody>
                  <a:tcPr>
                    <a:solidFill>
                      <a:srgbClr val="F3F2EE"/>
                    </a:solidFill>
                  </a:tcPr>
                </a:tc>
              </a:tr>
              <a:tr h="470262">
                <a:tc>
                  <a:txBody>
                    <a:bodyPr wrap="square"/>
                    <a:lstStyle/>
                    <a:p>
                      <a:pPr algn="l">
                        <a:defRPr sz="1000" b="0">
                          <a:solidFill>
                            <a:srgbClr val="1A1A18"/>
                          </a:solidFill>
                          <a:latin typeface="Segoe UI"/>
                        </a:defRPr>
                      </a:pPr>
                      <a:r>
                        <a:t>Métricas de negocio y agregaciones (KPIs)</a:t>
                      </a:r>
                    </a:p>
                  </a:txBody>
                  <a:tcPr>
                    <a:solidFill>
                      <a:srgbClr val="FFFFFF"/>
                    </a:solidFill>
                  </a:tcPr>
                </a:tc>
                <a:tc>
                  <a:txBody>
                    <a:bodyPr wrap="square"/>
                    <a:lstStyle/>
                    <a:p>
                      <a:pPr algn="ctr">
                        <a:defRPr sz="1000" b="1">
                          <a:solidFill>
                            <a:srgbClr val="E25B1A"/>
                          </a:solidFill>
                          <a:latin typeface="Segoe UI"/>
                        </a:defRPr>
                      </a:pPr>
                      <a:r>
                        <a:t>5</a:t>
                      </a:r>
                    </a:p>
                  </a:txBody>
                  <a:tcPr>
                    <a:solidFill>
                      <a:srgbClr val="FFFFFF"/>
                    </a:solidFill>
                  </a:tcPr>
                </a:tc>
                <a:tc>
                  <a:txBody>
                    <a:bodyPr wrap="square"/>
                    <a:lstStyle/>
                    <a:p>
                      <a:pPr algn="ctr">
                        <a:defRPr sz="1000" b="0">
                          <a:solidFill>
                            <a:srgbClr val="1A1A18"/>
                          </a:solidFill>
                          <a:latin typeface="Segoe UI"/>
                        </a:defRPr>
                      </a:pPr>
                      <a:r>
                        <a:t>2</a:t>
                      </a:r>
                    </a:p>
                  </a:txBody>
                  <a:tcPr>
                    <a:solidFill>
                      <a:srgbClr val="FFFFFF"/>
                    </a:solidFill>
                  </a:tcPr>
                </a:tc>
                <a:tc>
                  <a:txBody>
                    <a:bodyPr wrap="square"/>
                    <a:lstStyle/>
                    <a:p>
                      <a:pPr algn="ctr">
                        <a:defRPr sz="1000" b="0">
                          <a:solidFill>
                            <a:srgbClr val="1A1A18"/>
                          </a:solidFill>
                          <a:latin typeface="Segoe UI"/>
                        </a:defRPr>
                      </a:pPr>
                      <a:r>
                        <a:t>4</a:t>
                      </a:r>
                    </a:p>
                  </a:txBody>
                  <a:tcPr>
                    <a:solidFill>
                      <a:srgbClr val="FFFFFF"/>
                    </a:solidFill>
                  </a:tcPr>
                </a:tc>
                <a:tc>
                  <a:txBody>
                    <a:bodyPr wrap="square"/>
                    <a:lstStyle/>
                    <a:p>
                      <a:pPr algn="ctr">
                        <a:defRPr sz="1000" b="0">
                          <a:solidFill>
                            <a:srgbClr val="1A1A18"/>
                          </a:solidFill>
                          <a:latin typeface="Segoe UI"/>
                        </a:defRPr>
                      </a:pPr>
                      <a:r>
                        <a:t>2</a:t>
                      </a:r>
                    </a:p>
                  </a:txBody>
                  <a:tcPr>
                    <a:solidFill>
                      <a:srgbClr val="FFFFFF"/>
                    </a:solidFill>
                  </a:tcPr>
                </a:tc>
              </a:tr>
              <a:tr h="470268">
                <a:tc>
                  <a:txBody>
                    <a:bodyPr wrap="square"/>
                    <a:lstStyle/>
                    <a:p>
                      <a:pPr algn="l">
                        <a:defRPr sz="1100" b="1">
                          <a:solidFill>
                            <a:srgbClr val="1A1A18"/>
                          </a:solidFill>
                          <a:latin typeface="Segoe UI"/>
                        </a:defRPr>
                      </a:pPr>
                      <a:r>
                        <a:t>TOTAL (sobre 25 puntos)</a:t>
                      </a:r>
                    </a:p>
                  </a:txBody>
                  <a:tcPr>
                    <a:solidFill>
                      <a:srgbClr val="F3F2EE"/>
                    </a:solidFill>
                  </a:tcPr>
                </a:tc>
                <a:tc>
                  <a:txBody>
                    <a:bodyPr wrap="square"/>
                    <a:lstStyle/>
                    <a:p>
                      <a:pPr algn="ctr">
                        <a:defRPr sz="1100" b="1">
                          <a:solidFill>
                            <a:srgbClr val="A73807"/>
                          </a:solidFill>
                          <a:latin typeface="Segoe UI"/>
                        </a:defRPr>
                      </a:pPr>
                      <a:r>
                        <a:t>25 / 25</a:t>
                      </a:r>
                    </a:p>
                  </a:txBody>
                  <a:tcPr>
                    <a:solidFill>
                      <a:srgbClr val="FAE8D8"/>
                    </a:solidFill>
                  </a:tcPr>
                </a:tc>
                <a:tc>
                  <a:txBody>
                    <a:bodyPr wrap="square"/>
                    <a:lstStyle/>
                    <a:p>
                      <a:pPr algn="ctr">
                        <a:defRPr sz="1100" b="1">
                          <a:solidFill>
                            <a:srgbClr val="1A1A18"/>
                          </a:solidFill>
                          <a:latin typeface="Segoe UI"/>
                        </a:defRPr>
                      </a:pPr>
                      <a:r>
                        <a:t>15 / 25</a:t>
                      </a:r>
                    </a:p>
                  </a:txBody>
                  <a:tcPr>
                    <a:solidFill>
                      <a:srgbClr val="F3F2EE"/>
                    </a:solidFill>
                  </a:tcPr>
                </a:tc>
                <a:tc>
                  <a:txBody>
                    <a:bodyPr wrap="square"/>
                    <a:lstStyle/>
                    <a:p>
                      <a:pPr algn="ctr">
                        <a:defRPr sz="1100" b="1">
                          <a:solidFill>
                            <a:srgbClr val="1A1A18"/>
                          </a:solidFill>
                          <a:latin typeface="Segoe UI"/>
                        </a:defRPr>
                      </a:pPr>
                      <a:r>
                        <a:t>22 / 25</a:t>
                      </a:r>
                    </a:p>
                  </a:txBody>
                  <a:tcPr>
                    <a:solidFill>
                      <a:srgbClr val="F3F2EE"/>
                    </a:solidFill>
                  </a:tcPr>
                </a:tc>
                <a:tc>
                  <a:txBody>
                    <a:bodyPr wrap="square"/>
                    <a:lstStyle/>
                    <a:p>
                      <a:pPr algn="ctr">
                        <a:defRPr sz="1100" b="1">
                          <a:solidFill>
                            <a:srgbClr val="1A1A18"/>
                          </a:solidFill>
                          <a:latin typeface="Segoe UI"/>
                        </a:defRPr>
                      </a:pPr>
                      <a:r>
                        <a:t>14 / 25</a:t>
                      </a:r>
                    </a:p>
                  </a:txBody>
                  <a:tcPr>
                    <a:solidFill>
                      <a:srgbClr val="F3F2EE"/>
                    </a:solidFill>
                  </a:tcPr>
                </a:tc>
              </a:tr>
            </a:tbl>
          </a:graphicData>
        </a:graphic>
      </p:graphicFrame>
      <p:sp>
        <p:nvSpPr>
          <p:cNvPr id="6" name="Rounded Rectangle 5"/>
          <p:cNvSpPr/>
          <p:nvPr/>
        </p:nvSpPr>
        <p:spPr>
          <a:xfrm>
            <a:off x="731520" y="5120640"/>
            <a:ext cx="10698480" cy="128016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12080"/>
            <a:ext cx="10332720" cy="1097280"/>
          </a:xfrm>
          <a:prstGeom prst="rect">
            <a:avLst/>
          </a:prstGeom>
          <a:noFill/>
        </p:spPr>
        <p:txBody>
          <a:bodyPr wrap="square">
            <a:spAutoFit/>
          </a:bodyPr>
          <a:lstStyle/>
          <a:p>
            <a:pPr>
              <a:defRPr sz="1100" b="1">
                <a:solidFill>
                  <a:srgbClr val="E25B1A"/>
                </a:solidFill>
                <a:latin typeface="Segoe UI"/>
              </a:defRPr>
            </a:pPr>
            <a:r>
              <a:t>Lectura del resultado:</a:t>
            </a:r>
          </a:p>
          <a:p>
            <a:pPr>
              <a:defRPr sz="1000">
                <a:solidFill>
                  <a:srgbClr val="5A5A55"/>
                </a:solidFill>
                <a:latin typeface="Segoe UI"/>
              </a:defRPr>
            </a:pPr>
            <a:r>
              <a:t>• PostgreSQL resulta el ganador indiscutido (25/25): Ofrece el rigor relacional necesario para la facturación y los pedidos en vivo, sumado al poder de JSONB para configuraciones flexibles.</a:t>
            </a:r>
            <a:br/>
            <a:r>
              <a:t>• MongoDB (15/25): Descartado porque obligaba a implementar la integridad por software, penalizando la concurrencia de comensales y complicando las consultas analíticas del negocio.</a:t>
            </a:r>
            <a:br/>
            <a:r>
              <a:t>• MySQL (22/25): Excelente alternativa relacional, pero PostgreSQL ofrece tipos avanzados (UUID nativo, JSONB indexable GIN) y mejor integración concurrente con el stack 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5. EL DILEMA INICIAL</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¿Por qué en su momento se pensó en MongoDB?</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La hipótesis inicial del equipo y la aparente afinidad con el dominio gastronómico</a:t>
            </a:r>
          </a:p>
        </p:txBody>
      </p:sp>
      <p:sp>
        <p:nvSpPr>
          <p:cNvPr id="5" name="Rounded Rectangle 4"/>
          <p:cNvSpPr/>
          <p:nvPr/>
        </p:nvSpPr>
        <p:spPr>
          <a:xfrm>
            <a:off x="731520" y="1645920"/>
            <a:ext cx="3383280" cy="36576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73152"/>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3017520" cy="3291840"/>
          </a:xfrm>
          <a:prstGeom prst="rect">
            <a:avLst/>
          </a:prstGeom>
          <a:noFill/>
        </p:spPr>
        <p:txBody>
          <a:bodyPr wrap="square">
            <a:spAutoFit/>
          </a:bodyPr>
          <a:lstStyle/>
          <a:p>
            <a:pPr>
              <a:defRPr sz="1300" b="1">
                <a:solidFill>
                  <a:srgbClr val="1A1A18"/>
                </a:solidFill>
                <a:latin typeface="Segoe UI"/>
              </a:defRPr>
            </a:pPr>
            <a:r>
              <a:t>1. La ilusión del 'Menú como un JSON'</a:t>
            </a:r>
          </a:p>
          <a:p>
            <a:pPr>
              <a:defRPr sz="1050">
                <a:solidFill>
                  <a:srgbClr val="5A5A55"/>
                </a:solidFill>
                <a:latin typeface="Segoe UI"/>
              </a:defRPr>
            </a:pPr>
            <a:r>
              <a:t>En una primera mirada, una carta gastronómica parece un árbol de documentos:</a:t>
            </a:r>
            <a:br/>
            <a:br/>
            <a:r>
              <a:t>• Una categoría contiene platos.</a:t>
            </a:r>
            <a:br/>
            <a:r>
              <a:t>• Un plato contiene ingredientes, variantes y opciones.</a:t>
            </a:r>
            <a:br/>
            <a:r>
              <a:t>• Parecía intuitivo guardar todo el menú de un restaurante como un único documento JSON estructurado.</a:t>
            </a:r>
          </a:p>
        </p:txBody>
      </p:sp>
      <p:sp>
        <p:nvSpPr>
          <p:cNvPr id="8" name="Rounded Rectangle 7"/>
          <p:cNvSpPr/>
          <p:nvPr/>
        </p:nvSpPr>
        <p:spPr>
          <a:xfrm>
            <a:off x="4389120" y="1645920"/>
            <a:ext cx="3383280" cy="36576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7315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74520"/>
            <a:ext cx="3017520" cy="3291840"/>
          </a:xfrm>
          <a:prstGeom prst="rect">
            <a:avLst/>
          </a:prstGeom>
          <a:noFill/>
        </p:spPr>
        <p:txBody>
          <a:bodyPr wrap="square">
            <a:spAutoFit/>
          </a:bodyPr>
          <a:lstStyle/>
          <a:p>
            <a:pPr>
              <a:defRPr sz="1300" b="1">
                <a:solidFill>
                  <a:srgbClr val="1A1A18"/>
                </a:solidFill>
                <a:latin typeface="Segoe UI"/>
              </a:defRPr>
            </a:pPr>
            <a:r>
              <a:t>2. El pedido como comanda anidada</a:t>
            </a:r>
          </a:p>
          <a:p>
            <a:pPr>
              <a:defRPr sz="1050">
                <a:solidFill>
                  <a:srgbClr val="5A5A55"/>
                </a:solidFill>
                <a:latin typeface="Segoe UI"/>
              </a:defRPr>
            </a:pPr>
            <a:r>
              <a:t>El flujo de un cliente al escanear la mesa parece un envío de formulario:</a:t>
            </a:r>
            <a:br/>
            <a:br/>
            <a:r>
              <a:t>• El cliente selecciona varios ítems con notas.</a:t>
            </a:r>
            <a:br/>
            <a:r>
              <a:t>• Parecía natural hacer un solo `insert` de un documento comanda con un array `items: [{...}]` sin preocuparse por normalizar ni hacer múltiples inserciones relacionales.</a:t>
            </a:r>
          </a:p>
        </p:txBody>
      </p:sp>
      <p:sp>
        <p:nvSpPr>
          <p:cNvPr id="11" name="Rounded Rectangle 10"/>
          <p:cNvSpPr/>
          <p:nvPr/>
        </p:nvSpPr>
        <p:spPr>
          <a:xfrm>
            <a:off x="8046720" y="1645920"/>
            <a:ext cx="3383280" cy="36576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874520"/>
            <a:ext cx="3017520" cy="3291840"/>
          </a:xfrm>
          <a:prstGeom prst="rect">
            <a:avLst/>
          </a:prstGeom>
          <a:noFill/>
        </p:spPr>
        <p:txBody>
          <a:bodyPr wrap="square">
            <a:spAutoFit/>
          </a:bodyPr>
          <a:lstStyle/>
          <a:p>
            <a:pPr>
              <a:defRPr sz="1300" b="1">
                <a:solidFill>
                  <a:srgbClr val="1A1A18"/>
                </a:solidFill>
                <a:latin typeface="Segoe UI"/>
              </a:defRPr>
            </a:pPr>
            <a:r>
              <a:t>3. Velocidad inicial sin migraciones (Schemaless)</a:t>
            </a:r>
          </a:p>
          <a:p>
            <a:pPr>
              <a:defRPr sz="1050">
                <a:solidFill>
                  <a:srgbClr val="5A5A55"/>
                </a:solidFill>
                <a:latin typeface="Segoe UI"/>
              </a:defRPr>
            </a:pPr>
            <a:r>
              <a:t>La promesa de desarrollo ágil inicial:</a:t>
            </a:r>
            <a:br/>
            <a:br/>
            <a:r>
              <a:t>• Sin necesidad de definir DDL o tipos estrictos al comienzo.</a:t>
            </a:r>
            <a:br/>
            <a:r>
              <a:t>• Facilidad para agregar campos sobre la marcha sin ejecutar comandos `ALTER TABLE`.</a:t>
            </a:r>
            <a:br/>
            <a:r>
              <a:t>• Familiaridad en la industria para MVPs sencillos basados en JavaScript/Node.js.</a:t>
            </a:r>
          </a:p>
        </p:txBody>
      </p:sp>
      <p:sp>
        <p:nvSpPr>
          <p:cNvPr id="14" name="Rounded Rectangle 13"/>
          <p:cNvSpPr/>
          <p:nvPr/>
        </p:nvSpPr>
        <p:spPr>
          <a:xfrm>
            <a:off x="731520" y="5486400"/>
            <a:ext cx="10698480" cy="914400"/>
          </a:xfrm>
          <a:prstGeom prst="roundRect">
            <a:avLst/>
          </a:prstGeom>
          <a:solidFill>
            <a:srgbClr val="FEE2E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32120"/>
            <a:ext cx="10332720" cy="822960"/>
          </a:xfrm>
          <a:prstGeom prst="rect">
            <a:avLst/>
          </a:prstGeom>
          <a:noFill/>
        </p:spPr>
        <p:txBody>
          <a:bodyPr wrap="square">
            <a:spAutoFit/>
          </a:bodyPr>
          <a:lstStyle/>
          <a:p>
            <a:pPr>
              <a:defRPr sz="1050" b="1">
                <a:solidFill>
                  <a:srgbClr val="DC2626"/>
                </a:solidFill>
                <a:latin typeface="Segoe UI"/>
              </a:defRPr>
            </a:pPr>
            <a:r>
              <a:t>EL QUIEBRE DE LA HIPÓTESIS:</a:t>
            </a:r>
          </a:p>
          <a:p>
            <a:pPr>
              <a:defRPr sz="1000">
                <a:solidFill>
                  <a:srgbClr val="1A1A18"/>
                </a:solidFill>
                <a:latin typeface="Segoe UI"/>
              </a:defRPr>
            </a:pPr>
            <a:r>
              <a:t>Lo que parecía simple para mostrar una carta estática colapsó al modelar la dinámica real de un salón: pedidos colaborativos concurrentes en la misma mesa, stock (86), auditoría de cambios de precios y liquidación de pagos. MongoDB transfería toda la responsabilidad de consistencia a la capa de aplicación.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6. ANÁLISIS CRÍTICO</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¿Por qué se descartó MongoDB?</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Los cuatro problemas estructurales que hicieron inviable MongoDB para Mesa CLICK</a:t>
            </a:r>
          </a:p>
        </p:txBody>
      </p:sp>
      <p:sp>
        <p:nvSpPr>
          <p:cNvPr id="5" name="Rounded Rectangle 4"/>
          <p:cNvSpPr/>
          <p:nvPr/>
        </p:nvSpPr>
        <p:spPr>
          <a:xfrm>
            <a:off x="731520" y="1645920"/>
            <a:ext cx="5212080" cy="2103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21031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4754880" cy="1828800"/>
          </a:xfrm>
          <a:prstGeom prst="rect">
            <a:avLst/>
          </a:prstGeom>
          <a:noFill/>
        </p:spPr>
        <p:txBody>
          <a:bodyPr wrap="square">
            <a:spAutoFit/>
          </a:bodyPr>
          <a:lstStyle/>
          <a:p>
            <a:pPr>
              <a:defRPr sz="1300" b="1">
                <a:solidFill>
                  <a:srgbClr val="1A1A18"/>
                </a:solidFill>
                <a:latin typeface="Segoe UI"/>
              </a:defRPr>
            </a:pPr>
            <a:r>
              <a:t>1. Concurrencia en Mesa y 'Lost Updates'</a:t>
            </a:r>
          </a:p>
          <a:p>
            <a:pPr>
              <a:defRPr sz="1050">
                <a:solidFill>
                  <a:srgbClr val="5A5A55"/>
                </a:solidFill>
                <a:latin typeface="Segoe UI"/>
              </a:defRPr>
            </a:pPr>
            <a:r>
              <a:t>En Mesa CLICK varios comensales piden a la vez desde sus celulares al mismo QR de mesa. Si guardamos el pedido como un único documento con un array de ítems, dos comensales enviando órdenes concurrentes provocan condiciones de carrera y sobrescritura de platos.</a:t>
            </a:r>
          </a:p>
        </p:txBody>
      </p:sp>
      <p:sp>
        <p:nvSpPr>
          <p:cNvPr id="8" name="Rounded Rectangle 7"/>
          <p:cNvSpPr/>
          <p:nvPr/>
        </p:nvSpPr>
        <p:spPr>
          <a:xfrm>
            <a:off x="6217920" y="1645920"/>
            <a:ext cx="5212080" cy="2103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109728" cy="21031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1828800"/>
          </a:xfrm>
          <a:prstGeom prst="rect">
            <a:avLst/>
          </a:prstGeom>
          <a:noFill/>
        </p:spPr>
        <p:txBody>
          <a:bodyPr wrap="square">
            <a:spAutoFit/>
          </a:bodyPr>
          <a:lstStyle/>
          <a:p>
            <a:pPr>
              <a:defRPr sz="1300" b="1">
                <a:solidFill>
                  <a:srgbClr val="1A1A18"/>
                </a:solidFill>
                <a:latin typeface="Segoe UI"/>
              </a:defRPr>
            </a:pPr>
            <a:r>
              <a:t>2. El dilema de la actualización de precios</a:t>
            </a:r>
          </a:p>
          <a:p>
            <a:pPr>
              <a:defRPr sz="1050">
                <a:solidFill>
                  <a:srgbClr val="5A5A55"/>
                </a:solidFill>
                <a:latin typeface="Segoe UI"/>
              </a:defRPr>
            </a:pPr>
            <a:r>
              <a:t>Si el local cambia el precio de un plato en el catálogo: ¿Cómo garantizamos que los pedidos abiertos o pasados no cambien su total? En Mongo obligaría a clonar manualmente todos los datos del producto dentro del pedido; en SQL basta una columna inmutable `precio_unitario`.</a:t>
            </a:r>
          </a:p>
        </p:txBody>
      </p:sp>
      <p:sp>
        <p:nvSpPr>
          <p:cNvPr id="11" name="Rounded Rectangle 10"/>
          <p:cNvSpPr/>
          <p:nvPr/>
        </p:nvSpPr>
        <p:spPr>
          <a:xfrm>
            <a:off x="731520" y="3931920"/>
            <a:ext cx="5212080" cy="2103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931920"/>
            <a:ext cx="109728" cy="21031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4754880" cy="1828800"/>
          </a:xfrm>
          <a:prstGeom prst="rect">
            <a:avLst/>
          </a:prstGeom>
          <a:noFill/>
        </p:spPr>
        <p:txBody>
          <a:bodyPr wrap="square">
            <a:spAutoFit/>
          </a:bodyPr>
          <a:lstStyle/>
          <a:p>
            <a:pPr>
              <a:defRPr sz="1300" b="1">
                <a:solidFill>
                  <a:srgbClr val="1A1A18"/>
                </a:solidFill>
                <a:latin typeface="Segoe UI"/>
              </a:defRPr>
            </a:pPr>
            <a:r>
              <a:t>3. Falta de Foreign Keys e Integridad Huérfana</a:t>
            </a:r>
          </a:p>
          <a:p>
            <a:pPr>
              <a:defRPr sz="1050">
                <a:solidFill>
                  <a:srgbClr val="5A5A55"/>
                </a:solidFill>
                <a:latin typeface="Segoe UI"/>
              </a:defRPr>
            </a:pPr>
            <a:r>
              <a:t>Si un encargado elimina una categoría o desactiva una mesa con comensales comiendo, MongoDB no previene referencias rotas. La integridad referencial dependería 100% de validar por código, multiplicando el riesgo de bugs en producción.</a:t>
            </a:r>
          </a:p>
        </p:txBody>
      </p:sp>
      <p:sp>
        <p:nvSpPr>
          <p:cNvPr id="14" name="Rounded Rectangle 13"/>
          <p:cNvSpPr/>
          <p:nvPr/>
        </p:nvSpPr>
        <p:spPr>
          <a:xfrm>
            <a:off x="6217920" y="3931920"/>
            <a:ext cx="5212080" cy="2103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931920"/>
            <a:ext cx="109728" cy="21031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069080"/>
            <a:ext cx="4754880" cy="1828800"/>
          </a:xfrm>
          <a:prstGeom prst="rect">
            <a:avLst/>
          </a:prstGeom>
          <a:noFill/>
        </p:spPr>
        <p:txBody>
          <a:bodyPr wrap="square">
            <a:spAutoFit/>
          </a:bodyPr>
          <a:lstStyle/>
          <a:p>
            <a:pPr>
              <a:defRPr sz="1300" b="1">
                <a:solidFill>
                  <a:srgbClr val="1A1A18"/>
                </a:solidFill>
                <a:latin typeface="Segoe UI"/>
              </a:defRPr>
            </a:pPr>
            <a:r>
              <a:t>4. Agregaciones y Métricas de Negocio Complejas</a:t>
            </a:r>
          </a:p>
          <a:p>
            <a:pPr>
              <a:defRPr sz="1050">
                <a:solidFill>
                  <a:srgbClr val="5A5A55"/>
                </a:solidFill>
                <a:latin typeface="Segoe UI"/>
              </a:defRPr>
            </a:pPr>
            <a:r>
              <a:t>Calcular facturación diaria por sucursal, ticket promedio y ranking de artículos (Sprint 17) en Mongo exige pipelines `$lookup` y `$unwind` muy pesados. En PostgreSQL son simples sentencias `SUM()`, `JOIN` y `GROUP BY` resueltas en milisegundos.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7. JUSTIFICACIÓN DE LA ELECCIÓN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¿Por qué PostgreSQL es el motor ideal?</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Robustez relacional, transaccionalidad ACID y soporte híbrido semiestructurado</a:t>
            </a:r>
          </a:p>
        </p:txBody>
      </p:sp>
      <p:sp>
        <p:nvSpPr>
          <p:cNvPr id="5" name="Rounded Rectangle 4"/>
          <p:cNvSpPr/>
          <p:nvPr/>
        </p:nvSpPr>
        <p:spPr>
          <a:xfrm>
            <a:off x="731520" y="1645920"/>
            <a:ext cx="33832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1645920"/>
          </a:xfrm>
          <a:prstGeom prst="rect">
            <a:avLst/>
          </a:prstGeom>
          <a:noFill/>
        </p:spPr>
        <p:txBody>
          <a:bodyPr wrap="square">
            <a:spAutoFit/>
          </a:bodyPr>
          <a:lstStyle/>
          <a:p>
            <a:pPr>
              <a:defRPr sz="1350" b="1">
                <a:solidFill>
                  <a:srgbClr val="1A1A18"/>
                </a:solidFill>
                <a:latin typeface="Segoe UI"/>
              </a:defRPr>
            </a:pPr>
            <a:r>
              <a:t>Transacciones ACID Estrictas</a:t>
            </a:r>
          </a:p>
          <a:p>
            <a:pPr>
              <a:defRPr sz="1050">
                <a:solidFill>
                  <a:srgbClr val="5A5A55"/>
                </a:solidFill>
                <a:latin typeface="Segoe UI"/>
              </a:defRPr>
            </a:pPr>
            <a:r>
              <a:t>Garantía total de consistencia: registrar un pedido, asociar sus ítems y notificar por SSE se ejecuta de forma atómica.</a:t>
            </a:r>
          </a:p>
        </p:txBody>
      </p:sp>
      <p:sp>
        <p:nvSpPr>
          <p:cNvPr id="8" name="Rounded Rectangle 7"/>
          <p:cNvSpPr/>
          <p:nvPr/>
        </p:nvSpPr>
        <p:spPr>
          <a:xfrm>
            <a:off x="4389120" y="1645920"/>
            <a:ext cx="33832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73152"/>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28800"/>
            <a:ext cx="3017520" cy="1645920"/>
          </a:xfrm>
          <a:prstGeom prst="rect">
            <a:avLst/>
          </a:prstGeom>
          <a:noFill/>
        </p:spPr>
        <p:txBody>
          <a:bodyPr wrap="square">
            <a:spAutoFit/>
          </a:bodyPr>
          <a:lstStyle/>
          <a:p>
            <a:pPr>
              <a:defRPr sz="1350" b="1">
                <a:solidFill>
                  <a:srgbClr val="1A1A18"/>
                </a:solidFill>
                <a:latin typeface="Segoe UI"/>
              </a:defRPr>
            </a:pPr>
            <a:r>
              <a:t>Soporte Híbrido: JSONB Nativo</a:t>
            </a:r>
          </a:p>
          <a:p>
            <a:pPr>
              <a:defRPr sz="1050">
                <a:solidFill>
                  <a:srgbClr val="5A5A55"/>
                </a:solidFill>
                <a:latin typeface="Segoe UI"/>
              </a:defRPr>
            </a:pPr>
            <a:r>
              <a:t>Almacena horarios de sucursales y payloads crudos de webhooks de Mercado Pago con indexación binaria sin perder la estructura SQL.</a:t>
            </a:r>
          </a:p>
        </p:txBody>
      </p:sp>
      <p:sp>
        <p:nvSpPr>
          <p:cNvPr id="11" name="Rounded Rectangle 10"/>
          <p:cNvSpPr/>
          <p:nvPr/>
        </p:nvSpPr>
        <p:spPr>
          <a:xfrm>
            <a:off x="8046720" y="1645920"/>
            <a:ext cx="33832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7315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828800"/>
            <a:ext cx="3017520" cy="1645920"/>
          </a:xfrm>
          <a:prstGeom prst="rect">
            <a:avLst/>
          </a:prstGeom>
          <a:noFill/>
        </p:spPr>
        <p:txBody>
          <a:bodyPr wrap="square">
            <a:spAutoFit/>
          </a:bodyPr>
          <a:lstStyle/>
          <a:p>
            <a:pPr>
              <a:defRPr sz="1350" b="1">
                <a:solidFill>
                  <a:srgbClr val="1A1A18"/>
                </a:solidFill>
                <a:latin typeface="Segoe UI"/>
              </a:defRPr>
            </a:pPr>
            <a:r>
              <a:t>Integración Nativa con Go</a:t>
            </a:r>
          </a:p>
          <a:p>
            <a:pPr>
              <a:defRPr sz="1050">
                <a:solidFill>
                  <a:srgbClr val="5A5A55"/>
                </a:solidFill>
                <a:latin typeface="Segoe UI"/>
              </a:defRPr>
            </a:pPr>
            <a:r>
              <a:t>Driver `pgx` de alto rendimiento con pool de conexiones ligero, perfectamente integrado al modelo concurrente de Goroutines.</a:t>
            </a:r>
          </a:p>
        </p:txBody>
      </p:sp>
      <p:sp>
        <p:nvSpPr>
          <p:cNvPr id="14" name="Rounded Rectangle 13"/>
          <p:cNvSpPr/>
          <p:nvPr/>
        </p:nvSpPr>
        <p:spPr>
          <a:xfrm>
            <a:off x="731520" y="3840480"/>
            <a:ext cx="33832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840480"/>
            <a:ext cx="3383280"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23360"/>
            <a:ext cx="3017520" cy="1645920"/>
          </a:xfrm>
          <a:prstGeom prst="rect">
            <a:avLst/>
          </a:prstGeom>
          <a:noFill/>
        </p:spPr>
        <p:txBody>
          <a:bodyPr wrap="square">
            <a:spAutoFit/>
          </a:bodyPr>
          <a:lstStyle/>
          <a:p>
            <a:pPr>
              <a:defRPr sz="1350" b="1">
                <a:solidFill>
                  <a:srgbClr val="1A1A18"/>
                </a:solidFill>
                <a:latin typeface="Segoe UI"/>
              </a:defRPr>
            </a:pPr>
            <a:r>
              <a:t>Tipos Nativos y Seguridad</a:t>
            </a:r>
          </a:p>
          <a:p>
            <a:pPr>
              <a:defRPr sz="1050">
                <a:solidFill>
                  <a:srgbClr val="5A5A55"/>
                </a:solidFill>
                <a:latin typeface="Segoe UI"/>
              </a:defRPr>
            </a:pPr>
            <a:r>
              <a:t>Uso de `UUID` nativo (`gen_random_uuid()`), `TIMESTAMPTZ` para manejo preciso de husos horarios y constraints `CHECK`.</a:t>
            </a:r>
          </a:p>
        </p:txBody>
      </p:sp>
      <p:sp>
        <p:nvSpPr>
          <p:cNvPr id="17" name="Rounded Rectangle 16"/>
          <p:cNvSpPr/>
          <p:nvPr/>
        </p:nvSpPr>
        <p:spPr>
          <a:xfrm>
            <a:off x="4389120" y="3840480"/>
            <a:ext cx="33832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840480"/>
            <a:ext cx="3383280" cy="73152"/>
          </a:xfrm>
          <a:prstGeom prst="rect">
            <a:avLst/>
          </a:prstGeom>
          <a:solidFill>
            <a:srgbClr val="A738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023360"/>
            <a:ext cx="3017520" cy="1645920"/>
          </a:xfrm>
          <a:prstGeom prst="rect">
            <a:avLst/>
          </a:prstGeom>
          <a:noFill/>
        </p:spPr>
        <p:txBody>
          <a:bodyPr wrap="square">
            <a:spAutoFit/>
          </a:bodyPr>
          <a:lstStyle/>
          <a:p>
            <a:pPr>
              <a:defRPr sz="1350" b="1">
                <a:solidFill>
                  <a:srgbClr val="1A1A18"/>
                </a:solidFill>
                <a:latin typeface="Segoe UI"/>
              </a:defRPr>
            </a:pPr>
            <a:r>
              <a:t>Migraciones SQL Versionadas</a:t>
            </a:r>
          </a:p>
          <a:p>
            <a:pPr>
              <a:defRPr sz="1050">
                <a:solidFill>
                  <a:srgbClr val="5A5A55"/>
                </a:solidFill>
                <a:latin typeface="Segoe UI"/>
              </a:defRPr>
            </a:pPr>
            <a:r>
              <a:t>Control de versiones exacto del esquema (`001_...` a `021_...`), reproducible en desarrollo, staging y producción en Render.</a:t>
            </a:r>
          </a:p>
        </p:txBody>
      </p:sp>
      <p:sp>
        <p:nvSpPr>
          <p:cNvPr id="20" name="Rounded Rectangle 19"/>
          <p:cNvSpPr/>
          <p:nvPr/>
        </p:nvSpPr>
        <p:spPr>
          <a:xfrm>
            <a:off x="8046720" y="3840480"/>
            <a:ext cx="33832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3840480"/>
            <a:ext cx="3383280"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023360"/>
            <a:ext cx="3017520" cy="1645920"/>
          </a:xfrm>
          <a:prstGeom prst="rect">
            <a:avLst/>
          </a:prstGeom>
          <a:noFill/>
        </p:spPr>
        <p:txBody>
          <a:bodyPr wrap="square">
            <a:spAutoFit/>
          </a:bodyPr>
          <a:lstStyle/>
          <a:p>
            <a:pPr>
              <a:defRPr sz="1350" b="1">
                <a:solidFill>
                  <a:srgbClr val="1A1A18"/>
                </a:solidFill>
                <a:latin typeface="Segoe UI"/>
              </a:defRPr>
            </a:pPr>
            <a:r>
              <a:t>Cero Costo de Licencia</a:t>
            </a:r>
          </a:p>
          <a:p>
            <a:pPr>
              <a:defRPr sz="1050">
                <a:solidFill>
                  <a:srgbClr val="5A5A55"/>
                </a:solidFill>
                <a:latin typeface="Segoe UI"/>
              </a:defRPr>
            </a:pPr>
            <a:r>
              <a:t>Motor 100% de código abierto, sin vendor lock-in, estándar mundial soportado por cualquier nube y plataforma.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8. ARQUITECTURA ADOPTADA</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Decisión Final y Stack Tecnológico</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La sinergia entre Go, PostgreSQL y Next.js para un SaaS gastronómico en tiempo real</a:t>
            </a:r>
          </a:p>
        </p:txBody>
      </p:sp>
      <p:sp>
        <p:nvSpPr>
          <p:cNvPr id="5" name="Rounded Rectangle 4"/>
          <p:cNvSpPr/>
          <p:nvPr/>
        </p:nvSpPr>
        <p:spPr>
          <a:xfrm>
            <a:off x="7315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64008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950" b="1">
                <a:solidFill>
                  <a:srgbClr val="FFEEDD"/>
                </a:solidFill>
                <a:latin typeface="Segoe UI"/>
              </a:defRPr>
            </a:pPr>
            <a:r>
              <a:t>BASE DE DATOS</a:t>
            </a:r>
          </a:p>
          <a:p>
            <a:pPr>
              <a:defRPr sz="1400" b="1">
                <a:solidFill>
                  <a:srgbClr val="FFFFFF"/>
                </a:solidFill>
                <a:latin typeface="Segoe UI"/>
              </a:defRPr>
            </a:pPr>
            <a:r>
              <a:t>PostgreSQL 16+</a:t>
            </a:r>
          </a:p>
        </p:txBody>
      </p:sp>
      <p:sp>
        <p:nvSpPr>
          <p:cNvPr id="7" name="TextBox 6"/>
          <p:cNvSpPr txBox="1"/>
          <p:nvPr/>
        </p:nvSpPr>
        <p:spPr>
          <a:xfrm>
            <a:off x="914400" y="2468880"/>
            <a:ext cx="3017520" cy="3474720"/>
          </a:xfrm>
          <a:prstGeom prst="rect">
            <a:avLst/>
          </a:prstGeom>
          <a:noFill/>
        </p:spPr>
        <p:txBody>
          <a:bodyPr wrap="square">
            <a:spAutoFit/>
          </a:bodyPr>
          <a:lstStyle/>
          <a:p>
            <a:pPr>
              <a:defRPr sz="1100">
                <a:solidFill>
                  <a:srgbClr val="5A5A55"/>
                </a:solidFill>
                <a:latin typeface="Segoe UI"/>
              </a:defRPr>
            </a:pPr>
            <a:r>
              <a:t>• Motor relacional desplegado en Render.</a:t>
            </a:r>
          </a:p>
          <a:p>
            <a:pPr>
              <a:defRPr sz="1100">
                <a:solidFill>
                  <a:srgbClr val="5A5A55"/>
                </a:solidFill>
                <a:latin typeface="Segoe UI"/>
              </a:defRPr>
            </a:pPr>
            <a:r>
              <a:t>• Esquema estructurado en 14 tablas principales.</a:t>
            </a:r>
          </a:p>
          <a:p>
            <a:pPr>
              <a:defRPr sz="1100">
                <a:solidFill>
                  <a:srgbClr val="5A5A55"/>
                </a:solidFill>
                <a:latin typeface="Segoe UI"/>
              </a:defRPr>
            </a:pPr>
            <a:r>
              <a:t>• Campos JSONB estratégicos para flexibilidad.</a:t>
            </a:r>
          </a:p>
          <a:p>
            <a:pPr>
              <a:defRPr sz="1100">
                <a:solidFill>
                  <a:srgbClr val="5A5A55"/>
                </a:solidFill>
                <a:latin typeface="Segoe UI"/>
              </a:defRPr>
            </a:pPr>
            <a:r>
              <a:t>• Migraciones SQL puras sin ORM opaco.</a:t>
            </a:r>
          </a:p>
          <a:p>
            <a:pPr>
              <a:defRPr sz="1100">
                <a:solidFill>
                  <a:srgbClr val="5A5A55"/>
                </a:solidFill>
                <a:latin typeface="Segoe UI"/>
              </a:defRPr>
            </a:pPr>
            <a:r>
              <a:t>• Consultas parametrizadas seguras contra SQLi.</a:t>
            </a:r>
          </a:p>
        </p:txBody>
      </p:sp>
      <p:sp>
        <p:nvSpPr>
          <p:cNvPr id="8" name="Rounded Rectangle 7"/>
          <p:cNvSpPr/>
          <p:nvPr/>
        </p:nvSpPr>
        <p:spPr>
          <a:xfrm>
            <a:off x="43891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64008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950" b="1">
                <a:solidFill>
                  <a:srgbClr val="FFEEDD"/>
                </a:solidFill>
                <a:latin typeface="Segoe UI"/>
              </a:defRPr>
            </a:pPr>
            <a:r>
              <a:t>BACKEND CORE</a:t>
            </a:r>
          </a:p>
          <a:p>
            <a:pPr>
              <a:defRPr sz="1400" b="1">
                <a:solidFill>
                  <a:srgbClr val="FFFFFF"/>
                </a:solidFill>
                <a:latin typeface="Segoe UI"/>
              </a:defRPr>
            </a:pPr>
            <a:r>
              <a:t>Go (Golang) + net/http</a:t>
            </a:r>
          </a:p>
        </p:txBody>
      </p:sp>
      <p:sp>
        <p:nvSpPr>
          <p:cNvPr id="10" name="TextBox 9"/>
          <p:cNvSpPr txBox="1"/>
          <p:nvPr/>
        </p:nvSpPr>
        <p:spPr>
          <a:xfrm>
            <a:off x="4572000" y="2468880"/>
            <a:ext cx="3017520" cy="3474720"/>
          </a:xfrm>
          <a:prstGeom prst="rect">
            <a:avLst/>
          </a:prstGeom>
          <a:noFill/>
        </p:spPr>
        <p:txBody>
          <a:bodyPr wrap="square">
            <a:spAutoFit/>
          </a:bodyPr>
          <a:lstStyle/>
          <a:p>
            <a:pPr>
              <a:defRPr sz="1100">
                <a:solidFill>
                  <a:srgbClr val="5A5A55"/>
                </a:solidFill>
                <a:latin typeface="Segoe UI"/>
              </a:defRPr>
            </a:pPr>
            <a:r>
              <a:t>• Alta concurrencia con Goroutines ligeras.</a:t>
            </a:r>
          </a:p>
          <a:p>
            <a:pPr>
              <a:defRPr sz="1100">
                <a:solidFill>
                  <a:srgbClr val="5A5A55"/>
                </a:solidFill>
                <a:latin typeface="Segoe UI"/>
              </a:defRPr>
            </a:pPr>
            <a:r>
              <a:t>• Logging estructurado nativo con `slog`.</a:t>
            </a:r>
          </a:p>
          <a:p>
            <a:pPr>
              <a:defRPr sz="1100">
                <a:solidFill>
                  <a:srgbClr val="5A5A55"/>
                </a:solidFill>
                <a:latin typeface="Segoe UI"/>
              </a:defRPr>
            </a:pPr>
            <a:r>
              <a:t>• Canales Server-Sent Events (SSE) en vivo.</a:t>
            </a:r>
          </a:p>
          <a:p>
            <a:pPr>
              <a:defRPr sz="1100">
                <a:solidFill>
                  <a:srgbClr val="5A5A55"/>
                </a:solidFill>
                <a:latin typeface="Segoe UI"/>
              </a:defRPr>
            </a:pPr>
            <a:r>
              <a:t>• Autenticación stateless JWT + Magic Links.</a:t>
            </a:r>
          </a:p>
          <a:p>
            <a:pPr>
              <a:defRPr sz="1100">
                <a:solidFill>
                  <a:srgbClr val="5A5A55"/>
                </a:solidFill>
                <a:latin typeface="Segoe UI"/>
              </a:defRPr>
            </a:pPr>
            <a:r>
              <a:t>• Pool de conexiones optimizado con `pgx`.</a:t>
            </a:r>
          </a:p>
        </p:txBody>
      </p:sp>
      <p:sp>
        <p:nvSpPr>
          <p:cNvPr id="11" name="Rounded Rectangle 10"/>
          <p:cNvSpPr/>
          <p:nvPr/>
        </p:nvSpPr>
        <p:spPr>
          <a:xfrm>
            <a:off x="80467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6400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950" b="1">
                <a:solidFill>
                  <a:srgbClr val="FFEEDD"/>
                </a:solidFill>
                <a:latin typeface="Segoe UI"/>
              </a:defRPr>
            </a:pPr>
            <a:r>
              <a:t>FRONTEND PWA</a:t>
            </a:r>
          </a:p>
          <a:p>
            <a:pPr>
              <a:defRPr sz="1400" b="1">
                <a:solidFill>
                  <a:srgbClr val="FFFFFF"/>
                </a:solidFill>
                <a:latin typeface="Segoe UI"/>
              </a:defRPr>
            </a:pPr>
            <a:r>
              <a:t>Next.js 16 + Tailwind CSS</a:t>
            </a:r>
          </a:p>
        </p:txBody>
      </p:sp>
      <p:sp>
        <p:nvSpPr>
          <p:cNvPr id="13" name="TextBox 12"/>
          <p:cNvSpPr txBox="1"/>
          <p:nvPr/>
        </p:nvSpPr>
        <p:spPr>
          <a:xfrm>
            <a:off x="8229600" y="2468880"/>
            <a:ext cx="3017520" cy="3474720"/>
          </a:xfrm>
          <a:prstGeom prst="rect">
            <a:avLst/>
          </a:prstGeom>
          <a:noFill/>
        </p:spPr>
        <p:txBody>
          <a:bodyPr wrap="square">
            <a:spAutoFit/>
          </a:bodyPr>
          <a:lstStyle/>
          <a:p>
            <a:pPr>
              <a:defRPr sz="1100">
                <a:solidFill>
                  <a:srgbClr val="5A5A55"/>
                </a:solidFill>
                <a:latin typeface="Segoe UI"/>
              </a:defRPr>
            </a:pPr>
            <a:r>
              <a:t>• Experiencia Mobile-First para comensales.</a:t>
            </a:r>
          </a:p>
          <a:p>
            <a:pPr>
              <a:defRPr sz="1100">
                <a:solidFill>
                  <a:srgbClr val="5A5A55"/>
                </a:solidFill>
                <a:latin typeface="Segoe UI"/>
              </a:defRPr>
            </a:pPr>
            <a:r>
              <a:t>• Dashboard reactivo para mozos y cocina.</a:t>
            </a:r>
          </a:p>
          <a:p>
            <a:pPr>
              <a:defRPr sz="1100">
                <a:solidFill>
                  <a:srgbClr val="5A5A55"/>
                </a:solidFill>
                <a:latin typeface="Segoe UI"/>
              </a:defRPr>
            </a:pPr>
            <a:r>
              <a:t>• Comunicación en tiempo real vía SSE.</a:t>
            </a:r>
          </a:p>
          <a:p>
            <a:pPr>
              <a:defRPr sz="1100">
                <a:solidFill>
                  <a:srgbClr val="5A5A55"/>
                </a:solidFill>
                <a:latin typeface="Segoe UI"/>
              </a:defRPr>
            </a:pPr>
            <a:r>
              <a:t>• Rutas dinámicas por mesa mediante código QR.</a:t>
            </a:r>
          </a:p>
          <a:p>
            <a:pPr>
              <a:defRPr sz="1100">
                <a:solidFill>
                  <a:srgbClr val="5A5A55"/>
                </a:solidFill>
                <a:latin typeface="Segoe UI"/>
              </a:defRPr>
            </a:pPr>
            <a:r>
              <a:t>• Diseño sin fricción (cero instalación requerida).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9. DISEÑO DE DATOS</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Modelo Entidad-Relación: Visión General</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Estructura normalizada organizada en 3 subsistemas funcionales independientes pero acoplados</a:t>
            </a:r>
          </a:p>
        </p:txBody>
      </p:sp>
      <p:sp>
        <p:nvSpPr>
          <p:cNvPr id="5" name="Rounded Rectangle 4"/>
          <p:cNvSpPr/>
          <p:nvPr/>
        </p:nvSpPr>
        <p:spPr>
          <a:xfrm>
            <a:off x="731520" y="1645920"/>
            <a:ext cx="10698480" cy="1005840"/>
          </a:xfrm>
          <a:prstGeom prst="roundRect">
            <a:avLst/>
          </a:prstGeom>
          <a:solidFill>
            <a:srgbClr val="F3F2EE"/>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2468880" cy="822960"/>
          </a:xfrm>
          <a:prstGeom prst="rect">
            <a:avLst/>
          </a:prstGeom>
          <a:noFill/>
        </p:spPr>
        <p:txBody>
          <a:bodyPr wrap="square">
            <a:spAutoFit/>
          </a:bodyPr>
          <a:lstStyle/>
          <a:p>
            <a:pPr>
              <a:defRPr sz="1300" b="1">
                <a:solidFill>
                  <a:srgbClr val="E25B1A"/>
                </a:solidFill>
                <a:latin typeface="Segoe UI"/>
              </a:defRPr>
            </a:pPr>
            <a:r>
              <a:t>14 Tablas Relacionales</a:t>
            </a:r>
          </a:p>
          <a:p>
            <a:pPr>
              <a:defRPr sz="950">
                <a:solidFill>
                  <a:srgbClr val="5A5A55"/>
                </a:solidFill>
                <a:latin typeface="Segoe UI"/>
              </a:defRPr>
            </a:pPr>
            <a:r>
              <a:t>Esquema normalizado y modular</a:t>
            </a:r>
          </a:p>
        </p:txBody>
      </p:sp>
      <p:sp>
        <p:nvSpPr>
          <p:cNvPr id="7" name="TextBox 6"/>
          <p:cNvSpPr txBox="1"/>
          <p:nvPr/>
        </p:nvSpPr>
        <p:spPr>
          <a:xfrm>
            <a:off x="3566160" y="1737360"/>
            <a:ext cx="2468880" cy="822960"/>
          </a:xfrm>
          <a:prstGeom prst="rect">
            <a:avLst/>
          </a:prstGeom>
          <a:noFill/>
        </p:spPr>
        <p:txBody>
          <a:bodyPr wrap="square">
            <a:spAutoFit/>
          </a:bodyPr>
          <a:lstStyle/>
          <a:p>
            <a:pPr>
              <a:defRPr sz="1300" b="1">
                <a:solidFill>
                  <a:srgbClr val="E25B1A"/>
                </a:solidFill>
                <a:latin typeface="Segoe UI"/>
              </a:defRPr>
            </a:pPr>
            <a:r>
              <a:t>21 Migraciones SQL</a:t>
            </a:r>
          </a:p>
          <a:p>
            <a:pPr>
              <a:defRPr sz="950">
                <a:solidFill>
                  <a:srgbClr val="5A5A55"/>
                </a:solidFill>
                <a:latin typeface="Segoe UI"/>
              </a:defRPr>
            </a:pPr>
            <a:r>
              <a:t>Control de versiones atómico</a:t>
            </a:r>
          </a:p>
        </p:txBody>
      </p:sp>
      <p:sp>
        <p:nvSpPr>
          <p:cNvPr id="8" name="TextBox 7"/>
          <p:cNvSpPr txBox="1"/>
          <p:nvPr/>
        </p:nvSpPr>
        <p:spPr>
          <a:xfrm>
            <a:off x="6217920" y="1737360"/>
            <a:ext cx="2468880" cy="822960"/>
          </a:xfrm>
          <a:prstGeom prst="rect">
            <a:avLst/>
          </a:prstGeom>
          <a:noFill/>
        </p:spPr>
        <p:txBody>
          <a:bodyPr wrap="square">
            <a:spAutoFit/>
          </a:bodyPr>
          <a:lstStyle/>
          <a:p>
            <a:pPr>
              <a:defRPr sz="1300" b="1">
                <a:solidFill>
                  <a:srgbClr val="E25B1A"/>
                </a:solidFill>
                <a:latin typeface="Segoe UI"/>
              </a:defRPr>
            </a:pPr>
            <a:r>
              <a:t>18 Foreign Keys con CASCADE</a:t>
            </a:r>
          </a:p>
          <a:p>
            <a:pPr>
              <a:defRPr sz="950">
                <a:solidFill>
                  <a:srgbClr val="5A5A55"/>
                </a:solidFill>
                <a:latin typeface="Segoe UI"/>
              </a:defRPr>
            </a:pPr>
            <a:r>
              <a:t>Integridad referencial total</a:t>
            </a:r>
          </a:p>
        </p:txBody>
      </p:sp>
      <p:sp>
        <p:nvSpPr>
          <p:cNvPr id="9" name="TextBox 8"/>
          <p:cNvSpPr txBox="1"/>
          <p:nvPr/>
        </p:nvSpPr>
        <p:spPr>
          <a:xfrm>
            <a:off x="8869680" y="1737360"/>
            <a:ext cx="2468880" cy="822960"/>
          </a:xfrm>
          <a:prstGeom prst="rect">
            <a:avLst/>
          </a:prstGeom>
          <a:noFill/>
        </p:spPr>
        <p:txBody>
          <a:bodyPr wrap="square">
            <a:spAutoFit/>
          </a:bodyPr>
          <a:lstStyle/>
          <a:p>
            <a:pPr>
              <a:defRPr sz="1300" b="1">
                <a:solidFill>
                  <a:srgbClr val="E25B1A"/>
                </a:solidFill>
                <a:latin typeface="Segoe UI"/>
              </a:defRPr>
            </a:pPr>
            <a:r>
              <a:t>Columnas Híbridas JSONB</a:t>
            </a:r>
          </a:p>
          <a:p>
            <a:pPr>
              <a:defRPr sz="950">
                <a:solidFill>
                  <a:srgbClr val="5A5A55"/>
                </a:solidFill>
                <a:latin typeface="Segoe UI"/>
              </a:defRPr>
            </a:pPr>
            <a:r>
              <a:t>Flexibilidad en horarios y pagos</a:t>
            </a:r>
          </a:p>
        </p:txBody>
      </p:sp>
      <p:sp>
        <p:nvSpPr>
          <p:cNvPr id="10" name="Rounded Rectangle 9"/>
          <p:cNvSpPr/>
          <p:nvPr/>
        </p:nvSpPr>
        <p:spPr>
          <a:xfrm>
            <a:off x="731520" y="2834640"/>
            <a:ext cx="3383280" cy="32004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834640"/>
            <a:ext cx="3383280" cy="50292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200" b="1">
                <a:solidFill>
                  <a:srgbClr val="FFFFFF"/>
                </a:solidFill>
                <a:latin typeface="Segoe UI"/>
              </a:defRPr>
            </a:pPr>
            <a:r>
              <a:t>Módulo 1: Organización &amp; Auth</a:t>
            </a:r>
          </a:p>
        </p:txBody>
      </p:sp>
      <p:sp>
        <p:nvSpPr>
          <p:cNvPr id="12" name="TextBox 11"/>
          <p:cNvSpPr txBox="1"/>
          <p:nvPr/>
        </p:nvSpPr>
        <p:spPr>
          <a:xfrm>
            <a:off x="914400" y="3429000"/>
            <a:ext cx="3017520" cy="2468880"/>
          </a:xfrm>
          <a:prstGeom prst="rect">
            <a:avLst/>
          </a:prstGeom>
          <a:noFill/>
        </p:spPr>
        <p:txBody>
          <a:bodyPr wrap="square">
            <a:spAutoFit/>
          </a:bodyPr>
          <a:lstStyle/>
          <a:p>
            <a:pPr>
              <a:defRPr sz="950" i="1">
                <a:solidFill>
                  <a:srgbClr val="8A8A84"/>
                </a:solidFill>
                <a:latin typeface="Segoe UI"/>
              </a:defRPr>
            </a:pPr>
            <a:r>
              <a:t>Administración del negocio multi-tenant y control de usuarios.</a:t>
            </a:r>
            <a:br/>
          </a:p>
          <a:p>
            <a:pPr>
              <a:defRPr sz="1000">
                <a:solidFill>
                  <a:srgbClr val="5A5A55"/>
                </a:solidFill>
                <a:latin typeface="Segoe UI"/>
              </a:defRPr>
            </a:pPr>
            <a:r>
              <a:t>• `tenants`: Negocio raíz, marca, redes (JSONB).</a:t>
            </a:r>
          </a:p>
          <a:p>
            <a:pPr>
              <a:defRPr sz="1000">
                <a:solidFill>
                  <a:srgbClr val="5A5A55"/>
                </a:solidFill>
                <a:latin typeface="Segoe UI"/>
              </a:defRPr>
            </a:pPr>
            <a:r>
              <a:t>• `usuarios`: Personal con roles (admin, mozo).</a:t>
            </a:r>
          </a:p>
          <a:p>
            <a:pPr>
              <a:defRPr sz="1000">
                <a:solidFill>
                  <a:srgbClr val="5A5A55"/>
                </a:solidFill>
                <a:latin typeface="Segoe UI"/>
              </a:defRPr>
            </a:pPr>
            <a:r>
              <a:t>• `magic_tokens`: Tokens de login de 15 min.</a:t>
            </a:r>
          </a:p>
          <a:p>
            <a:pPr>
              <a:defRPr sz="1000">
                <a:solidFill>
                  <a:srgbClr val="5A5A55"/>
                </a:solidFill>
                <a:latin typeface="Segoe UI"/>
              </a:defRPr>
            </a:pPr>
            <a:r>
              <a:t>• `sucursales`: Puntos de venta y horarios (JSONB).</a:t>
            </a:r>
          </a:p>
        </p:txBody>
      </p:sp>
      <p:sp>
        <p:nvSpPr>
          <p:cNvPr id="13" name="Rounded Rectangle 12"/>
          <p:cNvSpPr/>
          <p:nvPr/>
        </p:nvSpPr>
        <p:spPr>
          <a:xfrm>
            <a:off x="4389120" y="2834640"/>
            <a:ext cx="3383280" cy="32004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2834640"/>
            <a:ext cx="3383280" cy="5029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200" b="1">
                <a:solidFill>
                  <a:srgbClr val="FFFFFF"/>
                </a:solidFill>
                <a:latin typeface="Segoe UI"/>
              </a:defRPr>
            </a:pPr>
            <a:r>
              <a:t>Módulo 2: Salón &amp; Carta Digital</a:t>
            </a:r>
          </a:p>
        </p:txBody>
      </p:sp>
      <p:sp>
        <p:nvSpPr>
          <p:cNvPr id="15" name="TextBox 14"/>
          <p:cNvSpPr txBox="1"/>
          <p:nvPr/>
        </p:nvSpPr>
        <p:spPr>
          <a:xfrm>
            <a:off x="4572000" y="3429000"/>
            <a:ext cx="3017520" cy="2468880"/>
          </a:xfrm>
          <a:prstGeom prst="rect">
            <a:avLst/>
          </a:prstGeom>
          <a:noFill/>
        </p:spPr>
        <p:txBody>
          <a:bodyPr wrap="square">
            <a:spAutoFit/>
          </a:bodyPr>
          <a:lstStyle/>
          <a:p>
            <a:pPr>
              <a:defRPr sz="950" i="1">
                <a:solidFill>
                  <a:srgbClr val="8A8A84"/>
                </a:solidFill>
                <a:latin typeface="Segoe UI"/>
              </a:defRPr>
            </a:pPr>
            <a:r>
              <a:t>Configuración física del salón y catálogo gastronómico.</a:t>
            </a:r>
            <a:br/>
          </a:p>
          <a:p>
            <a:pPr>
              <a:defRPr sz="1000">
                <a:solidFill>
                  <a:srgbClr val="5A5A55"/>
                </a:solidFill>
                <a:latin typeface="Segoe UI"/>
              </a:defRPr>
            </a:pPr>
            <a:r>
              <a:t>• `sectores` y `mesas`: QR estático y control de cuenta.</a:t>
            </a:r>
          </a:p>
          <a:p>
            <a:pPr>
              <a:defRPr sz="1000">
                <a:solidFill>
                  <a:srgbClr val="5A5A55"/>
                </a:solidFill>
                <a:latin typeface="Segoe UI"/>
              </a:defRPr>
            </a:pPr>
            <a:r>
              <a:t>• `categorias`: Agrupación y orden visual de la carta.</a:t>
            </a:r>
          </a:p>
          <a:p>
            <a:pPr>
              <a:defRPr sz="1000">
                <a:solidFill>
                  <a:srgbClr val="5A5A55"/>
                </a:solidFill>
                <a:latin typeface="Segoe UI"/>
              </a:defRPr>
            </a:pPr>
            <a:r>
              <a:t>• `articulos`: Platos, precios, fotos y estado activo.</a:t>
            </a:r>
          </a:p>
          <a:p>
            <a:pPr>
              <a:defRPr sz="1000">
                <a:solidFill>
                  <a:srgbClr val="5A5A55"/>
                </a:solidFill>
                <a:latin typeface="Segoe UI"/>
              </a:defRPr>
            </a:pPr>
            <a:r>
              <a:t>• `variantes`: Grupos, selección única y adicionales.</a:t>
            </a:r>
          </a:p>
        </p:txBody>
      </p:sp>
      <p:sp>
        <p:nvSpPr>
          <p:cNvPr id="16" name="Rounded Rectangle 15"/>
          <p:cNvSpPr/>
          <p:nvPr/>
        </p:nvSpPr>
        <p:spPr>
          <a:xfrm>
            <a:off x="8046720" y="2834640"/>
            <a:ext cx="3383280" cy="320040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2834640"/>
            <a:ext cx="3383280" cy="502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200" b="1">
                <a:solidFill>
                  <a:srgbClr val="FFFFFF"/>
                </a:solidFill>
                <a:latin typeface="Segoe UI"/>
              </a:defRPr>
            </a:pPr>
            <a:r>
              <a:t>Módulo 3: Operación &amp; Pagos</a:t>
            </a:r>
          </a:p>
        </p:txBody>
      </p:sp>
      <p:sp>
        <p:nvSpPr>
          <p:cNvPr id="18" name="TextBox 17"/>
          <p:cNvSpPr txBox="1"/>
          <p:nvPr/>
        </p:nvSpPr>
        <p:spPr>
          <a:xfrm>
            <a:off x="8229600" y="3429000"/>
            <a:ext cx="3017520" cy="2468880"/>
          </a:xfrm>
          <a:prstGeom prst="rect">
            <a:avLst/>
          </a:prstGeom>
          <a:noFill/>
        </p:spPr>
        <p:txBody>
          <a:bodyPr wrap="square">
            <a:spAutoFit/>
          </a:bodyPr>
          <a:lstStyle/>
          <a:p>
            <a:pPr>
              <a:defRPr sz="950" i="1">
                <a:solidFill>
                  <a:srgbClr val="8A8A84"/>
                </a:solidFill>
                <a:latin typeface="Segoe UI"/>
              </a:defRPr>
            </a:pPr>
            <a:r>
              <a:t>Ciclo de vida de la comanda, comensales y cobro online.</a:t>
            </a:r>
            <a:br/>
          </a:p>
          <a:p>
            <a:pPr>
              <a:defRPr sz="1000">
                <a:solidFill>
                  <a:srgbClr val="5A5A55"/>
                </a:solidFill>
                <a:latin typeface="Segoe UI"/>
              </a:defRPr>
            </a:pPr>
            <a:r>
              <a:t>• `pedidos`: Estados (recibido -&gt; preparando -&gt; listo).</a:t>
            </a:r>
          </a:p>
          <a:p>
            <a:pPr>
              <a:defRPr sz="1000">
                <a:solidFill>
                  <a:srgbClr val="5A5A55"/>
                </a:solidFill>
                <a:latin typeface="Segoe UI"/>
              </a:defRPr>
            </a:pPr>
            <a:r>
              <a:t>• `pedido_items`: Snapshot de precio unitario y notas.</a:t>
            </a:r>
          </a:p>
          <a:p>
            <a:pPr>
              <a:defRPr sz="1000">
                <a:solidFill>
                  <a:srgbClr val="5A5A55"/>
                </a:solidFill>
                <a:latin typeface="Segoe UI"/>
              </a:defRPr>
            </a:pPr>
            <a:r>
              <a:t>• `comensales`: Identificación por dispositivo en mesa.</a:t>
            </a:r>
          </a:p>
          <a:p>
            <a:pPr>
              <a:defRPr sz="1000">
                <a:solidFill>
                  <a:srgbClr val="5A5A55"/>
                </a:solidFill>
                <a:latin typeface="Segoe UI"/>
              </a:defRPr>
            </a:pPr>
            <a:r>
              <a:t>• `pagos`: Integración y conciliación Mercado Pago.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10. ESQUEMA DETALLADO</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DER Módulo 1: Organización, Multi-Tenancy y Acceso</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Aislamiento por negocio, gestión de sucursales y autenticación sin contraseña (Magic Link)</a:t>
            </a:r>
          </a:p>
        </p:txBody>
      </p:sp>
      <p:sp>
        <p:nvSpPr>
          <p:cNvPr id="5" name="Rounded Rectangle 4"/>
          <p:cNvSpPr/>
          <p:nvPr/>
        </p:nvSpPr>
        <p:spPr>
          <a:xfrm>
            <a:off x="731520" y="1645920"/>
            <a:ext cx="2468880" cy="2212848"/>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46888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tenants</a:t>
            </a:r>
          </a:p>
          <a:p>
            <a:pPr>
              <a:defRPr sz="850">
                <a:solidFill>
                  <a:srgbClr val="FAE8D8"/>
                </a:solidFill>
                <a:latin typeface="Segoe UI"/>
              </a:defRPr>
            </a:pPr>
            <a:r>
              <a:t>Entidad raíz del negocio</a:t>
            </a:r>
          </a:p>
        </p:txBody>
      </p:sp>
      <p:sp>
        <p:nvSpPr>
          <p:cNvPr id="7" name="TextBox 6"/>
          <p:cNvSpPr txBox="1"/>
          <p:nvPr/>
        </p:nvSpPr>
        <p:spPr>
          <a:xfrm>
            <a:off x="804672" y="2048256"/>
            <a:ext cx="232257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8" name="TextBox 7"/>
          <p:cNvSpPr txBox="1"/>
          <p:nvPr/>
        </p:nvSpPr>
        <p:spPr>
          <a:xfrm>
            <a:off x="804672" y="2267712"/>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 </a:t>
            </a:r>
            <a:r>
              <a:rPr sz="850">
                <a:solidFill>
                  <a:srgbClr val="8A8A84"/>
                </a:solidFill>
                <a:latin typeface="Consolas"/>
              </a:rPr>
              <a:t>(TEXT)</a:t>
            </a:r>
          </a:p>
        </p:txBody>
      </p:sp>
      <p:sp>
        <p:nvSpPr>
          <p:cNvPr id="9" name="TextBox 8"/>
          <p:cNvSpPr txBox="1"/>
          <p:nvPr/>
        </p:nvSpPr>
        <p:spPr>
          <a:xfrm>
            <a:off x="804672" y="2487168"/>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nombre_fantasia </a:t>
            </a:r>
            <a:r>
              <a:rPr sz="850">
                <a:solidFill>
                  <a:srgbClr val="8A8A84"/>
                </a:solidFill>
                <a:latin typeface="Consolas"/>
              </a:rPr>
              <a:t>(TEXT)</a:t>
            </a:r>
          </a:p>
        </p:txBody>
      </p:sp>
      <p:sp>
        <p:nvSpPr>
          <p:cNvPr id="10" name="TextBox 9"/>
          <p:cNvSpPr txBox="1"/>
          <p:nvPr/>
        </p:nvSpPr>
        <p:spPr>
          <a:xfrm>
            <a:off x="804672" y="2706624"/>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rubro </a:t>
            </a:r>
            <a:r>
              <a:rPr sz="850">
                <a:solidFill>
                  <a:srgbClr val="8A8A84"/>
                </a:solidFill>
                <a:latin typeface="Consolas"/>
              </a:rPr>
              <a:t>(TEXT)</a:t>
            </a:r>
          </a:p>
        </p:txBody>
      </p:sp>
      <p:sp>
        <p:nvSpPr>
          <p:cNvPr id="11" name="TextBox 10"/>
          <p:cNvSpPr txBox="1"/>
          <p:nvPr/>
        </p:nvSpPr>
        <p:spPr>
          <a:xfrm>
            <a:off x="804672" y="2926080"/>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slug </a:t>
            </a:r>
            <a:r>
              <a:rPr sz="850">
                <a:solidFill>
                  <a:srgbClr val="8A8A84"/>
                </a:solidFill>
                <a:latin typeface="Consolas"/>
              </a:rPr>
              <a:t>(TEXT UQ)</a:t>
            </a:r>
          </a:p>
        </p:txBody>
      </p:sp>
      <p:sp>
        <p:nvSpPr>
          <p:cNvPr id="12" name="TextBox 11"/>
          <p:cNvSpPr txBox="1"/>
          <p:nvPr/>
        </p:nvSpPr>
        <p:spPr>
          <a:xfrm>
            <a:off x="804672" y="3145536"/>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redes_sociales </a:t>
            </a:r>
            <a:r>
              <a:rPr sz="850">
                <a:solidFill>
                  <a:srgbClr val="8A8A84"/>
                </a:solidFill>
                <a:latin typeface="Consolas"/>
              </a:rPr>
              <a:t>(JSONB)</a:t>
            </a:r>
          </a:p>
        </p:txBody>
      </p:sp>
      <p:sp>
        <p:nvSpPr>
          <p:cNvPr id="13" name="TextBox 12"/>
          <p:cNvSpPr txBox="1"/>
          <p:nvPr/>
        </p:nvSpPr>
        <p:spPr>
          <a:xfrm>
            <a:off x="804672" y="3364992"/>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mp_access_token </a:t>
            </a:r>
            <a:r>
              <a:rPr sz="850">
                <a:solidFill>
                  <a:srgbClr val="8A8A84"/>
                </a:solidFill>
                <a:latin typeface="Consolas"/>
              </a:rPr>
              <a:t>(TEXT)</a:t>
            </a:r>
          </a:p>
        </p:txBody>
      </p:sp>
      <p:sp>
        <p:nvSpPr>
          <p:cNvPr id="14" name="TextBox 13"/>
          <p:cNvSpPr txBox="1"/>
          <p:nvPr/>
        </p:nvSpPr>
        <p:spPr>
          <a:xfrm>
            <a:off x="804672" y="3584448"/>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created_at </a:t>
            </a:r>
            <a:r>
              <a:rPr sz="850">
                <a:solidFill>
                  <a:srgbClr val="8A8A84"/>
                </a:solidFill>
                <a:latin typeface="Consolas"/>
              </a:rPr>
              <a:t>(TIMESTAMPTZ)</a:t>
            </a:r>
          </a:p>
        </p:txBody>
      </p:sp>
      <p:sp>
        <p:nvSpPr>
          <p:cNvPr id="15" name="Rounded Rectangle 14"/>
          <p:cNvSpPr/>
          <p:nvPr/>
        </p:nvSpPr>
        <p:spPr>
          <a:xfrm>
            <a:off x="3474720" y="1645920"/>
            <a:ext cx="2468880" cy="1773936"/>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74720" y="1645920"/>
            <a:ext cx="246888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usuarios</a:t>
            </a:r>
          </a:p>
          <a:p>
            <a:pPr>
              <a:defRPr sz="850">
                <a:solidFill>
                  <a:srgbClr val="FAE8D8"/>
                </a:solidFill>
                <a:latin typeface="Segoe UI"/>
              </a:defRPr>
            </a:pPr>
            <a:r>
              <a:t>Personal interno del local</a:t>
            </a:r>
          </a:p>
        </p:txBody>
      </p:sp>
      <p:sp>
        <p:nvSpPr>
          <p:cNvPr id="17" name="TextBox 16"/>
          <p:cNvSpPr txBox="1"/>
          <p:nvPr/>
        </p:nvSpPr>
        <p:spPr>
          <a:xfrm>
            <a:off x="3547872" y="2048256"/>
            <a:ext cx="232257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18" name="TextBox 17"/>
          <p:cNvSpPr txBox="1"/>
          <p:nvPr/>
        </p:nvSpPr>
        <p:spPr>
          <a:xfrm>
            <a:off x="3547872" y="2267712"/>
            <a:ext cx="232257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tenant_id </a:t>
            </a:r>
            <a:r>
              <a:rPr sz="850">
                <a:solidFill>
                  <a:srgbClr val="8A8A84"/>
                </a:solidFill>
                <a:latin typeface="Consolas"/>
              </a:rPr>
              <a:t>(UUID)</a:t>
            </a:r>
          </a:p>
        </p:txBody>
      </p:sp>
      <p:sp>
        <p:nvSpPr>
          <p:cNvPr id="19" name="TextBox 18"/>
          <p:cNvSpPr txBox="1"/>
          <p:nvPr/>
        </p:nvSpPr>
        <p:spPr>
          <a:xfrm>
            <a:off x="3547872" y="2487168"/>
            <a:ext cx="2322576" cy="219456"/>
          </a:xfrm>
          <a:prstGeom prst="rect">
            <a:avLst/>
          </a:prstGeom>
          <a:noFill/>
        </p:spPr>
        <p:txBody>
          <a:bodyPr wrap="none" anchor="ctr" tIns="0" bIns="0" lIns="0" rIns="0">
            <a:spAutoFit/>
          </a:bodyPr>
          <a:lstStyle/>
          <a:p>
            <a:r>
              <a:rPr sz="850" b="1">
                <a:solidFill>
                  <a:srgbClr val="8A8A84"/>
                </a:solidFill>
                <a:latin typeface="Consolas"/>
              </a:rPr>
              <a:t>UQ   </a:t>
            </a:r>
            <a:r>
              <a:rPr sz="950" b="1">
                <a:solidFill>
                  <a:srgbClr val="1A1A18"/>
                </a:solidFill>
                <a:latin typeface="Segoe UI"/>
              </a:rPr>
              <a:t>email </a:t>
            </a:r>
            <a:r>
              <a:rPr sz="850">
                <a:solidFill>
                  <a:srgbClr val="8A8A84"/>
                </a:solidFill>
                <a:latin typeface="Consolas"/>
              </a:rPr>
              <a:t>(TEXT)</a:t>
            </a:r>
          </a:p>
        </p:txBody>
      </p:sp>
      <p:sp>
        <p:nvSpPr>
          <p:cNvPr id="20" name="TextBox 19"/>
          <p:cNvSpPr txBox="1"/>
          <p:nvPr/>
        </p:nvSpPr>
        <p:spPr>
          <a:xfrm>
            <a:off x="3547872" y="2706624"/>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 </a:t>
            </a:r>
            <a:r>
              <a:rPr sz="850">
                <a:solidFill>
                  <a:srgbClr val="8A8A84"/>
                </a:solidFill>
                <a:latin typeface="Consolas"/>
              </a:rPr>
              <a:t>(TEXT)</a:t>
            </a:r>
          </a:p>
        </p:txBody>
      </p:sp>
      <p:sp>
        <p:nvSpPr>
          <p:cNvPr id="21" name="TextBox 20"/>
          <p:cNvSpPr txBox="1"/>
          <p:nvPr/>
        </p:nvSpPr>
        <p:spPr>
          <a:xfrm>
            <a:off x="3547872" y="2926080"/>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rol </a:t>
            </a:r>
            <a:r>
              <a:rPr sz="850">
                <a:solidFill>
                  <a:srgbClr val="8A8A84"/>
                </a:solidFill>
                <a:latin typeface="Consolas"/>
              </a:rPr>
              <a:t>(TEXT (admin|mozo))</a:t>
            </a:r>
          </a:p>
        </p:txBody>
      </p:sp>
      <p:sp>
        <p:nvSpPr>
          <p:cNvPr id="22" name="TextBox 21"/>
          <p:cNvSpPr txBox="1"/>
          <p:nvPr/>
        </p:nvSpPr>
        <p:spPr>
          <a:xfrm>
            <a:off x="3547872" y="3145536"/>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created_at </a:t>
            </a:r>
            <a:r>
              <a:rPr sz="850">
                <a:solidFill>
                  <a:srgbClr val="8A8A84"/>
                </a:solidFill>
                <a:latin typeface="Consolas"/>
              </a:rPr>
              <a:t>(TIMESTAMPTZ)</a:t>
            </a:r>
          </a:p>
        </p:txBody>
      </p:sp>
      <p:sp>
        <p:nvSpPr>
          <p:cNvPr id="23" name="Rounded Rectangle 22"/>
          <p:cNvSpPr/>
          <p:nvPr/>
        </p:nvSpPr>
        <p:spPr>
          <a:xfrm>
            <a:off x="6217920" y="1645920"/>
            <a:ext cx="2286000" cy="15544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1645920"/>
            <a:ext cx="228600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magic_tokens</a:t>
            </a:r>
          </a:p>
          <a:p>
            <a:pPr>
              <a:defRPr sz="850">
                <a:solidFill>
                  <a:srgbClr val="FAE8D8"/>
                </a:solidFill>
                <a:latin typeface="Segoe UI"/>
              </a:defRPr>
            </a:pPr>
            <a:r>
              <a:t>Login passwordless (15 min)</a:t>
            </a:r>
          </a:p>
        </p:txBody>
      </p:sp>
      <p:sp>
        <p:nvSpPr>
          <p:cNvPr id="25" name="TextBox 24"/>
          <p:cNvSpPr txBox="1"/>
          <p:nvPr/>
        </p:nvSpPr>
        <p:spPr>
          <a:xfrm>
            <a:off x="6291072" y="2048256"/>
            <a:ext cx="213969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26" name="TextBox 25"/>
          <p:cNvSpPr txBox="1"/>
          <p:nvPr/>
        </p:nvSpPr>
        <p:spPr>
          <a:xfrm>
            <a:off x="6291072" y="2267712"/>
            <a:ext cx="213969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usuario_id </a:t>
            </a:r>
            <a:r>
              <a:rPr sz="850">
                <a:solidFill>
                  <a:srgbClr val="8A8A84"/>
                </a:solidFill>
                <a:latin typeface="Consolas"/>
              </a:rPr>
              <a:t>(UUID)</a:t>
            </a:r>
          </a:p>
        </p:txBody>
      </p:sp>
      <p:sp>
        <p:nvSpPr>
          <p:cNvPr id="27" name="TextBox 26"/>
          <p:cNvSpPr txBox="1"/>
          <p:nvPr/>
        </p:nvSpPr>
        <p:spPr>
          <a:xfrm>
            <a:off x="6291072" y="2487168"/>
            <a:ext cx="2139696" cy="219456"/>
          </a:xfrm>
          <a:prstGeom prst="rect">
            <a:avLst/>
          </a:prstGeom>
          <a:noFill/>
        </p:spPr>
        <p:txBody>
          <a:bodyPr wrap="none" anchor="ctr" tIns="0" bIns="0" lIns="0" rIns="0">
            <a:spAutoFit/>
          </a:bodyPr>
          <a:lstStyle/>
          <a:p>
            <a:r>
              <a:rPr sz="850" b="1">
                <a:solidFill>
                  <a:srgbClr val="8A8A84"/>
                </a:solidFill>
                <a:latin typeface="Consolas"/>
              </a:rPr>
              <a:t>UQ   </a:t>
            </a:r>
            <a:r>
              <a:rPr sz="950" b="1">
                <a:solidFill>
                  <a:srgbClr val="1A1A18"/>
                </a:solidFill>
                <a:latin typeface="Segoe UI"/>
              </a:rPr>
              <a:t>token </a:t>
            </a:r>
            <a:r>
              <a:rPr sz="850">
                <a:solidFill>
                  <a:srgbClr val="8A8A84"/>
                </a:solidFill>
                <a:latin typeface="Consolas"/>
              </a:rPr>
              <a:t>(TEXT)</a:t>
            </a:r>
          </a:p>
        </p:txBody>
      </p:sp>
      <p:sp>
        <p:nvSpPr>
          <p:cNvPr id="28" name="TextBox 27"/>
          <p:cNvSpPr txBox="1"/>
          <p:nvPr/>
        </p:nvSpPr>
        <p:spPr>
          <a:xfrm>
            <a:off x="6291072" y="2706624"/>
            <a:ext cx="21396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expires_at </a:t>
            </a:r>
            <a:r>
              <a:rPr sz="850">
                <a:solidFill>
                  <a:srgbClr val="8A8A84"/>
                </a:solidFill>
                <a:latin typeface="Consolas"/>
              </a:rPr>
              <a:t>(TIMESTAMPTZ)</a:t>
            </a:r>
          </a:p>
        </p:txBody>
      </p:sp>
      <p:sp>
        <p:nvSpPr>
          <p:cNvPr id="29" name="TextBox 28"/>
          <p:cNvSpPr txBox="1"/>
          <p:nvPr/>
        </p:nvSpPr>
        <p:spPr>
          <a:xfrm>
            <a:off x="6291072" y="2926080"/>
            <a:ext cx="21396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used_at </a:t>
            </a:r>
            <a:r>
              <a:rPr sz="850">
                <a:solidFill>
                  <a:srgbClr val="8A8A84"/>
                </a:solidFill>
                <a:latin typeface="Consolas"/>
              </a:rPr>
              <a:t>(TIMESTAMPTZ)</a:t>
            </a:r>
          </a:p>
        </p:txBody>
      </p:sp>
      <p:sp>
        <p:nvSpPr>
          <p:cNvPr id="30" name="Rounded Rectangle 29"/>
          <p:cNvSpPr/>
          <p:nvPr/>
        </p:nvSpPr>
        <p:spPr>
          <a:xfrm>
            <a:off x="8778240" y="1645920"/>
            <a:ext cx="2560320" cy="2212848"/>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778240" y="1645920"/>
            <a:ext cx="256032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sucursales</a:t>
            </a:r>
          </a:p>
          <a:p>
            <a:pPr>
              <a:defRPr sz="850">
                <a:solidFill>
                  <a:srgbClr val="FAE8D8"/>
                </a:solidFill>
                <a:latin typeface="Segoe UI"/>
              </a:defRPr>
            </a:pPr>
            <a:r>
              <a:t>Puntos de venta físicos</a:t>
            </a:r>
          </a:p>
        </p:txBody>
      </p:sp>
      <p:sp>
        <p:nvSpPr>
          <p:cNvPr id="32" name="TextBox 31"/>
          <p:cNvSpPr txBox="1"/>
          <p:nvPr/>
        </p:nvSpPr>
        <p:spPr>
          <a:xfrm>
            <a:off x="8851392" y="2048256"/>
            <a:ext cx="241401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33" name="TextBox 32"/>
          <p:cNvSpPr txBox="1"/>
          <p:nvPr/>
        </p:nvSpPr>
        <p:spPr>
          <a:xfrm>
            <a:off x="8851392" y="2267712"/>
            <a:ext cx="241401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tenant_id </a:t>
            </a:r>
            <a:r>
              <a:rPr sz="850">
                <a:solidFill>
                  <a:srgbClr val="8A8A84"/>
                </a:solidFill>
                <a:latin typeface="Consolas"/>
              </a:rPr>
              <a:t>(UUID)</a:t>
            </a:r>
          </a:p>
        </p:txBody>
      </p:sp>
      <p:sp>
        <p:nvSpPr>
          <p:cNvPr id="34" name="TextBox 33"/>
          <p:cNvSpPr txBox="1"/>
          <p:nvPr/>
        </p:nvSpPr>
        <p:spPr>
          <a:xfrm>
            <a:off x="8851392" y="2487168"/>
            <a:ext cx="241401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 </a:t>
            </a:r>
            <a:r>
              <a:rPr sz="850">
                <a:solidFill>
                  <a:srgbClr val="8A8A84"/>
                </a:solidFill>
                <a:latin typeface="Consolas"/>
              </a:rPr>
              <a:t>(TEXT)</a:t>
            </a:r>
          </a:p>
        </p:txBody>
      </p:sp>
      <p:sp>
        <p:nvSpPr>
          <p:cNvPr id="35" name="TextBox 34"/>
          <p:cNvSpPr txBox="1"/>
          <p:nvPr/>
        </p:nvSpPr>
        <p:spPr>
          <a:xfrm>
            <a:off x="8851392" y="2706624"/>
            <a:ext cx="241401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whatsapp </a:t>
            </a:r>
            <a:r>
              <a:rPr sz="850">
                <a:solidFill>
                  <a:srgbClr val="8A8A84"/>
                </a:solidFill>
                <a:latin typeface="Consolas"/>
              </a:rPr>
              <a:t>(TEXT)</a:t>
            </a:r>
          </a:p>
        </p:txBody>
      </p:sp>
      <p:sp>
        <p:nvSpPr>
          <p:cNvPr id="36" name="TextBox 35"/>
          <p:cNvSpPr txBox="1"/>
          <p:nvPr/>
        </p:nvSpPr>
        <p:spPr>
          <a:xfrm>
            <a:off x="8851392" y="2926080"/>
            <a:ext cx="241401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telefono </a:t>
            </a:r>
            <a:r>
              <a:rPr sz="850">
                <a:solidFill>
                  <a:srgbClr val="8A8A84"/>
                </a:solidFill>
                <a:latin typeface="Consolas"/>
              </a:rPr>
              <a:t>(TEXT)</a:t>
            </a:r>
          </a:p>
        </p:txBody>
      </p:sp>
      <p:sp>
        <p:nvSpPr>
          <p:cNvPr id="37" name="TextBox 36"/>
          <p:cNvSpPr txBox="1"/>
          <p:nvPr/>
        </p:nvSpPr>
        <p:spPr>
          <a:xfrm>
            <a:off x="8851392" y="3145536"/>
            <a:ext cx="241401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horarios </a:t>
            </a:r>
            <a:r>
              <a:rPr sz="850">
                <a:solidFill>
                  <a:srgbClr val="8A8A84"/>
                </a:solidFill>
                <a:latin typeface="Consolas"/>
              </a:rPr>
              <a:t>(JSONB)</a:t>
            </a:r>
          </a:p>
        </p:txBody>
      </p:sp>
      <p:sp>
        <p:nvSpPr>
          <p:cNvPr id="38" name="TextBox 37"/>
          <p:cNvSpPr txBox="1"/>
          <p:nvPr/>
        </p:nvSpPr>
        <p:spPr>
          <a:xfrm>
            <a:off x="8851392" y="3364992"/>
            <a:ext cx="241401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mp_access_token </a:t>
            </a:r>
            <a:r>
              <a:rPr sz="850">
                <a:solidFill>
                  <a:srgbClr val="8A8A84"/>
                </a:solidFill>
                <a:latin typeface="Consolas"/>
              </a:rPr>
              <a:t>(TEXT)</a:t>
            </a:r>
          </a:p>
        </p:txBody>
      </p:sp>
      <p:sp>
        <p:nvSpPr>
          <p:cNvPr id="39" name="TextBox 38"/>
          <p:cNvSpPr txBox="1"/>
          <p:nvPr/>
        </p:nvSpPr>
        <p:spPr>
          <a:xfrm>
            <a:off x="8851392" y="3584448"/>
            <a:ext cx="241401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created_at </a:t>
            </a:r>
            <a:r>
              <a:rPr sz="850">
                <a:solidFill>
                  <a:srgbClr val="8A8A84"/>
                </a:solidFill>
                <a:latin typeface="Consolas"/>
              </a:rPr>
              <a:t>(TIMESTAMPTZ)</a:t>
            </a:r>
          </a:p>
        </p:txBody>
      </p:sp>
      <p:sp>
        <p:nvSpPr>
          <p:cNvPr id="40" name="Rounded Rectangle 39"/>
          <p:cNvSpPr/>
          <p:nvPr/>
        </p:nvSpPr>
        <p:spPr>
          <a:xfrm>
            <a:off x="731520" y="4846320"/>
            <a:ext cx="10698480" cy="1188720"/>
          </a:xfrm>
          <a:prstGeom prst="roundRect">
            <a:avLst/>
          </a:prstGeom>
          <a:solidFill>
            <a:srgbClr val="F3F2EE"/>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937760"/>
            <a:ext cx="10332720" cy="1005840"/>
          </a:xfrm>
          <a:prstGeom prst="rect">
            <a:avLst/>
          </a:prstGeom>
          <a:noFill/>
        </p:spPr>
        <p:txBody>
          <a:bodyPr wrap="square">
            <a:spAutoFit/>
          </a:bodyPr>
          <a:lstStyle/>
          <a:p>
            <a:pPr>
              <a:defRPr sz="1100" b="1">
                <a:solidFill>
                  <a:srgbClr val="E25B1A"/>
                </a:solidFill>
                <a:latin typeface="Segoe UI"/>
              </a:defRPr>
            </a:pPr>
            <a:r>
              <a:t>Decisiones Clave de Diseño:</a:t>
            </a:r>
          </a:p>
          <a:p>
            <a:pPr>
              <a:defRPr sz="950">
                <a:solidFill>
                  <a:srgbClr val="5A5A55"/>
                </a:solidFill>
                <a:latin typeface="Segoe UI"/>
              </a:defRPr>
            </a:pPr>
            <a:r>
              <a:t>• Multi-tenancy lógico mediante `tenant_id`: Todas las consultas operativas se filtran por tenant, impidiendo fugas de datos entre distintos locales.</a:t>
            </a:r>
            <a:br/>
            <a:r>
              <a:t>• Magic Tokens de un solo uso (`used_at`): Elimina contraseñas en texto plano o hashes vulnerables. El token expira automáticamente en 15 minutos.</a:t>
            </a:r>
            <a:br/>
            <a:r>
              <a:t>• Horarios en `JSONB`: Permite almacenar múltiples turnos por día de la semana sin necesidad de crear una tabla rígida de horarios.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11. ESQUEMA DETALLADO</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DER Módulo 2: Salón y Carta Gastronómica</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Mesas identificadas por token QR y catálogo de platos con variantes y disponibilidad</a:t>
            </a:r>
          </a:p>
        </p:txBody>
      </p:sp>
      <p:sp>
        <p:nvSpPr>
          <p:cNvPr id="5" name="Rounded Rectangle 4"/>
          <p:cNvSpPr/>
          <p:nvPr/>
        </p:nvSpPr>
        <p:spPr>
          <a:xfrm>
            <a:off x="731520" y="1645920"/>
            <a:ext cx="1920240" cy="1115568"/>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92024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sectores</a:t>
            </a:r>
          </a:p>
          <a:p>
            <a:pPr>
              <a:defRPr sz="850">
                <a:solidFill>
                  <a:srgbClr val="FAE8D8"/>
                </a:solidFill>
                <a:latin typeface="Segoe UI"/>
              </a:defRPr>
            </a:pPr>
            <a:r>
              <a:t>Zonas (Salón, Terraza)</a:t>
            </a:r>
          </a:p>
        </p:txBody>
      </p:sp>
      <p:sp>
        <p:nvSpPr>
          <p:cNvPr id="7" name="TextBox 6"/>
          <p:cNvSpPr txBox="1"/>
          <p:nvPr/>
        </p:nvSpPr>
        <p:spPr>
          <a:xfrm>
            <a:off x="804672" y="2048256"/>
            <a:ext cx="177393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8" name="TextBox 7"/>
          <p:cNvSpPr txBox="1"/>
          <p:nvPr/>
        </p:nvSpPr>
        <p:spPr>
          <a:xfrm>
            <a:off x="804672" y="2267712"/>
            <a:ext cx="177393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sucursal_id </a:t>
            </a:r>
            <a:r>
              <a:rPr sz="850">
                <a:solidFill>
                  <a:srgbClr val="8A8A84"/>
                </a:solidFill>
                <a:latin typeface="Consolas"/>
              </a:rPr>
              <a:t>(UUID)</a:t>
            </a:r>
          </a:p>
        </p:txBody>
      </p:sp>
      <p:sp>
        <p:nvSpPr>
          <p:cNvPr id="9" name="TextBox 8"/>
          <p:cNvSpPr txBox="1"/>
          <p:nvPr/>
        </p:nvSpPr>
        <p:spPr>
          <a:xfrm>
            <a:off x="804672" y="2487168"/>
            <a:ext cx="177393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 </a:t>
            </a:r>
            <a:r>
              <a:rPr sz="850">
                <a:solidFill>
                  <a:srgbClr val="8A8A84"/>
                </a:solidFill>
                <a:latin typeface="Consolas"/>
              </a:rPr>
              <a:t>(TEXT)</a:t>
            </a:r>
          </a:p>
        </p:txBody>
      </p:sp>
      <p:sp>
        <p:nvSpPr>
          <p:cNvPr id="10" name="Rounded Rectangle 9"/>
          <p:cNvSpPr/>
          <p:nvPr/>
        </p:nvSpPr>
        <p:spPr>
          <a:xfrm>
            <a:off x="2834640" y="1645920"/>
            <a:ext cx="2377440" cy="2432304"/>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34640" y="1645920"/>
            <a:ext cx="237744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mesas</a:t>
            </a:r>
          </a:p>
          <a:p>
            <a:pPr>
              <a:defRPr sz="850">
                <a:solidFill>
                  <a:srgbClr val="FAE8D8"/>
                </a:solidFill>
                <a:latin typeface="Segoe UI"/>
              </a:defRPr>
            </a:pPr>
            <a:r>
              <a:t>Mesas físicas con QR</a:t>
            </a:r>
          </a:p>
        </p:txBody>
      </p:sp>
      <p:sp>
        <p:nvSpPr>
          <p:cNvPr id="12" name="TextBox 11"/>
          <p:cNvSpPr txBox="1"/>
          <p:nvPr/>
        </p:nvSpPr>
        <p:spPr>
          <a:xfrm>
            <a:off x="2907792" y="2048256"/>
            <a:ext cx="223113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13" name="TextBox 12"/>
          <p:cNvSpPr txBox="1"/>
          <p:nvPr/>
        </p:nvSpPr>
        <p:spPr>
          <a:xfrm>
            <a:off x="2907792" y="2267712"/>
            <a:ext cx="223113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sucursal_id </a:t>
            </a:r>
            <a:r>
              <a:rPr sz="850">
                <a:solidFill>
                  <a:srgbClr val="8A8A84"/>
                </a:solidFill>
                <a:latin typeface="Consolas"/>
              </a:rPr>
              <a:t>(UUID)</a:t>
            </a:r>
          </a:p>
        </p:txBody>
      </p:sp>
      <p:sp>
        <p:nvSpPr>
          <p:cNvPr id="14" name="TextBox 13"/>
          <p:cNvSpPr txBox="1"/>
          <p:nvPr/>
        </p:nvSpPr>
        <p:spPr>
          <a:xfrm>
            <a:off x="2907792" y="2487168"/>
            <a:ext cx="223113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sector_id </a:t>
            </a:r>
            <a:r>
              <a:rPr sz="850">
                <a:solidFill>
                  <a:srgbClr val="8A8A84"/>
                </a:solidFill>
                <a:latin typeface="Consolas"/>
              </a:rPr>
              <a:t>(UUID)</a:t>
            </a:r>
          </a:p>
        </p:txBody>
      </p:sp>
      <p:sp>
        <p:nvSpPr>
          <p:cNvPr id="15" name="TextBox 14"/>
          <p:cNvSpPr txBox="1"/>
          <p:nvPr/>
        </p:nvSpPr>
        <p:spPr>
          <a:xfrm>
            <a:off x="2907792" y="2706624"/>
            <a:ext cx="223113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numero </a:t>
            </a:r>
            <a:r>
              <a:rPr sz="850">
                <a:solidFill>
                  <a:srgbClr val="8A8A84"/>
                </a:solidFill>
                <a:latin typeface="Consolas"/>
              </a:rPr>
              <a:t>(INT)</a:t>
            </a:r>
          </a:p>
        </p:txBody>
      </p:sp>
      <p:sp>
        <p:nvSpPr>
          <p:cNvPr id="16" name="TextBox 15"/>
          <p:cNvSpPr txBox="1"/>
          <p:nvPr/>
        </p:nvSpPr>
        <p:spPr>
          <a:xfrm>
            <a:off x="2907792" y="2926080"/>
            <a:ext cx="223113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capacidad </a:t>
            </a:r>
            <a:r>
              <a:rPr sz="850">
                <a:solidFill>
                  <a:srgbClr val="8A8A84"/>
                </a:solidFill>
                <a:latin typeface="Consolas"/>
              </a:rPr>
              <a:t>(INT)</a:t>
            </a:r>
          </a:p>
        </p:txBody>
      </p:sp>
      <p:sp>
        <p:nvSpPr>
          <p:cNvPr id="17" name="TextBox 16"/>
          <p:cNvSpPr txBox="1"/>
          <p:nvPr/>
        </p:nvSpPr>
        <p:spPr>
          <a:xfrm>
            <a:off x="2907792" y="3145536"/>
            <a:ext cx="2231136" cy="219456"/>
          </a:xfrm>
          <a:prstGeom prst="rect">
            <a:avLst/>
          </a:prstGeom>
          <a:noFill/>
        </p:spPr>
        <p:txBody>
          <a:bodyPr wrap="none" anchor="ctr" tIns="0" bIns="0" lIns="0" rIns="0">
            <a:spAutoFit/>
          </a:bodyPr>
          <a:lstStyle/>
          <a:p>
            <a:r>
              <a:rPr sz="850" b="1">
                <a:solidFill>
                  <a:srgbClr val="8A8A84"/>
                </a:solidFill>
                <a:latin typeface="Consolas"/>
              </a:rPr>
              <a:t>UQ   </a:t>
            </a:r>
            <a:r>
              <a:rPr sz="950" b="1">
                <a:solidFill>
                  <a:srgbClr val="1A1A18"/>
                </a:solidFill>
                <a:latin typeface="Segoe UI"/>
              </a:rPr>
              <a:t>qr_token </a:t>
            </a:r>
            <a:r>
              <a:rPr sz="850">
                <a:solidFill>
                  <a:srgbClr val="8A8A84"/>
                </a:solidFill>
                <a:latin typeface="Consolas"/>
              </a:rPr>
              <a:t>(TEXT)</a:t>
            </a:r>
          </a:p>
        </p:txBody>
      </p:sp>
      <p:sp>
        <p:nvSpPr>
          <p:cNvPr id="18" name="TextBox 17"/>
          <p:cNvSpPr txBox="1"/>
          <p:nvPr/>
        </p:nvSpPr>
        <p:spPr>
          <a:xfrm>
            <a:off x="2907792" y="3364992"/>
            <a:ext cx="223113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estado </a:t>
            </a:r>
            <a:r>
              <a:rPr sz="850">
                <a:solidFill>
                  <a:srgbClr val="8A8A84"/>
                </a:solidFill>
                <a:latin typeface="Consolas"/>
              </a:rPr>
              <a:t>(TEXT)</a:t>
            </a:r>
          </a:p>
        </p:txBody>
      </p:sp>
      <p:sp>
        <p:nvSpPr>
          <p:cNvPr id="19" name="TextBox 18"/>
          <p:cNvSpPr txBox="1"/>
          <p:nvPr/>
        </p:nvSpPr>
        <p:spPr>
          <a:xfrm>
            <a:off x="2907792" y="3584448"/>
            <a:ext cx="223113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cuenta_version </a:t>
            </a:r>
            <a:r>
              <a:rPr sz="850">
                <a:solidFill>
                  <a:srgbClr val="8A8A84"/>
                </a:solidFill>
                <a:latin typeface="Consolas"/>
              </a:rPr>
              <a:t>(INT)</a:t>
            </a:r>
          </a:p>
        </p:txBody>
      </p:sp>
      <p:sp>
        <p:nvSpPr>
          <p:cNvPr id="20" name="TextBox 19"/>
          <p:cNvSpPr txBox="1"/>
          <p:nvPr/>
        </p:nvSpPr>
        <p:spPr>
          <a:xfrm>
            <a:off x="2907792" y="3803904"/>
            <a:ext cx="223113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pago_habilitado </a:t>
            </a:r>
            <a:r>
              <a:rPr sz="850">
                <a:solidFill>
                  <a:srgbClr val="8A8A84"/>
                </a:solidFill>
                <a:latin typeface="Consolas"/>
              </a:rPr>
              <a:t>(BOOLEAN)</a:t>
            </a:r>
          </a:p>
        </p:txBody>
      </p:sp>
      <p:sp>
        <p:nvSpPr>
          <p:cNvPr id="21" name="Rounded Rectangle 20"/>
          <p:cNvSpPr/>
          <p:nvPr/>
        </p:nvSpPr>
        <p:spPr>
          <a:xfrm>
            <a:off x="5394960" y="1645920"/>
            <a:ext cx="2011680" cy="1335024"/>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94960" y="1645920"/>
            <a:ext cx="201168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categorias</a:t>
            </a:r>
          </a:p>
          <a:p>
            <a:pPr>
              <a:defRPr sz="850">
                <a:solidFill>
                  <a:srgbClr val="FAE8D8"/>
                </a:solidFill>
                <a:latin typeface="Segoe UI"/>
              </a:defRPr>
            </a:pPr>
            <a:r>
              <a:t>Entradas, Bebidas, etc.</a:t>
            </a:r>
          </a:p>
        </p:txBody>
      </p:sp>
      <p:sp>
        <p:nvSpPr>
          <p:cNvPr id="23" name="TextBox 22"/>
          <p:cNvSpPr txBox="1"/>
          <p:nvPr/>
        </p:nvSpPr>
        <p:spPr>
          <a:xfrm>
            <a:off x="5468112" y="2048256"/>
            <a:ext cx="186537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24" name="TextBox 23"/>
          <p:cNvSpPr txBox="1"/>
          <p:nvPr/>
        </p:nvSpPr>
        <p:spPr>
          <a:xfrm>
            <a:off x="5468112" y="2267712"/>
            <a:ext cx="186537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tenant_id </a:t>
            </a:r>
            <a:r>
              <a:rPr sz="850">
                <a:solidFill>
                  <a:srgbClr val="8A8A84"/>
                </a:solidFill>
                <a:latin typeface="Consolas"/>
              </a:rPr>
              <a:t>(UUID)</a:t>
            </a:r>
          </a:p>
        </p:txBody>
      </p:sp>
      <p:sp>
        <p:nvSpPr>
          <p:cNvPr id="25" name="TextBox 24"/>
          <p:cNvSpPr txBox="1"/>
          <p:nvPr/>
        </p:nvSpPr>
        <p:spPr>
          <a:xfrm>
            <a:off x="5468112" y="2487168"/>
            <a:ext cx="18653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 </a:t>
            </a:r>
            <a:r>
              <a:rPr sz="850">
                <a:solidFill>
                  <a:srgbClr val="8A8A84"/>
                </a:solidFill>
                <a:latin typeface="Consolas"/>
              </a:rPr>
              <a:t>(TEXT)</a:t>
            </a:r>
          </a:p>
        </p:txBody>
      </p:sp>
      <p:sp>
        <p:nvSpPr>
          <p:cNvPr id="26" name="TextBox 25"/>
          <p:cNvSpPr txBox="1"/>
          <p:nvPr/>
        </p:nvSpPr>
        <p:spPr>
          <a:xfrm>
            <a:off x="5468112" y="2706624"/>
            <a:ext cx="18653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orden </a:t>
            </a:r>
            <a:r>
              <a:rPr sz="850">
                <a:solidFill>
                  <a:srgbClr val="8A8A84"/>
                </a:solidFill>
                <a:latin typeface="Consolas"/>
              </a:rPr>
              <a:t>(INT)</a:t>
            </a:r>
          </a:p>
        </p:txBody>
      </p:sp>
      <p:sp>
        <p:nvSpPr>
          <p:cNvPr id="27" name="Rounded Rectangle 26"/>
          <p:cNvSpPr/>
          <p:nvPr/>
        </p:nvSpPr>
        <p:spPr>
          <a:xfrm>
            <a:off x="7589520" y="1645920"/>
            <a:ext cx="2194560" cy="2212848"/>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20" y="1645920"/>
            <a:ext cx="219456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articulos</a:t>
            </a:r>
          </a:p>
          <a:p>
            <a:pPr>
              <a:defRPr sz="850">
                <a:solidFill>
                  <a:srgbClr val="FAE8D8"/>
                </a:solidFill>
                <a:latin typeface="Segoe UI"/>
              </a:defRPr>
            </a:pPr>
            <a:r>
              <a:t>Platos y productos</a:t>
            </a:r>
          </a:p>
        </p:txBody>
      </p:sp>
      <p:sp>
        <p:nvSpPr>
          <p:cNvPr id="29" name="TextBox 28"/>
          <p:cNvSpPr txBox="1"/>
          <p:nvPr/>
        </p:nvSpPr>
        <p:spPr>
          <a:xfrm>
            <a:off x="7662672" y="2048256"/>
            <a:ext cx="204825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30" name="TextBox 29"/>
          <p:cNvSpPr txBox="1"/>
          <p:nvPr/>
        </p:nvSpPr>
        <p:spPr>
          <a:xfrm>
            <a:off x="7662672" y="2267712"/>
            <a:ext cx="204825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tenant_id </a:t>
            </a:r>
            <a:r>
              <a:rPr sz="850">
                <a:solidFill>
                  <a:srgbClr val="8A8A84"/>
                </a:solidFill>
                <a:latin typeface="Consolas"/>
              </a:rPr>
              <a:t>(UUID)</a:t>
            </a:r>
          </a:p>
        </p:txBody>
      </p:sp>
      <p:sp>
        <p:nvSpPr>
          <p:cNvPr id="31" name="TextBox 30"/>
          <p:cNvSpPr txBox="1"/>
          <p:nvPr/>
        </p:nvSpPr>
        <p:spPr>
          <a:xfrm>
            <a:off x="7662672" y="2487168"/>
            <a:ext cx="204825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categoria_id </a:t>
            </a:r>
            <a:r>
              <a:rPr sz="850">
                <a:solidFill>
                  <a:srgbClr val="8A8A84"/>
                </a:solidFill>
                <a:latin typeface="Consolas"/>
              </a:rPr>
              <a:t>(UUID)</a:t>
            </a:r>
          </a:p>
        </p:txBody>
      </p:sp>
      <p:sp>
        <p:nvSpPr>
          <p:cNvPr id="32" name="TextBox 31"/>
          <p:cNvSpPr txBox="1"/>
          <p:nvPr/>
        </p:nvSpPr>
        <p:spPr>
          <a:xfrm>
            <a:off x="7662672" y="2706624"/>
            <a:ext cx="204825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 </a:t>
            </a:r>
            <a:r>
              <a:rPr sz="850">
                <a:solidFill>
                  <a:srgbClr val="8A8A84"/>
                </a:solidFill>
                <a:latin typeface="Consolas"/>
              </a:rPr>
              <a:t>(TEXT)</a:t>
            </a:r>
          </a:p>
        </p:txBody>
      </p:sp>
      <p:sp>
        <p:nvSpPr>
          <p:cNvPr id="33" name="TextBox 32"/>
          <p:cNvSpPr txBox="1"/>
          <p:nvPr/>
        </p:nvSpPr>
        <p:spPr>
          <a:xfrm>
            <a:off x="7662672" y="2926080"/>
            <a:ext cx="204825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descripcion </a:t>
            </a:r>
            <a:r>
              <a:rPr sz="850">
                <a:solidFill>
                  <a:srgbClr val="8A8A84"/>
                </a:solidFill>
                <a:latin typeface="Consolas"/>
              </a:rPr>
              <a:t>(TEXT)</a:t>
            </a:r>
          </a:p>
        </p:txBody>
      </p:sp>
      <p:sp>
        <p:nvSpPr>
          <p:cNvPr id="34" name="TextBox 33"/>
          <p:cNvSpPr txBox="1"/>
          <p:nvPr/>
        </p:nvSpPr>
        <p:spPr>
          <a:xfrm>
            <a:off x="7662672" y="3145536"/>
            <a:ext cx="204825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precio </a:t>
            </a:r>
            <a:r>
              <a:rPr sz="850">
                <a:solidFill>
                  <a:srgbClr val="8A8A84"/>
                </a:solidFill>
                <a:latin typeface="Consolas"/>
              </a:rPr>
              <a:t>(NUMERIC(10,2))</a:t>
            </a:r>
          </a:p>
        </p:txBody>
      </p:sp>
      <p:sp>
        <p:nvSpPr>
          <p:cNvPr id="35" name="TextBox 34"/>
          <p:cNvSpPr txBox="1"/>
          <p:nvPr/>
        </p:nvSpPr>
        <p:spPr>
          <a:xfrm>
            <a:off x="7662672" y="3364992"/>
            <a:ext cx="204825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foto_url </a:t>
            </a:r>
            <a:r>
              <a:rPr sz="850">
                <a:solidFill>
                  <a:srgbClr val="8A8A84"/>
                </a:solidFill>
                <a:latin typeface="Consolas"/>
              </a:rPr>
              <a:t>(TEXT)</a:t>
            </a:r>
          </a:p>
        </p:txBody>
      </p:sp>
      <p:sp>
        <p:nvSpPr>
          <p:cNvPr id="36" name="TextBox 35"/>
          <p:cNvSpPr txBox="1"/>
          <p:nvPr/>
        </p:nvSpPr>
        <p:spPr>
          <a:xfrm>
            <a:off x="7662672" y="3584448"/>
            <a:ext cx="204825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activo </a:t>
            </a:r>
            <a:r>
              <a:rPr sz="850">
                <a:solidFill>
                  <a:srgbClr val="8A8A84"/>
                </a:solidFill>
                <a:latin typeface="Consolas"/>
              </a:rPr>
              <a:t>(BOOLEAN)</a:t>
            </a:r>
          </a:p>
        </p:txBody>
      </p:sp>
      <p:sp>
        <p:nvSpPr>
          <p:cNvPr id="37" name="Rounded Rectangle 36"/>
          <p:cNvSpPr/>
          <p:nvPr/>
        </p:nvSpPr>
        <p:spPr>
          <a:xfrm>
            <a:off x="9966960" y="1645920"/>
            <a:ext cx="1828800" cy="1993392"/>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966960" y="1645920"/>
            <a:ext cx="182880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variantes</a:t>
            </a:r>
          </a:p>
          <a:p>
            <a:pPr>
              <a:defRPr sz="850">
                <a:solidFill>
                  <a:srgbClr val="FAE8D8"/>
                </a:solidFill>
                <a:latin typeface="Segoe UI"/>
              </a:defRPr>
            </a:pPr>
            <a:r>
              <a:t>Opciones y extras</a:t>
            </a:r>
          </a:p>
        </p:txBody>
      </p:sp>
      <p:sp>
        <p:nvSpPr>
          <p:cNvPr id="39" name="TextBox 38"/>
          <p:cNvSpPr txBox="1"/>
          <p:nvPr/>
        </p:nvSpPr>
        <p:spPr>
          <a:xfrm>
            <a:off x="10040112" y="2048256"/>
            <a:ext cx="168249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40" name="TextBox 39"/>
          <p:cNvSpPr txBox="1"/>
          <p:nvPr/>
        </p:nvSpPr>
        <p:spPr>
          <a:xfrm>
            <a:off x="10040112" y="2267712"/>
            <a:ext cx="168249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articulo_id </a:t>
            </a:r>
            <a:r>
              <a:rPr sz="850">
                <a:solidFill>
                  <a:srgbClr val="8A8A84"/>
                </a:solidFill>
                <a:latin typeface="Consolas"/>
              </a:rPr>
              <a:t>(UUID)</a:t>
            </a:r>
          </a:p>
        </p:txBody>
      </p:sp>
      <p:sp>
        <p:nvSpPr>
          <p:cNvPr id="41" name="TextBox 40"/>
          <p:cNvSpPr txBox="1"/>
          <p:nvPr/>
        </p:nvSpPr>
        <p:spPr>
          <a:xfrm>
            <a:off x="10040112" y="2487168"/>
            <a:ext cx="16824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grupo </a:t>
            </a:r>
            <a:r>
              <a:rPr sz="850">
                <a:solidFill>
                  <a:srgbClr val="8A8A84"/>
                </a:solidFill>
                <a:latin typeface="Consolas"/>
              </a:rPr>
              <a:t>(TEXT)</a:t>
            </a:r>
          </a:p>
        </p:txBody>
      </p:sp>
      <p:sp>
        <p:nvSpPr>
          <p:cNvPr id="42" name="TextBox 41"/>
          <p:cNvSpPr txBox="1"/>
          <p:nvPr/>
        </p:nvSpPr>
        <p:spPr>
          <a:xfrm>
            <a:off x="10040112" y="2706624"/>
            <a:ext cx="16824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nombre </a:t>
            </a:r>
            <a:r>
              <a:rPr sz="850">
                <a:solidFill>
                  <a:srgbClr val="8A8A84"/>
                </a:solidFill>
                <a:latin typeface="Consolas"/>
              </a:rPr>
              <a:t>(TEXT)</a:t>
            </a:r>
          </a:p>
        </p:txBody>
      </p:sp>
      <p:sp>
        <p:nvSpPr>
          <p:cNvPr id="43" name="TextBox 42"/>
          <p:cNvSpPr txBox="1"/>
          <p:nvPr/>
        </p:nvSpPr>
        <p:spPr>
          <a:xfrm>
            <a:off x="10040112" y="2926080"/>
            <a:ext cx="16824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precio_adic. </a:t>
            </a:r>
            <a:r>
              <a:rPr sz="850">
                <a:solidFill>
                  <a:srgbClr val="8A8A84"/>
                </a:solidFill>
                <a:latin typeface="Consolas"/>
              </a:rPr>
              <a:t>(NUMERIC)</a:t>
            </a:r>
          </a:p>
        </p:txBody>
      </p:sp>
      <p:sp>
        <p:nvSpPr>
          <p:cNvPr id="44" name="TextBox 43"/>
          <p:cNvSpPr txBox="1"/>
          <p:nvPr/>
        </p:nvSpPr>
        <p:spPr>
          <a:xfrm>
            <a:off x="10040112" y="3145536"/>
            <a:ext cx="16824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seleccion_un. </a:t>
            </a:r>
            <a:r>
              <a:rPr sz="850">
                <a:solidFill>
                  <a:srgbClr val="8A8A84"/>
                </a:solidFill>
                <a:latin typeface="Consolas"/>
              </a:rPr>
              <a:t>(BOOLEAN)</a:t>
            </a:r>
          </a:p>
        </p:txBody>
      </p:sp>
      <p:sp>
        <p:nvSpPr>
          <p:cNvPr id="45" name="TextBox 44"/>
          <p:cNvSpPr txBox="1"/>
          <p:nvPr/>
        </p:nvSpPr>
        <p:spPr>
          <a:xfrm>
            <a:off x="10040112" y="3364992"/>
            <a:ext cx="16824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orden </a:t>
            </a:r>
            <a:r>
              <a:rPr sz="850">
                <a:solidFill>
                  <a:srgbClr val="8A8A84"/>
                </a:solidFill>
                <a:latin typeface="Consolas"/>
              </a:rPr>
              <a:t>(INT)</a:t>
            </a:r>
          </a:p>
        </p:txBody>
      </p:sp>
      <p:sp>
        <p:nvSpPr>
          <p:cNvPr id="46" name="Rounded Rectangle 45"/>
          <p:cNvSpPr/>
          <p:nvPr/>
        </p:nvSpPr>
        <p:spPr>
          <a:xfrm>
            <a:off x="731520" y="4846320"/>
            <a:ext cx="10698480" cy="1188720"/>
          </a:xfrm>
          <a:prstGeom prst="roundRect">
            <a:avLst/>
          </a:prstGeom>
          <a:solidFill>
            <a:srgbClr val="F3F2EE"/>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4937760"/>
            <a:ext cx="10332720" cy="1005840"/>
          </a:xfrm>
          <a:prstGeom prst="rect">
            <a:avLst/>
          </a:prstGeom>
          <a:noFill/>
        </p:spPr>
        <p:txBody>
          <a:bodyPr wrap="square">
            <a:spAutoFit/>
          </a:bodyPr>
          <a:lstStyle/>
          <a:p>
            <a:pPr>
              <a:defRPr sz="1100" b="1">
                <a:solidFill>
                  <a:srgbClr val="E25B1A"/>
                </a:solidFill>
                <a:latin typeface="Segoe UI"/>
              </a:defRPr>
            </a:pPr>
            <a:r>
              <a:t>Decisiones Clave de Diseño:</a:t>
            </a:r>
          </a:p>
          <a:p>
            <a:pPr>
              <a:defRPr sz="950">
                <a:solidFill>
                  <a:srgbClr val="5A5A55"/>
                </a:solidFill>
                <a:latin typeface="Segoe UI"/>
              </a:defRPr>
            </a:pPr>
            <a:r>
              <a:t>• `qr_token` único e inmutable: La mesa física mantiene un código QR impreso permanente. No se expone el ID interno en la URL pública.</a:t>
            </a:r>
            <a:br/>
            <a:r>
              <a:t>• `cuenta_version`: Permite agrupar los pedidos de los comensales que están sentados actualmente, independizándolos de consumos anteriores.</a:t>
            </a:r>
            <a:br/>
            <a:r>
              <a:t>• Grupos de variantes (`grupo`, `seleccion_unica`): Soporta tanto opciones excluyentes (punto de carne) como agregados múltiples (aderezos extra).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12. ESQUEMA DETALLADO</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DER Módulo 3: Pedidos, Comensales y Pagos</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Gestión de pedidos colaborativos, snapshot inmutable de precios e integración con Mercado Pago</a:t>
            </a:r>
          </a:p>
        </p:txBody>
      </p:sp>
      <p:sp>
        <p:nvSpPr>
          <p:cNvPr id="5" name="Rounded Rectangle 4"/>
          <p:cNvSpPr/>
          <p:nvPr/>
        </p:nvSpPr>
        <p:spPr>
          <a:xfrm>
            <a:off x="731520" y="1645920"/>
            <a:ext cx="2468880" cy="1993392"/>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46888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pedidos</a:t>
            </a:r>
          </a:p>
          <a:p>
            <a:pPr>
              <a:defRPr sz="850">
                <a:solidFill>
                  <a:srgbClr val="FAE8D8"/>
                </a:solidFill>
                <a:latin typeface="Segoe UI"/>
              </a:defRPr>
            </a:pPr>
            <a:r>
              <a:t>Comanda global de cocina</a:t>
            </a:r>
          </a:p>
        </p:txBody>
      </p:sp>
      <p:sp>
        <p:nvSpPr>
          <p:cNvPr id="7" name="TextBox 6"/>
          <p:cNvSpPr txBox="1"/>
          <p:nvPr/>
        </p:nvSpPr>
        <p:spPr>
          <a:xfrm>
            <a:off x="804672" y="2048256"/>
            <a:ext cx="232257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8" name="TextBox 7"/>
          <p:cNvSpPr txBox="1"/>
          <p:nvPr/>
        </p:nvSpPr>
        <p:spPr>
          <a:xfrm>
            <a:off x="804672" y="2267712"/>
            <a:ext cx="232257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mesa_id </a:t>
            </a:r>
            <a:r>
              <a:rPr sz="850">
                <a:solidFill>
                  <a:srgbClr val="8A8A84"/>
                </a:solidFill>
                <a:latin typeface="Consolas"/>
              </a:rPr>
              <a:t>(UUID)</a:t>
            </a:r>
          </a:p>
        </p:txBody>
      </p:sp>
      <p:sp>
        <p:nvSpPr>
          <p:cNvPr id="9" name="TextBox 8"/>
          <p:cNvSpPr txBox="1"/>
          <p:nvPr/>
        </p:nvSpPr>
        <p:spPr>
          <a:xfrm>
            <a:off x="804672" y="2487168"/>
            <a:ext cx="232257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sucursal_id </a:t>
            </a:r>
            <a:r>
              <a:rPr sz="850">
                <a:solidFill>
                  <a:srgbClr val="8A8A84"/>
                </a:solidFill>
                <a:latin typeface="Consolas"/>
              </a:rPr>
              <a:t>(UUID)</a:t>
            </a:r>
          </a:p>
        </p:txBody>
      </p:sp>
      <p:sp>
        <p:nvSpPr>
          <p:cNvPr id="10" name="TextBox 9"/>
          <p:cNvSpPr txBox="1"/>
          <p:nvPr/>
        </p:nvSpPr>
        <p:spPr>
          <a:xfrm>
            <a:off x="804672" y="2706624"/>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cuenta_version </a:t>
            </a:r>
            <a:r>
              <a:rPr sz="850">
                <a:solidFill>
                  <a:srgbClr val="8A8A84"/>
                </a:solidFill>
                <a:latin typeface="Consolas"/>
              </a:rPr>
              <a:t>(INT)</a:t>
            </a:r>
          </a:p>
        </p:txBody>
      </p:sp>
      <p:sp>
        <p:nvSpPr>
          <p:cNvPr id="11" name="TextBox 10"/>
          <p:cNvSpPr txBox="1"/>
          <p:nvPr/>
        </p:nvSpPr>
        <p:spPr>
          <a:xfrm>
            <a:off x="804672" y="2926080"/>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estado </a:t>
            </a:r>
            <a:r>
              <a:rPr sz="850">
                <a:solidFill>
                  <a:srgbClr val="8A8A84"/>
                </a:solidFill>
                <a:latin typeface="Consolas"/>
              </a:rPr>
              <a:t>(TEXT (recibido|listo))</a:t>
            </a:r>
          </a:p>
        </p:txBody>
      </p:sp>
      <p:sp>
        <p:nvSpPr>
          <p:cNvPr id="12" name="TextBox 11"/>
          <p:cNvSpPr txBox="1"/>
          <p:nvPr/>
        </p:nvSpPr>
        <p:spPr>
          <a:xfrm>
            <a:off x="804672" y="3145536"/>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created_at </a:t>
            </a:r>
            <a:r>
              <a:rPr sz="850">
                <a:solidFill>
                  <a:srgbClr val="8A8A84"/>
                </a:solidFill>
                <a:latin typeface="Consolas"/>
              </a:rPr>
              <a:t>(TIMESTAMPTZ)</a:t>
            </a:r>
          </a:p>
        </p:txBody>
      </p:sp>
      <p:sp>
        <p:nvSpPr>
          <p:cNvPr id="13" name="TextBox 12"/>
          <p:cNvSpPr txBox="1"/>
          <p:nvPr/>
        </p:nvSpPr>
        <p:spPr>
          <a:xfrm>
            <a:off x="804672" y="3364992"/>
            <a:ext cx="232257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updated_at </a:t>
            </a:r>
            <a:r>
              <a:rPr sz="850">
                <a:solidFill>
                  <a:srgbClr val="8A8A84"/>
                </a:solidFill>
                <a:latin typeface="Consolas"/>
              </a:rPr>
              <a:t>(TIMESTAMPTZ)</a:t>
            </a:r>
          </a:p>
        </p:txBody>
      </p:sp>
      <p:sp>
        <p:nvSpPr>
          <p:cNvPr id="14" name="Rounded Rectangle 13"/>
          <p:cNvSpPr/>
          <p:nvPr/>
        </p:nvSpPr>
        <p:spPr>
          <a:xfrm>
            <a:off x="3383280" y="1645920"/>
            <a:ext cx="2743200" cy="2212848"/>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645920"/>
            <a:ext cx="274320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pedido_items</a:t>
            </a:r>
          </a:p>
          <a:p>
            <a:pPr>
              <a:defRPr sz="850">
                <a:solidFill>
                  <a:srgbClr val="FAE8D8"/>
                </a:solidFill>
                <a:latin typeface="Segoe UI"/>
              </a:defRPr>
            </a:pPr>
            <a:r>
              <a:t>Platos pedidos con snapshot</a:t>
            </a:r>
          </a:p>
        </p:txBody>
      </p:sp>
      <p:sp>
        <p:nvSpPr>
          <p:cNvPr id="16" name="TextBox 15"/>
          <p:cNvSpPr txBox="1"/>
          <p:nvPr/>
        </p:nvSpPr>
        <p:spPr>
          <a:xfrm>
            <a:off x="3456432" y="2048256"/>
            <a:ext cx="259689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17" name="TextBox 16"/>
          <p:cNvSpPr txBox="1"/>
          <p:nvPr/>
        </p:nvSpPr>
        <p:spPr>
          <a:xfrm>
            <a:off x="3456432" y="2267712"/>
            <a:ext cx="259689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pedido_id </a:t>
            </a:r>
            <a:r>
              <a:rPr sz="850">
                <a:solidFill>
                  <a:srgbClr val="8A8A84"/>
                </a:solidFill>
                <a:latin typeface="Consolas"/>
              </a:rPr>
              <a:t>(UUID)</a:t>
            </a:r>
          </a:p>
        </p:txBody>
      </p:sp>
      <p:sp>
        <p:nvSpPr>
          <p:cNvPr id="18" name="TextBox 17"/>
          <p:cNvSpPr txBox="1"/>
          <p:nvPr/>
        </p:nvSpPr>
        <p:spPr>
          <a:xfrm>
            <a:off x="3456432" y="2487168"/>
            <a:ext cx="259689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articulo_id </a:t>
            </a:r>
            <a:r>
              <a:rPr sz="850">
                <a:solidFill>
                  <a:srgbClr val="8A8A84"/>
                </a:solidFill>
                <a:latin typeface="Consolas"/>
              </a:rPr>
              <a:t>(UUID)</a:t>
            </a:r>
          </a:p>
        </p:txBody>
      </p:sp>
      <p:sp>
        <p:nvSpPr>
          <p:cNvPr id="19" name="TextBox 18"/>
          <p:cNvSpPr txBox="1"/>
          <p:nvPr/>
        </p:nvSpPr>
        <p:spPr>
          <a:xfrm>
            <a:off x="3456432" y="2706624"/>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comensal_id </a:t>
            </a:r>
            <a:r>
              <a:rPr sz="850">
                <a:solidFill>
                  <a:srgbClr val="8A8A84"/>
                </a:solidFill>
                <a:latin typeface="Consolas"/>
              </a:rPr>
              <a:t>(UUID)</a:t>
            </a:r>
          </a:p>
        </p:txBody>
      </p:sp>
      <p:sp>
        <p:nvSpPr>
          <p:cNvPr id="20" name="TextBox 19"/>
          <p:cNvSpPr txBox="1"/>
          <p:nvPr/>
        </p:nvSpPr>
        <p:spPr>
          <a:xfrm>
            <a:off x="3456432" y="2926080"/>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comensal_nombre </a:t>
            </a:r>
            <a:r>
              <a:rPr sz="850">
                <a:solidFill>
                  <a:srgbClr val="8A8A84"/>
                </a:solidFill>
                <a:latin typeface="Consolas"/>
              </a:rPr>
              <a:t>(VARCHAR(100))</a:t>
            </a:r>
          </a:p>
        </p:txBody>
      </p:sp>
      <p:sp>
        <p:nvSpPr>
          <p:cNvPr id="21" name="TextBox 20"/>
          <p:cNvSpPr txBox="1"/>
          <p:nvPr/>
        </p:nvSpPr>
        <p:spPr>
          <a:xfrm>
            <a:off x="3456432" y="3145536"/>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cantidad </a:t>
            </a:r>
            <a:r>
              <a:rPr sz="850">
                <a:solidFill>
                  <a:srgbClr val="8A8A84"/>
                </a:solidFill>
                <a:latin typeface="Consolas"/>
              </a:rPr>
              <a:t>(INT)</a:t>
            </a:r>
          </a:p>
        </p:txBody>
      </p:sp>
      <p:sp>
        <p:nvSpPr>
          <p:cNvPr id="22" name="TextBox 21"/>
          <p:cNvSpPr txBox="1"/>
          <p:nvPr/>
        </p:nvSpPr>
        <p:spPr>
          <a:xfrm>
            <a:off x="3456432" y="3364992"/>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precio_unitario </a:t>
            </a:r>
            <a:r>
              <a:rPr sz="850">
                <a:solidFill>
                  <a:srgbClr val="8A8A84"/>
                </a:solidFill>
                <a:latin typeface="Consolas"/>
              </a:rPr>
              <a:t>(NUMERIC(10,2))</a:t>
            </a:r>
          </a:p>
        </p:txBody>
      </p:sp>
      <p:sp>
        <p:nvSpPr>
          <p:cNvPr id="23" name="TextBox 22"/>
          <p:cNvSpPr txBox="1"/>
          <p:nvPr/>
        </p:nvSpPr>
        <p:spPr>
          <a:xfrm>
            <a:off x="3456432" y="3584448"/>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notas </a:t>
            </a:r>
            <a:r>
              <a:rPr sz="850">
                <a:solidFill>
                  <a:srgbClr val="8A8A84"/>
                </a:solidFill>
                <a:latin typeface="Consolas"/>
              </a:rPr>
              <a:t>(TEXT)</a:t>
            </a:r>
          </a:p>
        </p:txBody>
      </p:sp>
      <p:sp>
        <p:nvSpPr>
          <p:cNvPr id="24" name="Rounded Rectangle 23"/>
          <p:cNvSpPr/>
          <p:nvPr/>
        </p:nvSpPr>
        <p:spPr>
          <a:xfrm>
            <a:off x="6309360" y="1645920"/>
            <a:ext cx="2194560" cy="1115568"/>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645920"/>
            <a:ext cx="219456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pedido_item_variantes</a:t>
            </a:r>
          </a:p>
          <a:p>
            <a:pPr>
              <a:defRPr sz="850">
                <a:solidFill>
                  <a:srgbClr val="FAE8D8"/>
                </a:solidFill>
                <a:latin typeface="Segoe UI"/>
              </a:defRPr>
            </a:pPr>
            <a:r>
              <a:t>Variantes elegidas</a:t>
            </a:r>
          </a:p>
        </p:txBody>
      </p:sp>
      <p:sp>
        <p:nvSpPr>
          <p:cNvPr id="26" name="TextBox 25"/>
          <p:cNvSpPr txBox="1"/>
          <p:nvPr/>
        </p:nvSpPr>
        <p:spPr>
          <a:xfrm>
            <a:off x="6382512" y="2048256"/>
            <a:ext cx="204825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27" name="TextBox 26"/>
          <p:cNvSpPr txBox="1"/>
          <p:nvPr/>
        </p:nvSpPr>
        <p:spPr>
          <a:xfrm>
            <a:off x="6382512" y="2267712"/>
            <a:ext cx="204825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pedido_item_id </a:t>
            </a:r>
            <a:r>
              <a:rPr sz="850">
                <a:solidFill>
                  <a:srgbClr val="8A8A84"/>
                </a:solidFill>
                <a:latin typeface="Consolas"/>
              </a:rPr>
              <a:t>(UUID)</a:t>
            </a:r>
          </a:p>
        </p:txBody>
      </p:sp>
      <p:sp>
        <p:nvSpPr>
          <p:cNvPr id="28" name="TextBox 27"/>
          <p:cNvSpPr txBox="1"/>
          <p:nvPr/>
        </p:nvSpPr>
        <p:spPr>
          <a:xfrm>
            <a:off x="6382512" y="2487168"/>
            <a:ext cx="204825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variante_id </a:t>
            </a:r>
            <a:r>
              <a:rPr sz="850">
                <a:solidFill>
                  <a:srgbClr val="8A8A84"/>
                </a:solidFill>
                <a:latin typeface="Consolas"/>
              </a:rPr>
              <a:t>(UUID)</a:t>
            </a:r>
          </a:p>
        </p:txBody>
      </p:sp>
      <p:sp>
        <p:nvSpPr>
          <p:cNvPr id="29" name="Rounded Rectangle 28"/>
          <p:cNvSpPr/>
          <p:nvPr/>
        </p:nvSpPr>
        <p:spPr>
          <a:xfrm>
            <a:off x="8686800" y="1645920"/>
            <a:ext cx="2743200" cy="265176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86800" y="1645920"/>
            <a:ext cx="2743200" cy="36576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1200" b="1">
                <a:solidFill>
                  <a:srgbClr val="FFFFFF"/>
                </a:solidFill>
                <a:latin typeface="Segoe UI"/>
              </a:defRPr>
            </a:pPr>
            <a:r>
              <a:t>pagos</a:t>
            </a:r>
          </a:p>
          <a:p>
            <a:pPr>
              <a:defRPr sz="850">
                <a:solidFill>
                  <a:srgbClr val="FAE8D8"/>
                </a:solidFill>
                <a:latin typeface="Segoe UI"/>
              </a:defRPr>
            </a:pPr>
            <a:r>
              <a:t>Historial y webhooks MP</a:t>
            </a:r>
          </a:p>
        </p:txBody>
      </p:sp>
      <p:sp>
        <p:nvSpPr>
          <p:cNvPr id="31" name="TextBox 30"/>
          <p:cNvSpPr txBox="1"/>
          <p:nvPr/>
        </p:nvSpPr>
        <p:spPr>
          <a:xfrm>
            <a:off x="8759952" y="2048256"/>
            <a:ext cx="2596896" cy="219456"/>
          </a:xfrm>
          <a:prstGeom prst="rect">
            <a:avLst/>
          </a:prstGeom>
          <a:noFill/>
        </p:spPr>
        <p:txBody>
          <a:bodyPr wrap="none" anchor="ctr" tIns="0" bIns="0" lIns="0" rIns="0">
            <a:spAutoFit/>
          </a:bodyPr>
          <a:lstStyle/>
          <a:p>
            <a:r>
              <a:rPr sz="850" b="1">
                <a:solidFill>
                  <a:srgbClr val="A73807"/>
                </a:solidFill>
                <a:latin typeface="Consolas"/>
              </a:rPr>
              <a:t>PK   </a:t>
            </a:r>
            <a:r>
              <a:rPr sz="950" b="1">
                <a:solidFill>
                  <a:srgbClr val="1A1A18"/>
                </a:solidFill>
                <a:latin typeface="Segoe UI"/>
              </a:rPr>
              <a:t>id </a:t>
            </a:r>
            <a:r>
              <a:rPr sz="850">
                <a:solidFill>
                  <a:srgbClr val="8A8A84"/>
                </a:solidFill>
                <a:latin typeface="Consolas"/>
              </a:rPr>
              <a:t>(UUID)</a:t>
            </a:r>
          </a:p>
        </p:txBody>
      </p:sp>
      <p:sp>
        <p:nvSpPr>
          <p:cNvPr id="32" name="TextBox 31"/>
          <p:cNvSpPr txBox="1"/>
          <p:nvPr/>
        </p:nvSpPr>
        <p:spPr>
          <a:xfrm>
            <a:off x="8759952" y="2267712"/>
            <a:ext cx="2596896" cy="219456"/>
          </a:xfrm>
          <a:prstGeom prst="rect">
            <a:avLst/>
          </a:prstGeom>
          <a:noFill/>
        </p:spPr>
        <p:txBody>
          <a:bodyPr wrap="none" anchor="ctr" tIns="0" bIns="0" lIns="0" rIns="0">
            <a:spAutoFit/>
          </a:bodyPr>
          <a:lstStyle/>
          <a:p>
            <a:r>
              <a:rPr sz="850" b="1">
                <a:solidFill>
                  <a:srgbClr val="185FA5"/>
                </a:solidFill>
                <a:latin typeface="Consolas"/>
              </a:rPr>
              <a:t>FK   </a:t>
            </a:r>
            <a:r>
              <a:rPr sz="950" b="1">
                <a:solidFill>
                  <a:srgbClr val="1A1A18"/>
                </a:solidFill>
                <a:latin typeface="Segoe UI"/>
              </a:rPr>
              <a:t>mesa_id </a:t>
            </a:r>
            <a:r>
              <a:rPr sz="850">
                <a:solidFill>
                  <a:srgbClr val="8A8A84"/>
                </a:solidFill>
                <a:latin typeface="Consolas"/>
              </a:rPr>
              <a:t>(UUID)</a:t>
            </a:r>
          </a:p>
        </p:txBody>
      </p:sp>
      <p:sp>
        <p:nvSpPr>
          <p:cNvPr id="33" name="TextBox 32"/>
          <p:cNvSpPr txBox="1"/>
          <p:nvPr/>
        </p:nvSpPr>
        <p:spPr>
          <a:xfrm>
            <a:off x="8759952" y="2487168"/>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cuenta_version </a:t>
            </a:r>
            <a:r>
              <a:rPr sz="850">
                <a:solidFill>
                  <a:srgbClr val="8A8A84"/>
                </a:solidFill>
                <a:latin typeface="Consolas"/>
              </a:rPr>
              <a:t>(INT)</a:t>
            </a:r>
          </a:p>
        </p:txBody>
      </p:sp>
      <p:sp>
        <p:nvSpPr>
          <p:cNvPr id="34" name="TextBox 33"/>
          <p:cNvSpPr txBox="1"/>
          <p:nvPr/>
        </p:nvSpPr>
        <p:spPr>
          <a:xfrm>
            <a:off x="8759952" y="2706624"/>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proveedor </a:t>
            </a:r>
            <a:r>
              <a:rPr sz="850">
                <a:solidFill>
                  <a:srgbClr val="8A8A84"/>
                </a:solidFill>
                <a:latin typeface="Consolas"/>
              </a:rPr>
              <a:t>(VARCHAR(50))</a:t>
            </a:r>
          </a:p>
        </p:txBody>
      </p:sp>
      <p:sp>
        <p:nvSpPr>
          <p:cNvPr id="35" name="TextBox 34"/>
          <p:cNvSpPr txBox="1"/>
          <p:nvPr/>
        </p:nvSpPr>
        <p:spPr>
          <a:xfrm>
            <a:off x="8759952" y="2926080"/>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preferencia_id </a:t>
            </a:r>
            <a:r>
              <a:rPr sz="850">
                <a:solidFill>
                  <a:srgbClr val="8A8A84"/>
                </a:solidFill>
                <a:latin typeface="Consolas"/>
              </a:rPr>
              <a:t>(VARCHAR(100))</a:t>
            </a:r>
          </a:p>
        </p:txBody>
      </p:sp>
      <p:sp>
        <p:nvSpPr>
          <p:cNvPr id="36" name="TextBox 35"/>
          <p:cNvSpPr txBox="1"/>
          <p:nvPr/>
        </p:nvSpPr>
        <p:spPr>
          <a:xfrm>
            <a:off x="8759952" y="3145536"/>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pago_id </a:t>
            </a:r>
            <a:r>
              <a:rPr sz="850">
                <a:solidFill>
                  <a:srgbClr val="8A8A84"/>
                </a:solidFill>
                <a:latin typeface="Consolas"/>
              </a:rPr>
              <a:t>(VARCHAR(100))</a:t>
            </a:r>
          </a:p>
        </p:txBody>
      </p:sp>
      <p:sp>
        <p:nvSpPr>
          <p:cNvPr id="37" name="TextBox 36"/>
          <p:cNvSpPr txBox="1"/>
          <p:nvPr/>
        </p:nvSpPr>
        <p:spPr>
          <a:xfrm>
            <a:off x="8759952" y="3364992"/>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monto </a:t>
            </a:r>
            <a:r>
              <a:rPr sz="850">
                <a:solidFill>
                  <a:srgbClr val="8A8A84"/>
                </a:solidFill>
                <a:latin typeface="Consolas"/>
              </a:rPr>
              <a:t>(NUMERIC(10,2))</a:t>
            </a:r>
          </a:p>
        </p:txBody>
      </p:sp>
      <p:sp>
        <p:nvSpPr>
          <p:cNvPr id="38" name="TextBox 37"/>
          <p:cNvSpPr txBox="1"/>
          <p:nvPr/>
        </p:nvSpPr>
        <p:spPr>
          <a:xfrm>
            <a:off x="8759952" y="3584448"/>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estado </a:t>
            </a:r>
            <a:r>
              <a:rPr sz="850">
                <a:solidFill>
                  <a:srgbClr val="8A8A84"/>
                </a:solidFill>
                <a:latin typeface="Consolas"/>
              </a:rPr>
              <a:t>(VARCHAR(50))</a:t>
            </a:r>
          </a:p>
        </p:txBody>
      </p:sp>
      <p:sp>
        <p:nvSpPr>
          <p:cNvPr id="39" name="TextBox 38"/>
          <p:cNvSpPr txBox="1"/>
          <p:nvPr/>
        </p:nvSpPr>
        <p:spPr>
          <a:xfrm>
            <a:off x="8759952" y="3803904"/>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detalles </a:t>
            </a:r>
            <a:r>
              <a:rPr sz="850">
                <a:solidFill>
                  <a:srgbClr val="8A8A84"/>
                </a:solidFill>
                <a:latin typeface="Consolas"/>
              </a:rPr>
              <a:t>(JSONB)</a:t>
            </a:r>
          </a:p>
        </p:txBody>
      </p:sp>
      <p:sp>
        <p:nvSpPr>
          <p:cNvPr id="40" name="TextBox 39"/>
          <p:cNvSpPr txBox="1"/>
          <p:nvPr/>
        </p:nvSpPr>
        <p:spPr>
          <a:xfrm>
            <a:off x="8759952" y="4023360"/>
            <a:ext cx="2596896" cy="219456"/>
          </a:xfrm>
          <a:prstGeom prst="rect">
            <a:avLst/>
          </a:prstGeom>
          <a:noFill/>
        </p:spPr>
        <p:txBody>
          <a:bodyPr wrap="none" anchor="ctr" tIns="0" bIns="0" lIns="0" rIns="0">
            <a:spAutoFit/>
          </a:bodyPr>
          <a:lstStyle/>
          <a:p>
            <a:r>
              <a:rPr sz="850">
                <a:latin typeface="Consolas"/>
              </a:rPr>
              <a:t>     </a:t>
            </a:r>
            <a:r>
              <a:rPr sz="950" b="0">
                <a:solidFill>
                  <a:srgbClr val="1A1A18"/>
                </a:solidFill>
                <a:latin typeface="Segoe UI"/>
              </a:rPr>
              <a:t>created_at </a:t>
            </a:r>
            <a:r>
              <a:rPr sz="850">
                <a:solidFill>
                  <a:srgbClr val="8A8A84"/>
                </a:solidFill>
                <a:latin typeface="Consolas"/>
              </a:rPr>
              <a:t>(TIMESTAMPTZ)</a:t>
            </a:r>
          </a:p>
        </p:txBody>
      </p:sp>
      <p:sp>
        <p:nvSpPr>
          <p:cNvPr id="41" name="Rounded Rectangle 40"/>
          <p:cNvSpPr/>
          <p:nvPr/>
        </p:nvSpPr>
        <p:spPr>
          <a:xfrm>
            <a:off x="731520" y="4846320"/>
            <a:ext cx="10698480" cy="1188720"/>
          </a:xfrm>
          <a:prstGeom prst="roundRect">
            <a:avLst/>
          </a:prstGeom>
          <a:solidFill>
            <a:srgbClr val="F3F2EE"/>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937760"/>
            <a:ext cx="10332720" cy="1005840"/>
          </a:xfrm>
          <a:prstGeom prst="rect">
            <a:avLst/>
          </a:prstGeom>
          <a:noFill/>
        </p:spPr>
        <p:txBody>
          <a:bodyPr wrap="square">
            <a:spAutoFit/>
          </a:bodyPr>
          <a:lstStyle/>
          <a:p>
            <a:pPr>
              <a:defRPr sz="1100" b="1">
                <a:solidFill>
                  <a:srgbClr val="E25B1A"/>
                </a:solidFill>
                <a:latin typeface="Segoe UI"/>
              </a:defRPr>
            </a:pPr>
            <a:r>
              <a:t>Decisiones Clave de Diseño:</a:t>
            </a:r>
          </a:p>
          <a:p>
            <a:pPr>
              <a:defRPr sz="950">
                <a:solidFill>
                  <a:srgbClr val="5A5A55"/>
                </a:solidFill>
                <a:latin typeface="Segoe UI"/>
              </a:defRPr>
            </a:pPr>
            <a:r>
              <a:t>• Snapshot en `precio_unitario`: El precio se copia de `articulos` al momento exacto de crear el pedido. Si el admin cambia el precio mañana, el balance histórico no se corrompe jamás.</a:t>
            </a:r>
            <a:br/>
            <a:r>
              <a:t>• Soporte colaborativo (`comensal_id`, `comensal_nombre`): Permite que varios clientes agreguen platos a la comanda general y luego dividan la cuenta por persona.</a:t>
            </a:r>
            <a:br/>
            <a:r>
              <a:t>• Tabla `pagos` con `cuenta_version`: Asegura que el pago registrado en Mercado Pago salde exactamente los pedidos de esa versión de cuenta.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13. CASOS DE USO CRÍTICOS</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Desafío Técnico 1: Concurrencia y Cuentas en Mesa</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¿Cómo resolver pedidos simultáneos y rotación de clientes en la misma mesa física?</a:t>
            </a:r>
          </a:p>
        </p:txBody>
      </p:sp>
      <p:sp>
        <p:nvSpPr>
          <p:cNvPr id="5" name="Rounded Rectangle 4"/>
          <p:cNvSpPr/>
          <p:nvPr/>
        </p:nvSpPr>
        <p:spPr>
          <a:xfrm>
            <a:off x="7315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5486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300" b="1">
                <a:solidFill>
                  <a:srgbClr val="FFFFFF"/>
                </a:solidFill>
                <a:latin typeface="Segoe UI"/>
              </a:defRPr>
            </a:pPr>
            <a:r>
              <a:t>El Problema del Salón</a:t>
            </a:r>
          </a:p>
        </p:txBody>
      </p:sp>
      <p:sp>
        <p:nvSpPr>
          <p:cNvPr id="7" name="TextBox 6"/>
          <p:cNvSpPr txBox="1"/>
          <p:nvPr/>
        </p:nvSpPr>
        <p:spPr>
          <a:xfrm>
            <a:off x="914400" y="2377440"/>
            <a:ext cx="3017520" cy="3474720"/>
          </a:xfrm>
          <a:prstGeom prst="rect">
            <a:avLst/>
          </a:prstGeom>
          <a:noFill/>
        </p:spPr>
        <p:txBody>
          <a:bodyPr wrap="square">
            <a:spAutoFit/>
          </a:bodyPr>
          <a:lstStyle/>
          <a:p>
            <a:pPr>
              <a:defRPr sz="1100">
                <a:solidFill>
                  <a:srgbClr val="5A5A55"/>
                </a:solidFill>
                <a:latin typeface="Segoe UI"/>
              </a:defRPr>
            </a:pPr>
            <a:r>
              <a:t>En un restaurante real ocurren dos fenómenos críticos:</a:t>
            </a:r>
            <a:br/>
            <a:br/>
            <a:r>
              <a:t>1. Concurrencia masiva: 4 amigos escanean el mismo QR al mismo tiempo y envían platos a la cocina simultáneamente.</a:t>
            </a:r>
            <a:br/>
            <a:r>
              <a:t>2. Rotación continua: Cuando la mesa 5 paga y se va, llega otro grupo de clientes y escanea exactamente el mismo código QR impreso en la mesa.</a:t>
            </a:r>
          </a:p>
        </p:txBody>
      </p:sp>
      <p:sp>
        <p:nvSpPr>
          <p:cNvPr id="8" name="Rounded Rectangle 7"/>
          <p:cNvSpPr/>
          <p:nvPr/>
        </p:nvSpPr>
        <p:spPr>
          <a:xfrm>
            <a:off x="43891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548640"/>
          </a:xfrm>
          <a:prstGeom prst="rect">
            <a:avLst/>
          </a:prstGeom>
          <a:solidFill>
            <a:srgbClr val="A73807"/>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300" b="1">
                <a:solidFill>
                  <a:srgbClr val="FFFFFF"/>
                </a:solidFill>
                <a:latin typeface="Segoe UI"/>
              </a:defRPr>
            </a:pPr>
            <a:r>
              <a:t>La Falla de Enfoques Tradicionales</a:t>
            </a:r>
          </a:p>
        </p:txBody>
      </p:sp>
      <p:sp>
        <p:nvSpPr>
          <p:cNvPr id="10" name="TextBox 9"/>
          <p:cNvSpPr txBox="1"/>
          <p:nvPr/>
        </p:nvSpPr>
        <p:spPr>
          <a:xfrm>
            <a:off x="4572000" y="2377440"/>
            <a:ext cx="3017520" cy="3474720"/>
          </a:xfrm>
          <a:prstGeom prst="rect">
            <a:avLst/>
          </a:prstGeom>
          <a:noFill/>
        </p:spPr>
        <p:txBody>
          <a:bodyPr wrap="square">
            <a:spAutoFit/>
          </a:bodyPr>
          <a:lstStyle/>
          <a:p>
            <a:pPr>
              <a:defRPr sz="1100">
                <a:solidFill>
                  <a:srgbClr val="5A5A55"/>
                </a:solidFill>
                <a:latin typeface="Segoe UI"/>
              </a:defRPr>
            </a:pPr>
            <a:r>
              <a:t>• En MongoDB: Guardar los pedidos dentro del documento de la mesa generaría 'lost updates' cuando dos comensales confirman a la vez.</a:t>
            </a:r>
            <a:br/>
            <a:r>
              <a:t>• Borrar pedidos al liberar: Se perdería todo el registro contable y la facturación histórica del día.</a:t>
            </a:r>
            <a:br/>
            <a:r>
              <a:t>• Cambiar el QR en cada cliente: Imposible operativamente en gastronomía (los QR están plastificados o grabados en madera).</a:t>
            </a:r>
          </a:p>
        </p:txBody>
      </p:sp>
      <p:sp>
        <p:nvSpPr>
          <p:cNvPr id="11" name="Rounded Rectangle 10"/>
          <p:cNvSpPr/>
          <p:nvPr/>
        </p:nvSpPr>
        <p:spPr>
          <a:xfrm>
            <a:off x="80467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300" b="1">
                <a:solidFill>
                  <a:srgbClr val="FFFFFF"/>
                </a:solidFill>
                <a:latin typeface="Segoe UI"/>
              </a:defRPr>
            </a:pPr>
            <a:r>
              <a:t>Nuestra Solución: 'cuenta_version'</a:t>
            </a:r>
          </a:p>
        </p:txBody>
      </p:sp>
      <p:sp>
        <p:nvSpPr>
          <p:cNvPr id="13" name="TextBox 12"/>
          <p:cNvSpPr txBox="1"/>
          <p:nvPr/>
        </p:nvSpPr>
        <p:spPr>
          <a:xfrm>
            <a:off x="8229600" y="2377440"/>
            <a:ext cx="3017520" cy="3474720"/>
          </a:xfrm>
          <a:prstGeom prst="rect">
            <a:avLst/>
          </a:prstGeom>
          <a:noFill/>
        </p:spPr>
        <p:txBody>
          <a:bodyPr wrap="square">
            <a:spAutoFit/>
          </a:bodyPr>
          <a:lstStyle/>
          <a:p>
            <a:pPr>
              <a:defRPr sz="1100">
                <a:solidFill>
                  <a:srgbClr val="5A5A55"/>
                </a:solidFill>
                <a:latin typeface="Segoe UI"/>
              </a:defRPr>
            </a:pPr>
            <a:r>
              <a:t>Introdujimos la columna `cuenta_version INTEGER` en `mesas`, `pedidos` y `pagos`:</a:t>
            </a:r>
            <a:br/>
            <a:br/>
            <a:r>
              <a:t>• Mientras la mesa está abierta, todos los comensales aportan a `cuenta_version = N`.</a:t>
            </a:r>
            <a:br/>
            <a:r>
              <a:t>• Al solicitar la cuenta y cerrar la mesa, el sistema incrementa `cuenta_version = N + 1`.</a:t>
            </a:r>
            <a:br/>
            <a:r>
              <a:t>• Los pedidos anteriores quedan cerrados e históricos; los nuevos comensales empiezan una cuenta en blanco con el mismo QR.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14. ARQUITECTURA DE ARCHIVOS</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Desafío Técnico 2: Fotos de la Carta (¿BD o Cloud?)</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Estimación de impacto del almacenamiento multimedia y decisión de arquitectura</a:t>
            </a:r>
          </a:p>
        </p:txBody>
      </p:sp>
      <p:sp>
        <p:nvSpPr>
          <p:cNvPr id="5" name="Rounded Rectangle 4"/>
          <p:cNvSpPr/>
          <p:nvPr/>
        </p:nvSpPr>
        <p:spPr>
          <a:xfrm>
            <a:off x="731520" y="1645920"/>
            <a:ext cx="512064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572000" cy="3931920"/>
          </a:xfrm>
          <a:prstGeom prst="rect">
            <a:avLst/>
          </a:prstGeom>
          <a:noFill/>
        </p:spPr>
        <p:txBody>
          <a:bodyPr wrap="square">
            <a:spAutoFit/>
          </a:bodyPr>
          <a:lstStyle/>
          <a:p>
            <a:pPr>
              <a:defRPr sz="1200" b="1">
                <a:solidFill>
                  <a:srgbClr val="1A1A18"/>
                </a:solidFill>
                <a:latin typeface="Segoe UI"/>
              </a:defRPr>
            </a:pPr>
            <a:r>
              <a:t>Estimación para 50 locales (carta de 100 platos c/u):</a:t>
            </a:r>
          </a:p>
          <a:p>
            <a:pPr>
              <a:defRPr sz="1100">
                <a:solidFill>
                  <a:srgbClr val="5A5A55"/>
                </a:solidFill>
                <a:latin typeface="Segoe UI"/>
              </a:defRPr>
            </a:pPr>
            <a:r>
              <a:t>• 5.000 imágenes de platos en alta resolución (promedio ~2.5 MB c/u).</a:t>
            </a:r>
            <a:br/>
            <a:r>
              <a:t>• Volumen total multimedia: ≈ 12.5 Gigabytes de imágenes.</a:t>
            </a:r>
          </a:p>
          <a:p>
            <a:br/>
            <a:pPr>
              <a:defRPr sz="1100" b="1">
                <a:solidFill>
                  <a:srgbClr val="DC2626"/>
                </a:solidFill>
                <a:latin typeface="Segoe UI"/>
              </a:defRPr>
            </a:pPr>
            <a:r>
              <a:t>Opción A: Guardar binario en PostgreSQL (BYTEA)</a:t>
            </a:r>
          </a:p>
          <a:p>
            <a:pPr>
              <a:defRPr sz="1000">
                <a:solidFill>
                  <a:srgbClr val="5A5A55"/>
                </a:solidFill>
                <a:latin typeface="Segoe UI"/>
              </a:defRPr>
            </a:pPr>
            <a:r>
              <a:t>✘ La base pesa 12.5 GB en disco.</a:t>
            </a:r>
            <a:br/>
            <a:r>
              <a:t>✘ Los backups tardan horas y saturan la RAM del servidor Go en cada consulta.</a:t>
            </a:r>
            <a:br/>
            <a:r>
              <a:t>✘ Cada SELECT a la carta transfiere megabytes innecesarios.</a:t>
            </a:r>
          </a:p>
          <a:p>
            <a:br/>
            <a:pPr>
              <a:defRPr sz="1100" b="1">
                <a:solidFill>
                  <a:srgbClr val="16A34A"/>
                </a:solidFill>
                <a:latin typeface="Segoe UI"/>
              </a:defRPr>
            </a:pPr>
            <a:r>
              <a:t>Opción B: Guardar solo URL en PostgreSQL (ELEGIDA)</a:t>
            </a:r>
          </a:p>
          <a:p>
            <a:pPr>
              <a:defRPr sz="1000">
                <a:solidFill>
                  <a:srgbClr val="5A5A55"/>
                </a:solidFill>
                <a:latin typeface="Segoe UI"/>
              </a:defRPr>
            </a:pPr>
            <a:r>
              <a:t>✔ La base pesa menos de 2 MB (5.000 filas × ~200 bytes de texto).</a:t>
            </a:r>
            <a:br/>
            <a:r>
              <a:t>✔ Backups instantáneos, consultas ultra rápidas.</a:t>
            </a:r>
            <a:br/>
            <a:r>
              <a:t>✔ Imágenes servidas a comensales por CDN optimizado para móviles.</a:t>
            </a:r>
          </a:p>
        </p:txBody>
      </p:sp>
      <p:sp>
        <p:nvSpPr>
          <p:cNvPr id="7" name="Rounded Rectangle 6"/>
          <p:cNvSpPr/>
          <p:nvPr/>
        </p:nvSpPr>
        <p:spPr>
          <a:xfrm>
            <a:off x="6309360" y="1645920"/>
            <a:ext cx="512064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3931920"/>
          </a:xfrm>
          <a:prstGeom prst="rect">
            <a:avLst/>
          </a:prstGeom>
          <a:noFill/>
        </p:spPr>
        <p:txBody>
          <a:bodyPr wrap="square">
            <a:spAutoFit/>
          </a:bodyPr>
          <a:lstStyle/>
          <a:p>
            <a:pPr>
              <a:defRPr sz="1300" b="1">
                <a:solidFill>
                  <a:srgbClr val="E25B1A"/>
                </a:solidFill>
                <a:latin typeface="Segoe UI"/>
              </a:defRPr>
            </a:pPr>
            <a:r>
              <a:t>Flujo de Carga y Visualización:</a:t>
            </a:r>
          </a:p>
          <a:p>
            <a:r>
              <a:rPr b="1" sz="1100">
                <a:solidFill>
                  <a:srgbClr val="1A1A18"/>
                </a:solidFill>
              </a:rPr>
              <a:t>
1. Carga desde el Admin (Next.js)
</a:t>
            </a:r>
            <a:r>
              <a:rPr sz="1000">
                <a:solidFill>
                  <a:srgbClr val="5A5A55"/>
                </a:solidFill>
              </a:rPr>
              <a:t>El encargado sube la foto del plato desde el dashboard web.</a:t>
            </a:r>
          </a:p>
          <a:p>
            <a:r>
              <a:rPr b="1" sz="1100">
                <a:solidFill>
                  <a:srgbClr val="1A1A18"/>
                </a:solidFill>
              </a:rPr>
              <a:t>
2. Almacenamiento en Nube / CDN
</a:t>
            </a:r>
            <a:r>
              <a:rPr sz="1000">
                <a:solidFill>
                  <a:srgbClr val="5A5A55"/>
                </a:solidFill>
              </a:rPr>
              <a:t>La imagen se procesa, optimiza y aloja en almacenamiento de objetos (Cloudinary / S3 / R2).</a:t>
            </a:r>
          </a:p>
          <a:p>
            <a:r>
              <a:rPr b="1" sz="1100">
                <a:solidFill>
                  <a:srgbClr val="1A1A18"/>
                </a:solidFill>
              </a:rPr>
              <a:t>
3. Persistencia en PostgreSQL
</a:t>
            </a:r>
            <a:r>
              <a:rPr sz="1000">
                <a:solidFill>
                  <a:srgbClr val="5A5A55"/>
                </a:solidFill>
              </a:rPr>
              <a:t>En la tabla `articulos`, solo se guarda el string en la columna `foto_url TEXT`.</a:t>
            </a:r>
          </a:p>
          <a:p>
            <a:r>
              <a:rPr b="1" sz="1100">
                <a:solidFill>
                  <a:srgbClr val="1A1A18"/>
                </a:solidFill>
              </a:rPr>
              <a:t>
4. Consumo Mobile Comensal
</a:t>
            </a:r>
            <a:r>
              <a:rPr sz="1000">
                <a:solidFill>
                  <a:srgbClr val="5A5A55"/>
                </a:solidFill>
              </a:rPr>
              <a:t>El celular del cliente descarga la imagen directamente desde el CDN perimetral, sin sobrecargar la API en Go ni la base de datos.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15. PRAGMATISMO DE DISEÑO</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Enfoque Híbrido: ¿Cuándo usar Tablas y cuándo JSONB?</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La ventaja clave de PostgreSQL: no tener que elegir ciegamente entre SQL y NoSQL</a:t>
            </a:r>
          </a:p>
        </p:txBody>
      </p:sp>
      <p:sp>
        <p:nvSpPr>
          <p:cNvPr id="5" name="Rounded Rectangle 4"/>
          <p:cNvSpPr/>
          <p:nvPr/>
        </p:nvSpPr>
        <p:spPr>
          <a:xfrm>
            <a:off x="7315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54864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200" b="1">
                <a:solidFill>
                  <a:srgbClr val="FFFFFF"/>
                </a:solidFill>
                <a:latin typeface="Segoe UI"/>
              </a:defRPr>
            </a:pPr>
            <a:r>
              <a:t>Tablas Normalizadas (SQL Puro)</a:t>
            </a:r>
          </a:p>
        </p:txBody>
      </p:sp>
      <p:sp>
        <p:nvSpPr>
          <p:cNvPr id="7" name="TextBox 6"/>
          <p:cNvSpPr txBox="1"/>
          <p:nvPr/>
        </p:nvSpPr>
        <p:spPr>
          <a:xfrm>
            <a:off x="914400" y="2331720"/>
            <a:ext cx="3017520" cy="3474720"/>
          </a:xfrm>
          <a:prstGeom prst="rect">
            <a:avLst/>
          </a:prstGeom>
          <a:noFill/>
        </p:spPr>
        <p:txBody>
          <a:bodyPr wrap="square">
            <a:spAutoFit/>
          </a:bodyPr>
          <a:lstStyle/>
          <a:p>
            <a:pPr>
              <a:defRPr sz="1000" i="1">
                <a:solidFill>
                  <a:srgbClr val="8A8A84"/>
                </a:solidFill>
                <a:latin typeface="Segoe UI"/>
              </a:defRPr>
            </a:pPr>
            <a:r>
              <a:t>Para entidades core y datos transaccionales</a:t>
            </a:r>
            <a:br/>
          </a:p>
          <a:p>
            <a:pPr>
              <a:defRPr sz="950">
                <a:solidFill>
                  <a:srgbClr val="5A5A55"/>
                </a:solidFill>
                <a:latin typeface="Segoe UI"/>
              </a:defRPr>
            </a:pPr>
            <a:r>
              <a:t>• `pedidos` y `pedido_items`</a:t>
            </a:r>
          </a:p>
          <a:p>
            <a:pPr>
              <a:defRPr sz="950">
                <a:solidFill>
                  <a:srgbClr val="5A5A55"/>
                </a:solidFill>
                <a:latin typeface="Segoe UI"/>
              </a:defRPr>
            </a:pPr>
            <a:r>
              <a:t>• `articulos` y `categorias`</a:t>
            </a:r>
          </a:p>
          <a:p>
            <a:pPr>
              <a:defRPr sz="950">
                <a:solidFill>
                  <a:srgbClr val="5A5A55"/>
                </a:solidFill>
                <a:latin typeface="Segoe UI"/>
              </a:defRPr>
            </a:pPr>
            <a:r>
              <a:t>• `mesas` y `usuarios`</a:t>
            </a:r>
          </a:p>
          <a:p>
            <a:pPr>
              <a:defRPr sz="950">
                <a:solidFill>
                  <a:srgbClr val="5A5A55"/>
                </a:solidFill>
                <a:latin typeface="Segoe UI"/>
              </a:defRPr>
            </a:pPr>
          </a:p>
          <a:p>
            <a:pPr>
              <a:defRPr sz="950">
                <a:solidFill>
                  <a:srgbClr val="1A1A18"/>
                </a:solidFill>
                <a:latin typeface="Segoe UI"/>
              </a:defRPr>
            </a:pPr>
            <a:r>
              <a:t>¿Por qué SQL puro?</a:t>
            </a:r>
          </a:p>
          <a:p>
            <a:pPr>
              <a:defRPr sz="950">
                <a:solidFill>
                  <a:srgbClr val="1A1A18"/>
                </a:solidFill>
                <a:latin typeface="Segoe UI"/>
              </a:defRPr>
            </a:pPr>
            <a:r>
              <a:t>Requieren unicidad, integridad referencial (FK), agregaciones matemáticas (`SUM`, `COUNT`) y control de concurrencia ACID.</a:t>
            </a:r>
          </a:p>
        </p:txBody>
      </p:sp>
      <p:sp>
        <p:nvSpPr>
          <p:cNvPr id="8" name="Rounded Rectangle 7"/>
          <p:cNvSpPr/>
          <p:nvPr/>
        </p:nvSpPr>
        <p:spPr>
          <a:xfrm>
            <a:off x="43891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54864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200" b="1">
                <a:solidFill>
                  <a:srgbClr val="FFFFFF"/>
                </a:solidFill>
                <a:latin typeface="Segoe UI"/>
              </a:defRPr>
            </a:pPr>
            <a:r>
              <a:t>Columnas Semiestructuradas (JSONB)</a:t>
            </a:r>
          </a:p>
        </p:txBody>
      </p:sp>
      <p:sp>
        <p:nvSpPr>
          <p:cNvPr id="10" name="TextBox 9"/>
          <p:cNvSpPr txBox="1"/>
          <p:nvPr/>
        </p:nvSpPr>
        <p:spPr>
          <a:xfrm>
            <a:off x="4572000" y="2331720"/>
            <a:ext cx="3017520" cy="3474720"/>
          </a:xfrm>
          <a:prstGeom prst="rect">
            <a:avLst/>
          </a:prstGeom>
          <a:noFill/>
        </p:spPr>
        <p:txBody>
          <a:bodyPr wrap="square">
            <a:spAutoFit/>
          </a:bodyPr>
          <a:lstStyle/>
          <a:p>
            <a:pPr>
              <a:defRPr sz="1000" i="1">
                <a:solidFill>
                  <a:srgbClr val="8A8A84"/>
                </a:solidFill>
                <a:latin typeface="Segoe UI"/>
              </a:defRPr>
            </a:pPr>
            <a:r>
              <a:t>Para datos variables o integración con terceros</a:t>
            </a:r>
            <a:br/>
          </a:p>
          <a:p>
            <a:pPr>
              <a:defRPr sz="950">
                <a:solidFill>
                  <a:srgbClr val="5A5A55"/>
                </a:solidFill>
                <a:latin typeface="Segoe UI"/>
              </a:defRPr>
            </a:pPr>
            <a:r>
              <a:t>• `sucursales.horarios`:</a:t>
            </a:r>
          </a:p>
          <a:p>
            <a:pPr>
              <a:defRPr sz="950">
                <a:solidFill>
                  <a:srgbClr val="1A1A18"/>
                </a:solidFill>
                <a:latin typeface="Segoe UI"/>
              </a:defRPr>
            </a:pPr>
            <a:r>
              <a:t>  `{ lunes: '09:00-23:00', ... }` (flexibilidad sin tablas intermedias de turnos).</a:t>
            </a:r>
          </a:p>
          <a:p>
            <a:pPr>
              <a:defRPr sz="950">
                <a:solidFill>
                  <a:srgbClr val="5A5A55"/>
                </a:solidFill>
                <a:latin typeface="Segoe UI"/>
              </a:defRPr>
            </a:pPr>
            <a:r>
              <a:t>• `tenants.redes_sociales`:</a:t>
            </a:r>
          </a:p>
          <a:p>
            <a:pPr>
              <a:defRPr sz="950">
                <a:solidFill>
                  <a:srgbClr val="1A1A18"/>
                </a:solidFill>
                <a:latin typeface="Segoe UI"/>
              </a:defRPr>
            </a:pPr>
            <a:r>
              <a:t>  `{ ig: '@bar', web: '...' }`.</a:t>
            </a:r>
          </a:p>
          <a:p>
            <a:pPr>
              <a:defRPr sz="950">
                <a:solidFill>
                  <a:srgbClr val="5A5A55"/>
                </a:solidFill>
                <a:latin typeface="Segoe UI"/>
              </a:defRPr>
            </a:pPr>
            <a:r>
              <a:t>• `pagos.detalles`:</a:t>
            </a:r>
          </a:p>
          <a:p>
            <a:pPr>
              <a:defRPr sz="950">
                <a:solidFill>
                  <a:srgbClr val="1A1A18"/>
                </a:solidFill>
                <a:latin typeface="Segoe UI"/>
              </a:defRPr>
            </a:pPr>
            <a:r>
              <a:t>  Payload crudo de respuesta de Mercado Pago para auditoría técnica.</a:t>
            </a:r>
          </a:p>
        </p:txBody>
      </p:sp>
      <p:sp>
        <p:nvSpPr>
          <p:cNvPr id="11" name="Rounded Rectangle 10"/>
          <p:cNvSpPr/>
          <p:nvPr/>
        </p:nvSpPr>
        <p:spPr>
          <a:xfrm>
            <a:off x="80467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200" b="1">
                <a:solidFill>
                  <a:srgbClr val="FFFFFF"/>
                </a:solidFill>
                <a:latin typeface="Segoe UI"/>
              </a:defRPr>
            </a:pPr>
            <a:r>
              <a:t>Lo mejor de dos mundos</a:t>
            </a:r>
          </a:p>
        </p:txBody>
      </p:sp>
      <p:sp>
        <p:nvSpPr>
          <p:cNvPr id="13" name="TextBox 12"/>
          <p:cNvSpPr txBox="1"/>
          <p:nvPr/>
        </p:nvSpPr>
        <p:spPr>
          <a:xfrm>
            <a:off x="8229600" y="2331720"/>
            <a:ext cx="3017520" cy="3474720"/>
          </a:xfrm>
          <a:prstGeom prst="rect">
            <a:avLst/>
          </a:prstGeom>
          <a:noFill/>
        </p:spPr>
        <p:txBody>
          <a:bodyPr wrap="square">
            <a:spAutoFit/>
          </a:bodyPr>
          <a:lstStyle/>
          <a:p>
            <a:pPr>
              <a:defRPr sz="1000" i="1">
                <a:solidFill>
                  <a:srgbClr val="8A8A84"/>
                </a:solidFill>
                <a:latin typeface="Segoe UI"/>
              </a:defRPr>
            </a:pPr>
            <a:r>
              <a:t>Elimina la necesidad de MongoDB</a:t>
            </a:r>
            <a:br/>
          </a:p>
          <a:p>
            <a:pPr>
              <a:defRPr sz="950">
                <a:solidFill>
                  <a:srgbClr val="5A5A55"/>
                </a:solidFill>
                <a:latin typeface="Segoe UI"/>
              </a:defRPr>
            </a:pPr>
            <a:r>
              <a:t>• PostgreSQL almacena JSONB en formato binario descompuesto.</a:t>
            </a:r>
          </a:p>
          <a:p>
            <a:pPr>
              <a:defRPr sz="950">
                <a:solidFill>
                  <a:srgbClr val="5A5A55"/>
                </a:solidFill>
                <a:latin typeface="Segoe UI"/>
              </a:defRPr>
            </a:pPr>
            <a:r>
              <a:t>• Permite indexar claves internas de JSON mediante índices GIN.</a:t>
            </a:r>
          </a:p>
          <a:p>
            <a:pPr>
              <a:defRPr sz="950">
                <a:solidFill>
                  <a:srgbClr val="5A5A55"/>
                </a:solidFill>
                <a:latin typeface="Segoe UI"/>
              </a:defRPr>
            </a:pPr>
            <a:r>
              <a:t>• Permite hacer consultas que cruzan tablas SQL tradicionales con filtros sobre campos dentro del JSON.</a:t>
            </a:r>
          </a:p>
          <a:p>
            <a:pPr>
              <a:defRPr sz="950">
                <a:solidFill>
                  <a:srgbClr val="5A5A55"/>
                </a:solidFill>
                <a:latin typeface="Segoe UI"/>
              </a:defRPr>
            </a:pPr>
            <a:r>
              <a:t>• Evita la complejidad de mantener dos motores de BD distintos.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16. DEVOPS Y EVOLUCIÓN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Estrategia de Migraciones y Despliegue</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Cómo evoluciona el esquema de forma segura y determinista en cada despliegue a producción</a:t>
            </a:r>
          </a:p>
        </p:txBody>
      </p:sp>
      <p:sp>
        <p:nvSpPr>
          <p:cNvPr id="5" name="Rounded Rectangle 4"/>
          <p:cNvSpPr/>
          <p:nvPr/>
        </p:nvSpPr>
        <p:spPr>
          <a:xfrm>
            <a:off x="7315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50292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150" b="1">
                <a:solidFill>
                  <a:srgbClr val="FFFFFF"/>
                </a:solidFill>
                <a:latin typeface="Segoe UI"/>
              </a:defRPr>
            </a:pPr>
            <a:r>
              <a:t>1. Migraciones SQL Puras Versionadas</a:t>
            </a:r>
          </a:p>
        </p:txBody>
      </p:sp>
      <p:sp>
        <p:nvSpPr>
          <p:cNvPr id="7" name="TextBox 6"/>
          <p:cNvSpPr txBox="1"/>
          <p:nvPr/>
        </p:nvSpPr>
        <p:spPr>
          <a:xfrm>
            <a:off x="914400" y="2286000"/>
            <a:ext cx="3017520" cy="3566160"/>
          </a:xfrm>
          <a:prstGeom prst="rect">
            <a:avLst/>
          </a:prstGeom>
          <a:noFill/>
        </p:spPr>
        <p:txBody>
          <a:bodyPr wrap="square">
            <a:spAutoFit/>
          </a:bodyPr>
          <a:lstStyle/>
          <a:p>
            <a:pPr>
              <a:defRPr sz="1050">
                <a:solidFill>
                  <a:srgbClr val="5A5A55"/>
                </a:solidFill>
                <a:latin typeface="Segoe UI"/>
              </a:defRPr>
            </a:pPr>
            <a:r>
              <a:t>En `repos/api/migrations/` residen los archivos numerados secuencialmente:</a:t>
            </a:r>
            <a:br/>
            <a:br/>
            <a:r>
              <a:t>• `001_create_tenants.sql`</a:t>
            </a:r>
            <a:br/>
            <a:r>
              <a:t>• `006_create_mesas.sql`</a:t>
            </a:r>
            <a:br/>
            <a:r>
              <a:t>• `010_create_pedidos.sql`</a:t>
            </a:r>
            <a:br/>
            <a:r>
              <a:t>• `016_add_comensal_pedidos.sql`</a:t>
            </a:r>
            <a:br/>
            <a:r>
              <a:t>• `019_create_pagos.sql` ... hasta `021`.</a:t>
            </a:r>
            <a:br/>
            <a:br/>
            <a:r>
              <a:t>Sin magia de ORMs que generen esquemas impredecibles.</a:t>
            </a:r>
          </a:p>
        </p:txBody>
      </p:sp>
      <p:sp>
        <p:nvSpPr>
          <p:cNvPr id="8" name="Rounded Rectangle 7"/>
          <p:cNvSpPr/>
          <p:nvPr/>
        </p:nvSpPr>
        <p:spPr>
          <a:xfrm>
            <a:off x="43891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5029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150" b="1">
                <a:solidFill>
                  <a:srgbClr val="FFFFFF"/>
                </a:solidFill>
                <a:latin typeface="Segoe UI"/>
              </a:defRPr>
            </a:pPr>
            <a:r>
              <a:t>2. Ejecución Atómica en el Startup</a:t>
            </a:r>
          </a:p>
        </p:txBody>
      </p:sp>
      <p:sp>
        <p:nvSpPr>
          <p:cNvPr id="10" name="TextBox 9"/>
          <p:cNvSpPr txBox="1"/>
          <p:nvPr/>
        </p:nvSpPr>
        <p:spPr>
          <a:xfrm>
            <a:off x="4572000" y="2286000"/>
            <a:ext cx="3017520" cy="3566160"/>
          </a:xfrm>
          <a:prstGeom prst="rect">
            <a:avLst/>
          </a:prstGeom>
          <a:noFill/>
        </p:spPr>
        <p:txBody>
          <a:bodyPr wrap="square">
            <a:spAutoFit/>
          </a:bodyPr>
          <a:lstStyle/>
          <a:p>
            <a:pPr>
              <a:defRPr sz="1050">
                <a:solidFill>
                  <a:srgbClr val="5A5A55"/>
                </a:solidFill>
                <a:latin typeface="Segoe UI"/>
              </a:defRPr>
            </a:pPr>
            <a:r>
              <a:t>El servidor Go corre las migraciones pendientes automáticamente al iniciar:</a:t>
            </a:r>
            <a:br/>
            <a:br/>
            <a:r>
              <a:t>• Se ejecuta dentro de una transacción `BEGIN ... COMMIT`.</a:t>
            </a:r>
            <a:br/>
            <a:r>
              <a:t>• Si una migración falla, el servidor aborta el inicio sin dejar la base en estado corrupto.</a:t>
            </a:r>
            <a:br/>
            <a:r>
              <a:t>• Registro de versiones aplicadas en tabla de control interno.</a:t>
            </a:r>
          </a:p>
        </p:txBody>
      </p:sp>
      <p:sp>
        <p:nvSpPr>
          <p:cNvPr id="11" name="Rounded Rectangle 10"/>
          <p:cNvSpPr/>
          <p:nvPr/>
        </p:nvSpPr>
        <p:spPr>
          <a:xfrm>
            <a:off x="8046720" y="1645920"/>
            <a:ext cx="3383280" cy="438912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502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150" b="1">
                <a:solidFill>
                  <a:srgbClr val="FFFFFF"/>
                </a:solidFill>
                <a:latin typeface="Segoe UI"/>
              </a:defRPr>
            </a:pPr>
            <a:r>
              <a:t>3. Despliegue Continuo en Render</a:t>
            </a:r>
          </a:p>
        </p:txBody>
      </p:sp>
      <p:sp>
        <p:nvSpPr>
          <p:cNvPr id="13" name="TextBox 12"/>
          <p:cNvSpPr txBox="1"/>
          <p:nvPr/>
        </p:nvSpPr>
        <p:spPr>
          <a:xfrm>
            <a:off x="8229600" y="2286000"/>
            <a:ext cx="3017520" cy="3566160"/>
          </a:xfrm>
          <a:prstGeom prst="rect">
            <a:avLst/>
          </a:prstGeom>
          <a:noFill/>
        </p:spPr>
        <p:txBody>
          <a:bodyPr wrap="square">
            <a:spAutoFit/>
          </a:bodyPr>
          <a:lstStyle/>
          <a:p>
            <a:pPr>
              <a:defRPr sz="1050">
                <a:solidFill>
                  <a:srgbClr val="5A5A55"/>
                </a:solidFill>
                <a:latin typeface="Segoe UI"/>
              </a:defRPr>
            </a:pPr>
            <a:r>
              <a:t>Integración completa con el Git Workflow:</a:t>
            </a:r>
            <a:br/>
            <a:br/>
            <a:r>
              <a:t>• Flujo de ramas: `feat/*` -&gt; `qa` -&gt; `main`.</a:t>
            </a:r>
            <a:br/>
            <a:r>
              <a:t>• Al mergear a `main`, el Dockerfile compila el backend en Go.</a:t>
            </a:r>
            <a:br/>
            <a:r>
              <a:t>• El contenedor en Render se conecta a PostgreSQL, aplica nuevas migraciones y levanta el servicio sin tiempo de inactividad.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E25B1A"/>
                </a:solidFill>
                <a:latin typeface="Segoe UI"/>
              </a:defRPr>
            </a:pPr>
            <a:r>
              <a:t>17. ROADMAP DEL ESQUEMA</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400" b="1">
                <a:solidFill>
                  <a:srgbClr val="1A1A18"/>
                </a:solidFill>
                <a:latin typeface="Segoe UI"/>
              </a:defRPr>
            </a:pPr>
            <a:r>
              <a:t>Preparación para el Futuro: Analítica y KDS</a:t>
            </a:r>
          </a:p>
        </p:txBody>
      </p:sp>
      <p:sp>
        <p:nvSpPr>
          <p:cNvPr id="4" name="TextBox 3"/>
          <p:cNvSpPr txBox="1"/>
          <p:nvPr/>
        </p:nvSpPr>
        <p:spPr>
          <a:xfrm>
            <a:off x="731520" y="1161288"/>
            <a:ext cx="10698480" cy="320040"/>
          </a:xfrm>
          <a:prstGeom prst="rect">
            <a:avLst/>
          </a:prstGeom>
          <a:noFill/>
        </p:spPr>
        <p:txBody>
          <a:bodyPr wrap="square" lIns="0" tIns="0" rIns="0" bIns="0">
            <a:spAutoFit/>
          </a:bodyPr>
          <a:lstStyle/>
          <a:p>
            <a:pPr>
              <a:defRPr sz="1300">
                <a:solidFill>
                  <a:srgbClr val="5A5A55"/>
                </a:solidFill>
                <a:latin typeface="Segoe UI"/>
              </a:defRPr>
            </a:pPr>
            <a:r>
              <a:t>Cómo la base de datos actual soporta la evolución de la Fase 4 de Mesa CLICK</a:t>
            </a:r>
          </a:p>
        </p:txBody>
      </p:sp>
      <p:sp>
        <p:nvSpPr>
          <p:cNvPr id="5" name="Rounded Rectangle 4"/>
          <p:cNvSpPr/>
          <p:nvPr/>
        </p:nvSpPr>
        <p:spPr>
          <a:xfrm>
            <a:off x="731520" y="1645920"/>
            <a:ext cx="52120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201168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4754880" cy="1737360"/>
          </a:xfrm>
          <a:prstGeom prst="rect">
            <a:avLst/>
          </a:prstGeom>
          <a:noFill/>
        </p:spPr>
        <p:txBody>
          <a:bodyPr wrap="square">
            <a:spAutoFit/>
          </a:bodyPr>
          <a:lstStyle/>
          <a:p>
            <a:pPr>
              <a:defRPr sz="1300" b="1">
                <a:solidFill>
                  <a:srgbClr val="1A1A18"/>
                </a:solidFill>
                <a:latin typeface="Segoe UI"/>
              </a:defRPr>
            </a:pPr>
            <a:r>
              <a:t>Sprint 14: Disponibilidad (86) &amp; Horarios</a:t>
            </a:r>
          </a:p>
          <a:p>
            <a:pPr>
              <a:defRPr sz="1050">
                <a:solidFill>
                  <a:srgbClr val="5A5A55"/>
                </a:solidFill>
                <a:latin typeface="Segoe UI"/>
              </a:defRPr>
            </a:pPr>
            <a:r>
              <a:t>Gestión de ítems no disponibles (`activo = false`) y cartas segmentadas por franja horaria combinando `sucursales.horarios` y estado de apertura.</a:t>
            </a:r>
          </a:p>
        </p:txBody>
      </p:sp>
      <p:sp>
        <p:nvSpPr>
          <p:cNvPr id="8" name="Rounded Rectangle 7"/>
          <p:cNvSpPr/>
          <p:nvPr/>
        </p:nvSpPr>
        <p:spPr>
          <a:xfrm>
            <a:off x="6217920" y="1645920"/>
            <a:ext cx="52120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109728" cy="201168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1737360"/>
          </a:xfrm>
          <a:prstGeom prst="rect">
            <a:avLst/>
          </a:prstGeom>
          <a:noFill/>
        </p:spPr>
        <p:txBody>
          <a:bodyPr wrap="square">
            <a:spAutoFit/>
          </a:bodyPr>
          <a:lstStyle/>
          <a:p>
            <a:pPr>
              <a:defRPr sz="1300" b="1">
                <a:solidFill>
                  <a:srgbClr val="1A1A18"/>
                </a:solidFill>
                <a:latin typeface="Segoe UI"/>
              </a:defRPr>
            </a:pPr>
            <a:r>
              <a:t>Sprint 15: KDS Cocina &amp; Comandas</a:t>
            </a:r>
          </a:p>
          <a:p>
            <a:pPr>
              <a:defRPr sz="1050">
                <a:solidFill>
                  <a:srgbClr val="5A5A55"/>
                </a:solidFill>
                <a:latin typeface="Segoe UI"/>
              </a:defRPr>
            </a:pPr>
            <a:r>
              <a:t>Pantalla de cocina interactiva en tiempo real; los cambios de estado por ítem y mesa se despachan vía SSE sincronizados con PostgreSQL.</a:t>
            </a:r>
          </a:p>
        </p:txBody>
      </p:sp>
      <p:sp>
        <p:nvSpPr>
          <p:cNvPr id="11" name="Rounded Rectangle 10"/>
          <p:cNvSpPr/>
          <p:nvPr/>
        </p:nvSpPr>
        <p:spPr>
          <a:xfrm>
            <a:off x="731520" y="3840480"/>
            <a:ext cx="52120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840480"/>
            <a:ext cx="109728" cy="201168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977640"/>
            <a:ext cx="4754880" cy="1737360"/>
          </a:xfrm>
          <a:prstGeom prst="rect">
            <a:avLst/>
          </a:prstGeom>
          <a:noFill/>
        </p:spPr>
        <p:txBody>
          <a:bodyPr wrap="square">
            <a:spAutoFit/>
          </a:bodyPr>
          <a:lstStyle/>
          <a:p>
            <a:pPr>
              <a:defRPr sz="1300" b="1">
                <a:solidFill>
                  <a:srgbClr val="1A1A18"/>
                </a:solidFill>
                <a:latin typeface="Segoe UI"/>
              </a:defRPr>
            </a:pPr>
            <a:r>
              <a:t>Sprint 16: Modelo Freemium (Free vs Pro)</a:t>
            </a:r>
          </a:p>
          <a:p>
            <a:pPr>
              <a:defRPr sz="1050">
                <a:solidFill>
                  <a:srgbClr val="5A5A55"/>
                </a:solidFill>
                <a:latin typeface="Segoe UI"/>
              </a:defRPr>
            </a:pPr>
            <a:r>
              <a:t>Validación de cuotas de suscripción en middleware (límite de mesas, sucursales y artículos) mediante conteos SQL instantáneos.</a:t>
            </a:r>
          </a:p>
        </p:txBody>
      </p:sp>
      <p:sp>
        <p:nvSpPr>
          <p:cNvPr id="14" name="Rounded Rectangle 13"/>
          <p:cNvSpPr/>
          <p:nvPr/>
        </p:nvSpPr>
        <p:spPr>
          <a:xfrm>
            <a:off x="6217920" y="3840480"/>
            <a:ext cx="5212080" cy="2011680"/>
          </a:xfrm>
          <a:prstGeom prst="roundRect">
            <a:avLst/>
          </a:prstGeom>
          <a:solidFill>
            <a:srgbClr val="FFFFFF"/>
          </a:solidFill>
          <a:ln w="12700">
            <a:solidFill>
              <a:srgbClr val="DDD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840480"/>
            <a:ext cx="109728" cy="2011680"/>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977640"/>
            <a:ext cx="4754880" cy="1737360"/>
          </a:xfrm>
          <a:prstGeom prst="rect">
            <a:avLst/>
          </a:prstGeom>
          <a:noFill/>
        </p:spPr>
        <p:txBody>
          <a:bodyPr wrap="square">
            <a:spAutoFit/>
          </a:bodyPr>
          <a:lstStyle/>
          <a:p>
            <a:pPr>
              <a:defRPr sz="1300" b="1">
                <a:solidFill>
                  <a:srgbClr val="1A1A18"/>
                </a:solidFill>
                <a:latin typeface="Segoe UI"/>
              </a:defRPr>
            </a:pPr>
            <a:r>
              <a:t>Sprint 17-18: Dashboard de Métricas y Analítica</a:t>
            </a:r>
          </a:p>
          <a:p>
            <a:pPr>
              <a:defRPr sz="1050">
                <a:solidFill>
                  <a:srgbClr val="5A5A55"/>
                </a:solidFill>
                <a:latin typeface="Segoe UI"/>
              </a:defRPr>
            </a:pPr>
            <a:r>
              <a:t>Consultas analíticas optimizadas (facturación, ticket promedio, horas pico, platos más vendidos) aprovechando índices compuestos en PostgreSQL.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8"/>
        </a:solidFill>
        <a:effectLst/>
      </p:bgPr>
    </p:bg>
    <p:spTree>
      <p:nvGrpSpPr>
        <p:cNvPr id="1" name=""/>
        <p:cNvGrpSpPr/>
        <p:nvPr/>
      </p:nvGrpSpPr>
      <p:grpSpPr/>
      <p:sp>
        <p:nvSpPr>
          <p:cNvPr id="2" name="Rectangle 1"/>
          <p:cNvSpPr/>
          <p:nvPr/>
        </p:nvSpPr>
        <p:spPr>
          <a:xfrm>
            <a:off x="731520" y="914400"/>
            <a:ext cx="1371600" cy="73152"/>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10515600" cy="1097280"/>
          </a:xfrm>
          <a:prstGeom prst="rect">
            <a:avLst/>
          </a:prstGeom>
          <a:noFill/>
        </p:spPr>
        <p:txBody>
          <a:bodyPr wrap="none">
            <a:spAutoFit/>
          </a:bodyPr>
          <a:lstStyle/>
          <a:p>
            <a:pPr>
              <a:defRPr sz="3200" b="1">
                <a:solidFill>
                  <a:srgbClr val="FFFFFF"/>
                </a:solidFill>
                <a:latin typeface="Segoe UI"/>
              </a:defRPr>
            </a:pPr>
            <a:r>
              <a:t>Conclusiones del Análisis de Base de Datos</a:t>
            </a:r>
          </a:p>
        </p:txBody>
      </p:sp>
      <p:sp>
        <p:nvSpPr>
          <p:cNvPr id="4" name="Rounded Rectangle 3"/>
          <p:cNvSpPr/>
          <p:nvPr/>
        </p:nvSpPr>
        <p:spPr>
          <a:xfrm>
            <a:off x="731520" y="2377440"/>
            <a:ext cx="3383280" cy="3291840"/>
          </a:xfrm>
          <a:prstGeom prst="roundRect">
            <a:avLst/>
          </a:prstGeom>
          <a:solidFill>
            <a:srgbClr val="252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377440"/>
            <a:ext cx="3383280" cy="73152"/>
          </a:xfrm>
          <a:prstGeom prst="rect">
            <a:avLst/>
          </a:prstGeom>
          <a:solidFill>
            <a:srgbClr val="E25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60320"/>
            <a:ext cx="3017520" cy="2926080"/>
          </a:xfrm>
          <a:prstGeom prst="rect">
            <a:avLst/>
          </a:prstGeom>
          <a:noFill/>
        </p:spPr>
        <p:txBody>
          <a:bodyPr wrap="square">
            <a:spAutoFit/>
          </a:bodyPr>
          <a:lstStyle/>
          <a:p>
            <a:pPr>
              <a:defRPr sz="950" b="1">
                <a:solidFill>
                  <a:srgbClr val="E25B1A"/>
                </a:solidFill>
                <a:latin typeface="Segoe UI"/>
              </a:defRPr>
            </a:pPr>
            <a:r>
              <a:t>BASE DE DATOS</a:t>
            </a:r>
          </a:p>
          <a:p>
            <a:pPr>
              <a:defRPr sz="1300" b="1">
                <a:solidFill>
                  <a:srgbClr val="FFFFFF"/>
                </a:solidFill>
                <a:latin typeface="Segoe UI"/>
              </a:defRPr>
            </a:pPr>
            <a:r>
              <a:t>SQL Relacional: PostgreSQL</a:t>
            </a:r>
          </a:p>
          <a:p>
            <a:pPr>
              <a:defRPr sz="1000">
                <a:solidFill>
                  <a:srgbClr val="BABAB4"/>
                </a:solidFill>
                <a:latin typeface="Segoe UI"/>
              </a:defRPr>
            </a:pPr>
            <a:r>
              <a:t>Nuestros datos son intrínsecamente relacionales y de estricta consistencia. Descartar MongoDB evitó inconsistencias contables y 'lost updates' en mesas concurrentes. PostgreSQL garantiza ACID, transacciones robustas y soporte JSONB de primera clase.</a:t>
            </a:r>
          </a:p>
        </p:txBody>
      </p:sp>
      <p:sp>
        <p:nvSpPr>
          <p:cNvPr id="7" name="Rounded Rectangle 6"/>
          <p:cNvSpPr/>
          <p:nvPr/>
        </p:nvSpPr>
        <p:spPr>
          <a:xfrm>
            <a:off x="4389120" y="2377440"/>
            <a:ext cx="3383280" cy="3291840"/>
          </a:xfrm>
          <a:prstGeom prst="roundRect">
            <a:avLst/>
          </a:prstGeom>
          <a:solidFill>
            <a:srgbClr val="252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2377440"/>
            <a:ext cx="3383280" cy="7315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560320"/>
            <a:ext cx="3017520" cy="2926080"/>
          </a:xfrm>
          <a:prstGeom prst="rect">
            <a:avLst/>
          </a:prstGeom>
          <a:noFill/>
        </p:spPr>
        <p:txBody>
          <a:bodyPr wrap="square">
            <a:spAutoFit/>
          </a:bodyPr>
          <a:lstStyle/>
          <a:p>
            <a:pPr>
              <a:defRPr sz="950" b="1">
                <a:solidFill>
                  <a:srgbClr val="185FA5"/>
                </a:solidFill>
                <a:latin typeface="Segoe UI"/>
              </a:defRPr>
            </a:pPr>
            <a:r>
              <a:t>MULTIMEDIA</a:t>
            </a:r>
          </a:p>
          <a:p>
            <a:pPr>
              <a:defRPr sz="1300" b="1">
                <a:solidFill>
                  <a:srgbClr val="FFFFFF"/>
                </a:solidFill>
                <a:latin typeface="Segoe UI"/>
              </a:defRPr>
            </a:pPr>
            <a:r>
              <a:t>Archivos en la Nube + CDN</a:t>
            </a:r>
          </a:p>
          <a:p>
            <a:pPr>
              <a:defRPr sz="1000">
                <a:solidFill>
                  <a:srgbClr val="BABAB4"/>
                </a:solidFill>
                <a:latin typeface="Segoe UI"/>
              </a:defRPr>
            </a:pPr>
            <a:r>
              <a:t>Las imágenes de los platos nunca se guardan como binarios en la BD. Se alojan en almacenamiento de objetos en la nube y se sirven por CDN, manteniendo la base de datos ultra liviana (&lt; 2 MB) con backups instantáneos.</a:t>
            </a:r>
          </a:p>
        </p:txBody>
      </p:sp>
      <p:sp>
        <p:nvSpPr>
          <p:cNvPr id="10" name="Rounded Rectangle 9"/>
          <p:cNvSpPr/>
          <p:nvPr/>
        </p:nvSpPr>
        <p:spPr>
          <a:xfrm>
            <a:off x="8046720" y="2377440"/>
            <a:ext cx="3383280" cy="3291840"/>
          </a:xfrm>
          <a:prstGeom prst="roundRect">
            <a:avLst/>
          </a:prstGeom>
          <a:solidFill>
            <a:srgbClr val="252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2377440"/>
            <a:ext cx="3383280"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560320"/>
            <a:ext cx="3017520" cy="2926080"/>
          </a:xfrm>
          <a:prstGeom prst="rect">
            <a:avLst/>
          </a:prstGeom>
          <a:noFill/>
        </p:spPr>
        <p:txBody>
          <a:bodyPr wrap="square">
            <a:spAutoFit/>
          </a:bodyPr>
          <a:lstStyle/>
          <a:p>
            <a:pPr>
              <a:defRPr sz="950" b="1">
                <a:solidFill>
                  <a:srgbClr val="16A34A"/>
                </a:solidFill>
                <a:latin typeface="Segoe UI"/>
              </a:defRPr>
            </a:pPr>
            <a:r>
              <a:t>ARQUITECTURA</a:t>
            </a:r>
          </a:p>
          <a:p>
            <a:pPr>
              <a:defRPr sz="1300" b="1">
                <a:solidFill>
                  <a:srgbClr val="FFFFFF"/>
                </a:solidFill>
                <a:latin typeface="Segoe UI"/>
              </a:defRPr>
            </a:pPr>
            <a:r>
              <a:t>Go + Migraciones SQL Puras</a:t>
            </a:r>
          </a:p>
          <a:p>
            <a:pPr>
              <a:defRPr sz="1000">
                <a:solidFill>
                  <a:srgbClr val="BABAB4"/>
                </a:solidFill>
                <a:latin typeface="Segoe UI"/>
              </a:defRPr>
            </a:pPr>
            <a:r>
              <a:t>Cero dependencias opacas. Control total del DDL mediante 21 migraciones versionadas que corren de forma determinista en el startup. El sistema escala eficientemente en producción sobre Render.</a:t>
            </a:r>
          </a:p>
        </p:txBody>
      </p:sp>
      <p:sp>
        <p:nvSpPr>
          <p:cNvPr id="13" name="TextBox 12"/>
          <p:cNvSpPr txBox="1"/>
          <p:nvPr/>
        </p:nvSpPr>
        <p:spPr>
          <a:xfrm>
            <a:off x="731520" y="5852160"/>
            <a:ext cx="10698480" cy="365760"/>
          </a:xfrm>
          <a:prstGeom prst="rect">
            <a:avLst/>
          </a:prstGeom>
          <a:noFill/>
        </p:spPr>
        <p:txBody>
          <a:bodyPr wrap="none">
            <a:spAutoFit/>
          </a:bodyPr>
          <a:lstStyle/>
          <a:p>
            <a:pPr>
              <a:defRPr sz="1000">
                <a:solidFill>
                  <a:srgbClr val="7A7A74"/>
                </a:solidFill>
                <a:latin typeface="Segoe UI"/>
              </a:defRPr>
            </a:pPr>
            <a:r>
              <a:t>Mesa CLICK · Repositorio: github.com/aguirrepablo-iresm/mesa-click · IREMS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