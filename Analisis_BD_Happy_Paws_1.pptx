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Puntajes asignados por el equipo según el estado actual del proyecto (Next.js 16 + Prisma 6.19.3 + MySQL con 13 tablas). Fuente de compatibilidad: documentación de Prisma v6 (prisma.io/docs/orm/v6/overview/databases/mysql), que indica que el conector mysql se usa tanto para MySQL como para MariaDB.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https://www.bytebase.com/blog/mysql-vs-mariadb/ ; https://www.prisma.io/docs/orm/v6/overview/databases/mysql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
- Cloudinary: https://theimagecdn.com/docs/cloudinary-pricing y https://cloudinary.com/pricing/compare-plans
- Cloudflare R2: https://egresscost.com/cloudflare/
- Supabase: https://supabase.com/docs/guides/storage/pricing y https://supabase.com/docs/guides/storage/uploads/file-limits
- AWS S3: https://www.cloudzero.com/blog/s3-pricing/
- Firebase: https://firebase.google.com/docs/storage/faqs-storage-changes-announced-sept-2024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3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9326880" y="548640"/>
            <a:ext cx="2194560" cy="21945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332720" y="3017520"/>
            <a:ext cx="1188720" cy="118872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8778240" y="4206240"/>
            <a:ext cx="822960" cy="8229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1060704"/>
            <a:ext cx="438912" cy="438912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1920240" y="960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PAWS</a:t>
            </a:r>
            <a:endParaRPr lang="en-US" sz="2000" dirty="0"/>
          </a:p>
        </p:txBody>
      </p:sp>
      <p:sp>
        <p:nvSpPr>
          <p:cNvPr id="8" name="Text 2"/>
          <p:cNvSpPr txBox="1"/>
          <p:nvPr/>
        </p:nvSpPr>
        <p:spPr>
          <a:xfrm>
            <a:off x="822960" y="2057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Base de Datos</a:t>
            </a:r>
            <a:endParaRPr lang="en-US" sz="4800" dirty="0"/>
          </a:p>
        </p:txBody>
      </p:sp>
      <p:sp>
        <p:nvSpPr>
          <p:cNvPr id="9" name="Text 3"/>
          <p:cNvSpPr txBox="1"/>
          <p:nvPr/>
        </p:nvSpPr>
        <p:spPr>
          <a:xfrm>
            <a:off x="82296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datos y almacenamiento de fotos y videos en la nube</a:t>
            </a:r>
            <a:endParaRPr lang="en-US" sz="2000" dirty="0"/>
          </a:p>
        </p:txBody>
      </p:sp>
      <p:sp>
        <p:nvSpPr>
          <p:cNvPr id="10" name="Shape 4"/>
          <p:cNvSpPr/>
          <p:nvPr/>
        </p:nvSpPr>
        <p:spPr>
          <a:xfrm>
            <a:off x="822960" y="4069080"/>
            <a:ext cx="5669280" cy="1965960"/>
          </a:xfrm>
          <a:prstGeom prst="roundRect">
            <a:avLst>
              <a:gd name="adj" fmla="val 5581"/>
            </a:avLst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1143000" y="4224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300" dirty="0"/>
          </a:p>
        </p:txBody>
      </p:sp>
      <p:sp>
        <p:nvSpPr>
          <p:cNvPr id="12" name="Text 6"/>
          <p:cNvSpPr txBox="1"/>
          <p:nvPr/>
        </p:nvSpPr>
        <p:spPr>
          <a:xfrm>
            <a:off x="1143000" y="46177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Bosio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Oviedo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Tinunin</a:t>
            </a:r>
            <a:endParaRPr lang="en-US" sz="2000" dirty="0"/>
          </a:p>
        </p:txBody>
      </p:sp>
      <p:sp>
        <p:nvSpPr>
          <p:cNvPr id="13" name="Text 7"/>
          <p:cNvSpPr txBox="1"/>
          <p:nvPr/>
        </p:nvSpPr>
        <p:spPr>
          <a:xfrm>
            <a:off x="6949440" y="48463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en Sistemas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Remedios de Escalada de San Martín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4747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3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datos maneja Happy Paws?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8961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elegir un motor, miramos la forma de nuestros datos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1384280" y="6172200"/>
            <a:ext cx="365760" cy="365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50876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949501"/>
            <a:ext cx="307238" cy="30723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600200" y="1691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y roles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600200" y="2103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de protectora, colaboradores, hogares de tránsito y adoptantes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4343400" y="150876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572000" y="1783080"/>
            <a:ext cx="640080" cy="64008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421" y="1949501"/>
            <a:ext cx="307238" cy="30723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394960" y="1691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Mascotas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5394960" y="2103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cada animal: especie, raza, edad, estado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138160" y="150876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366760" y="1783080"/>
            <a:ext cx="640080" cy="64008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3181" y="1949501"/>
            <a:ext cx="307238" cy="30723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189720" y="1691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de adopción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9189720" y="2103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 un usuario con una mascota y un estado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548640" y="301752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77240" y="3291840"/>
            <a:ext cx="640080" cy="64008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1" y="3458261"/>
            <a:ext cx="307238" cy="30723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600200" y="3200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Libreta de vacunación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1600200" y="3611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Vacunas y fechas por mascota (WSAVA, Ley 22.953)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343400" y="301752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4572000" y="3291840"/>
            <a:ext cx="640080" cy="64008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8421" y="3458261"/>
            <a:ext cx="307238" cy="30723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394960" y="3200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Protectoras</a:t>
            </a:r>
            <a:endParaRPr lang="en-US" sz="1600" dirty="0"/>
          </a:p>
        </p:txBody>
      </p:sp>
      <p:sp>
        <p:nvSpPr>
          <p:cNvPr id="31" name="Text 22"/>
          <p:cNvSpPr txBox="1"/>
          <p:nvPr/>
        </p:nvSpPr>
        <p:spPr>
          <a:xfrm>
            <a:off x="5394960" y="3611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FUPA como protectora piloto; cada una con sus mascotas y miembros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8138160" y="301752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8366760" y="3291840"/>
            <a:ext cx="640080" cy="64008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3181" y="3458261"/>
            <a:ext cx="307238" cy="307238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9189720" y="3200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y videos</a:t>
            </a:r>
            <a:endParaRPr lang="en-US" sz="1600" dirty="0"/>
          </a:p>
        </p:txBody>
      </p:sp>
      <p:sp>
        <p:nvSpPr>
          <p:cNvPr id="36" name="Text 26"/>
          <p:cNvSpPr txBox="1"/>
          <p:nvPr/>
        </p:nvSpPr>
        <p:spPr>
          <a:xfrm>
            <a:off x="9189720" y="3611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pesados asociados a cada mascota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548640" y="4572000"/>
            <a:ext cx="11109960" cy="1417320"/>
          </a:xfrm>
          <a:prstGeom prst="roundRect">
            <a:avLst>
              <a:gd name="adj" fmla="val 7742"/>
            </a:avLst>
          </a:prstGeom>
          <a:solidFill>
            <a:srgbClr val="F5E6D0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38" name="Text 28"/>
          <p:cNvSpPr txBox="1"/>
          <p:nvPr/>
        </p:nvSpPr>
        <p:spPr>
          <a:xfrm>
            <a:off x="822960" y="466344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del relevamiento: </a:t>
            </a:r>
            <a:pPr indent="0" marL="0">
              <a:buNone/>
            </a:pPr>
            <a:r>
              <a:rPr lang="en-US" sz="15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están fuertemente relacionados entre sí (usuario → solicitud → mascota → vacunas → protectora). Además, el proyecto ya usa Next.js 16 + Prisma 6 con 13 tablas en MySQL. Los archivos multimedia son un problema aparte que se analiza más adelante.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4747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3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familias de bases de datos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8961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Relacionales (SQL) frente a NoSQL orientadas a documentos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1384280" y="6172200"/>
            <a:ext cx="365760" cy="365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50876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1985162"/>
            <a:ext cx="373075" cy="37307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828800" y="1783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3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relacionales</a:t>
            </a:r>
            <a:endParaRPr lang="en-US" sz="2200" dirty="0"/>
          </a:p>
        </p:txBody>
      </p:sp>
      <p:sp>
        <p:nvSpPr>
          <p:cNvPr id="11" name="Text 6"/>
          <p:cNvSpPr txBox="1"/>
          <p:nvPr/>
        </p:nvSpPr>
        <p:spPr>
          <a:xfrm>
            <a:off x="182880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MariaDB · PostgreSQL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292608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tablas con filas y columnas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fijo definido de antemano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con claves foráneas y JOIN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ACID: todo o nada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estándar: SQL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6263640" y="150876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583680" y="1783080"/>
            <a:ext cx="777240" cy="777240"/>
          </a:xfrm>
          <a:prstGeom prst="ellipse">
            <a:avLst/>
          </a:prstGeom>
          <a:solidFill>
            <a:srgbClr val="C8956C"/>
          </a:solidFill>
          <a:ln w="12700">
            <a:solidFill>
              <a:srgbClr val="C8956C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762" y="1985162"/>
            <a:ext cx="373075" cy="37307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543800" y="1783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3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NoSQL de documentos</a:t>
            </a:r>
            <a:endParaRPr lang="en-US" sz="2200" dirty="0"/>
          </a:p>
        </p:txBody>
      </p:sp>
      <p:sp>
        <p:nvSpPr>
          <p:cNvPr id="17" name="Text 11"/>
          <p:cNvSpPr txBox="1"/>
          <p:nvPr/>
        </p:nvSpPr>
        <p:spPr>
          <a:xfrm>
            <a:off x="754380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Firestore · CouchDB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6629400" y="292608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como documentos JSON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flexible: cada documento puede variar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anidan datos en lugar de relacionarlos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horizontal con facilidad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propias de cada motor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4747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3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Cuadro comparativo: SQL vs NoSQL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8961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Evaluado según las necesidades concretas de Happy Paws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1384280" y="6172200"/>
            <a:ext cx="365760" cy="36576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4297680"/>
                <a:gridCol w="42976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relacional (MySQL / MariaDB)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NoSQL documentos (MongoDB)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4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de datos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Tablas relacionadas: encaja con usuario–solicitud–mascota–vacuna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Documentos anidados: obliga a duplicar datos o unirlos a mano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Claves foráneas impiden solicitudes huérfanas o vacunas sin mascota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claves foráneas: la integridad queda a cargo del código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Transacciones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 completo (ej.: aprobar adopción y marcar mascota adoptada)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Soporta transacciones, pero con más restricciones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Consultas y reportes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estándar, JOIN y agregaciones simples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Pipelines de agregación propios, más complejos para cruces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Flexibilidad del esquema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Cambios mediante migraciones controladas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flexible, útil para datos sin estructura fija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Compatibilidad con Prisma 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Completa, con migraciones (ya en uso)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Soportado, pero sin migraciones (prisma db push)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Escalabilidad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y réplicas; sobra para varias protectoras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nativa; pensada para volúmenes enormes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Veredicto para Happy Paws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A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Recomendado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84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No conviene como base principal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4747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3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Motores evaluados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8961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de 1 a 5 según criterios del proyecto (5 = mejor)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1384280" y="6172200"/>
            <a:ext cx="365760" cy="36576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2237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05840"/>
                <a:gridCol w="1005840"/>
                <a:gridCol w="1005840"/>
                <a:gridCol w="10058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MariaDB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4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Encaje con datos relacionales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Compatibilidad con Prisma 6 y migraciones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Continuidad con lo ya construido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 accesible y conocido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Curva de aprendizaje del equipo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(sobre 25)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A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A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0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8092440" y="1463040"/>
            <a:ext cx="3566160" cy="45262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9" name="Text 4"/>
          <p:cNvSpPr txBox="1"/>
          <p:nvPr/>
        </p:nvSpPr>
        <p:spPr>
          <a:xfrm>
            <a:off x="8321040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3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del resultado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8321040" y="219456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y MariaDB</a:t>
            </a:r>
            <a:pPr indent="0" marL="0">
              <a:buNone/>
            </a:pPr>
            <a:r>
              <a:rPr lang="en-US" sz="16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quedan como finalistas: comparten el proveedor mysql de Prisma, así que el esquema actual funciona en ambos.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pPr indent="0" marL="0">
              <a:buNone/>
            </a:pPr>
            <a:r>
              <a:rPr lang="en-US" sz="16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técnicamente muy bueno, pero implica rehacer migraciones sin necesidad hoy.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A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pPr indent="0" marL="0">
              <a:buNone/>
            </a:pPr>
            <a:r>
              <a:rPr lang="en-US" sz="16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se ajusta a datos tan relacionados.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4747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3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Finalistas: MySQL vs MariaDB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8961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Nacieron del mismo código en 2009; hoy tienen diferencias concretas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1384280" y="6172200"/>
            <a:ext cx="365760" cy="36576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06240"/>
                <a:gridCol w="4251960"/>
              </a:tblGrid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MariaDB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4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Dueño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MariaDB plc (fondo K1) y Fundación MariaDB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Doble: GPL v2 + comercial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GPL v2, 100 % código abierto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 LTS vigente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 LTS y 9.7 LTS (8.0 terminó soporte en abril 2026)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 LTS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Nativo binario, indexable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Alias de LONGTEXT (se guarda como texto)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Motores de almacenamiento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InnoDB (único recomendado)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InnoDB, Aria, MyRocks y otros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Funciones extra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Diccionario de datos nativo, InnoDB Cluster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 pool gratis, tablas temporales, búsqueda vectorial, Galera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 gestionado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AWS, Google Cloud, Azure y casi todos los hostings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AWS; Azure lo retiró en 2025; Google Cloud no lo ofrece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Prisma 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 principal (provider mysql)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Mismo provider mysql; Json se trata como texto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548640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Bytebase, «MySQL vs. MariaDB: a Complete Comparison in 2026»; documentación de Prisma ORM v6.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4747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3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 y contras para nuestro proyecto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8961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conviene una u otra?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1384280" y="6172200"/>
            <a:ext cx="365760" cy="365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868680" y="1600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3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868680" y="2286000"/>
            <a:ext cx="329184" cy="329184"/>
          </a:xfrm>
          <a:prstGeom prst="ellipse">
            <a:avLst/>
          </a:prstGeom>
          <a:solidFill>
            <a:srgbClr val="5A8A5A"/>
          </a:solidFill>
          <a:ln w="12700">
            <a:solidFill>
              <a:srgbClr val="5A8A5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268" y="2371588"/>
            <a:ext cx="158008" cy="1580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224028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está instalado y migrado (13 tablas)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868680" y="2798064"/>
            <a:ext cx="329184" cy="329184"/>
          </a:xfrm>
          <a:prstGeom prst="ellipse">
            <a:avLst/>
          </a:prstGeom>
          <a:solidFill>
            <a:srgbClr val="5A8A5A"/>
          </a:solidFill>
          <a:ln w="12700">
            <a:solidFill>
              <a:srgbClr val="5A8A5A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268" y="2883652"/>
            <a:ext cx="158008" cy="1580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71600" y="275234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nativo: útil para datos flexibles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5A8A5A"/>
          </a:solidFill>
          <a:ln w="12700">
            <a:solidFill>
              <a:srgbClr val="5A8A5A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268" y="3395716"/>
            <a:ext cx="158008" cy="15800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71600" y="326440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en cualquier hosting o nube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868680" y="3822192"/>
            <a:ext cx="329184" cy="329184"/>
          </a:xfrm>
          <a:prstGeom prst="ellipse">
            <a:avLst/>
          </a:prstGeom>
          <a:solidFill>
            <a:srgbClr val="5A8A5A"/>
          </a:solidFill>
          <a:ln w="12700">
            <a:solidFill>
              <a:srgbClr val="5A8A5A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268" y="3907780"/>
            <a:ext cx="158008" cy="1580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371600" y="377647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documentación, tutoriales y ejemplos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868680" y="4489704"/>
            <a:ext cx="329184" cy="329184"/>
          </a:xfrm>
          <a:prstGeom prst="ellipse">
            <a:avLst/>
          </a:prstGeom>
          <a:solidFill>
            <a:srgbClr val="A8472F"/>
          </a:solidFill>
          <a:ln w="12700">
            <a:solidFill>
              <a:srgbClr val="A8472F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268" y="4575292"/>
            <a:ext cx="158008" cy="158008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371600" y="439826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de Oracle; algunas funciones solo en la edición comercial</a:t>
            </a:r>
            <a:endParaRPr lang="en-US" sz="1400" dirty="0"/>
          </a:p>
        </p:txBody>
      </p:sp>
      <p:sp>
        <p:nvSpPr>
          <p:cNvPr id="24" name="Shape 15"/>
          <p:cNvSpPr/>
          <p:nvPr/>
        </p:nvSpPr>
        <p:spPr>
          <a:xfrm>
            <a:off x="868680" y="5093208"/>
            <a:ext cx="329184" cy="329184"/>
          </a:xfrm>
          <a:prstGeom prst="ellipse">
            <a:avLst/>
          </a:prstGeom>
          <a:solidFill>
            <a:srgbClr val="A8472F"/>
          </a:solidFill>
          <a:ln w="12700">
            <a:solidFill>
              <a:srgbClr val="A8472F"/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268" y="5178796"/>
            <a:ext cx="158008" cy="158008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1371600" y="5001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motores de almacenamiento</a:t>
            </a:r>
            <a:endParaRPr lang="en-US" sz="1400" dirty="0"/>
          </a:p>
        </p:txBody>
      </p:sp>
      <p:sp>
        <p:nvSpPr>
          <p:cNvPr id="27" name="Shape 17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28" name="Text 18"/>
          <p:cNvSpPr txBox="1"/>
          <p:nvPr/>
        </p:nvSpPr>
        <p:spPr>
          <a:xfrm>
            <a:off x="6583680" y="1600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3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MariaDB</a:t>
            </a:r>
            <a:endParaRPr lang="en-US" sz="2400" dirty="0"/>
          </a:p>
        </p:txBody>
      </p:sp>
      <p:sp>
        <p:nvSpPr>
          <p:cNvPr id="29" name="Shape 19"/>
          <p:cNvSpPr/>
          <p:nvPr/>
        </p:nvSpPr>
        <p:spPr>
          <a:xfrm>
            <a:off x="6583680" y="2286000"/>
            <a:ext cx="329184" cy="329184"/>
          </a:xfrm>
          <a:prstGeom prst="ellipse">
            <a:avLst/>
          </a:prstGeom>
          <a:solidFill>
            <a:srgbClr val="5A8A5A"/>
          </a:solidFill>
          <a:ln w="12700">
            <a:solidFill>
              <a:srgbClr val="5A8A5A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9268" y="2371588"/>
            <a:ext cx="158008" cy="158008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7086600" y="224028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Totalmente libre, sin edición comercial</a:t>
            </a:r>
            <a:endParaRPr lang="en-US" sz="1400" dirty="0"/>
          </a:p>
        </p:txBody>
      </p:sp>
      <p:sp>
        <p:nvSpPr>
          <p:cNvPr id="32" name="Shape 21"/>
          <p:cNvSpPr/>
          <p:nvPr/>
        </p:nvSpPr>
        <p:spPr>
          <a:xfrm>
            <a:off x="6583680" y="2798064"/>
            <a:ext cx="329184" cy="329184"/>
          </a:xfrm>
          <a:prstGeom prst="ellipse">
            <a:avLst/>
          </a:prstGeom>
          <a:solidFill>
            <a:srgbClr val="5A8A5A"/>
          </a:solidFill>
          <a:ln w="12700">
            <a:solidFill>
              <a:srgbClr val="5A8A5A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9268" y="2883652"/>
            <a:ext cx="158008" cy="158008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7086600" y="275234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 rendimiento con muchas conexiones (thread pool)</a:t>
            </a:r>
            <a:endParaRPr lang="en-US" sz="1400" dirty="0"/>
          </a:p>
        </p:txBody>
      </p:sp>
      <p:sp>
        <p:nvSpPr>
          <p:cNvPr id="35" name="Shape 23"/>
          <p:cNvSpPr/>
          <p:nvPr/>
        </p:nvSpPr>
        <p:spPr>
          <a:xfrm>
            <a:off x="6583680" y="3310128"/>
            <a:ext cx="329184" cy="329184"/>
          </a:xfrm>
          <a:prstGeom prst="ellipse">
            <a:avLst/>
          </a:prstGeom>
          <a:solidFill>
            <a:srgbClr val="5A8A5A"/>
          </a:solidFill>
          <a:ln w="12700">
            <a:solidFill>
              <a:srgbClr val="5A8A5A"/>
            </a:solidFill>
            <a:prstDash val="solid"/>
          </a:ln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9268" y="3395716"/>
            <a:ext cx="158008" cy="158008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7086600" y="326440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nuestro esquema Prisma</a:t>
            </a:r>
            <a:endParaRPr lang="en-US" sz="1400" dirty="0"/>
          </a:p>
        </p:txBody>
      </p:sp>
      <p:sp>
        <p:nvSpPr>
          <p:cNvPr id="38" name="Shape 25"/>
          <p:cNvSpPr/>
          <p:nvPr/>
        </p:nvSpPr>
        <p:spPr>
          <a:xfrm>
            <a:off x="6583680" y="3822192"/>
            <a:ext cx="329184" cy="329184"/>
          </a:xfrm>
          <a:prstGeom prst="ellipse">
            <a:avLst/>
          </a:prstGeom>
          <a:solidFill>
            <a:srgbClr val="5A8A5A"/>
          </a:solidFill>
          <a:ln w="12700">
            <a:solidFill>
              <a:srgbClr val="5A8A5A"/>
            </a:solidFill>
            <a:prstDash val="solid"/>
          </a:ln>
        </p:spPr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69268" y="3907780"/>
            <a:ext cx="158008" cy="158008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7086600" y="377647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extra: tablas temporales, vectores</a:t>
            </a:r>
            <a:endParaRPr lang="en-US" sz="1400" dirty="0"/>
          </a:p>
        </p:txBody>
      </p:sp>
      <p:sp>
        <p:nvSpPr>
          <p:cNvPr id="41" name="Shape 27"/>
          <p:cNvSpPr/>
          <p:nvPr/>
        </p:nvSpPr>
        <p:spPr>
          <a:xfrm>
            <a:off x="6583680" y="4489704"/>
            <a:ext cx="329184" cy="329184"/>
          </a:xfrm>
          <a:prstGeom prst="ellipse">
            <a:avLst/>
          </a:prstGeom>
          <a:solidFill>
            <a:srgbClr val="A8472F"/>
          </a:solidFill>
          <a:ln w="12700">
            <a:solidFill>
              <a:srgbClr val="A8472F"/>
            </a:solidFill>
            <a:prstDash val="solid"/>
          </a:ln>
        </p:spPr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69268" y="4575292"/>
            <a:ext cx="158008" cy="158008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7086600" y="439826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guardado como texto, sin tipo nativo</a:t>
            </a:r>
            <a:endParaRPr lang="en-US" sz="1400" dirty="0"/>
          </a:p>
        </p:txBody>
      </p:sp>
      <p:sp>
        <p:nvSpPr>
          <p:cNvPr id="44" name="Shape 29"/>
          <p:cNvSpPr/>
          <p:nvPr/>
        </p:nvSpPr>
        <p:spPr>
          <a:xfrm>
            <a:off x="6583680" y="5093208"/>
            <a:ext cx="329184" cy="329184"/>
          </a:xfrm>
          <a:prstGeom prst="ellipse">
            <a:avLst/>
          </a:prstGeom>
          <a:solidFill>
            <a:srgbClr val="A8472F"/>
          </a:solidFill>
          <a:ln w="12700">
            <a:solidFill>
              <a:srgbClr val="A8472F"/>
            </a:solidFill>
            <a:prstDash val="solid"/>
          </a:ln>
        </p:spPr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9268" y="5178796"/>
            <a:ext cx="158008" cy="158008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7086600" y="500176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opciones de nube gestionada (Azure y GCP no lo ofrecen)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4747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3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Decisión: MySQL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8961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MariaDB como alternativa compatible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1384280" y="6172200"/>
            <a:ext cx="365760" cy="365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463040"/>
            <a:ext cx="3931920" cy="4526280"/>
          </a:xfrm>
          <a:prstGeom prst="roundRect">
            <a:avLst>
              <a:gd name="adj" fmla="val 2791"/>
            </a:avLst>
          </a:prstGeom>
          <a:solidFill>
            <a:srgbClr val="6B3F1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1783080"/>
            <a:ext cx="1280160" cy="12801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31520" y="3246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8.4 LTS</a:t>
            </a:r>
            <a:endParaRPr lang="en-US" sz="3000" dirty="0"/>
          </a:p>
        </p:txBody>
      </p:sp>
      <p:sp>
        <p:nvSpPr>
          <p:cNvPr id="10" name="Text 5"/>
          <p:cNvSpPr txBox="1"/>
          <p:nvPr/>
        </p:nvSpPr>
        <p:spPr>
          <a:xfrm>
            <a:off x="731520" y="3886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Prisma 6.19.3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731520" y="4389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superior (9.7 LTS)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754880" y="1463040"/>
            <a:ext cx="6903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49377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9"/>
          <p:cNvSpPr txBox="1"/>
          <p:nvPr/>
        </p:nvSpPr>
        <p:spPr>
          <a:xfrm>
            <a:off x="5669280" y="1572768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costo de cambio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5669280" y="1938528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esquema de 13 tablas ya funciona: el equipo se concentra en Auth.js y los módulos.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754880" y="2624328"/>
            <a:ext cx="6903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4937760" y="2852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5669280" y="2734056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soporte de JSON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669280" y="3099816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nativo, que Prisma aprovecha mejor que el texto de MariaDB.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754880" y="3785616"/>
            <a:ext cx="6903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4937760" y="4014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17"/>
          <p:cNvSpPr txBox="1"/>
          <p:nvPr/>
        </p:nvSpPr>
        <p:spPr>
          <a:xfrm>
            <a:off x="5669280" y="3895344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opciones de despliegue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5669280" y="4261104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en todas las nubes y hostings; facilita llevar el proyecto a producción.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4754880" y="4946904"/>
            <a:ext cx="6903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25" name="Text 20"/>
          <p:cNvSpPr txBox="1"/>
          <p:nvPr/>
        </p:nvSpPr>
        <p:spPr>
          <a:xfrm>
            <a:off x="4937760" y="5175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1"/>
          <p:cNvSpPr txBox="1"/>
          <p:nvPr/>
        </p:nvSpPr>
        <p:spPr>
          <a:xfrm>
            <a:off x="5669280" y="5056632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abierta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5669280" y="5422392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más adelante se prefiere software 100 % libre, MariaDB usa el mismo provider de Prisma.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4747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3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entidad-relación de Happy Paws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8961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el schema.prisma actual del proyecto, más la tabla nueva para fotos y videos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1384280" y="6172200"/>
            <a:ext cx="365760" cy="365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46304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685800" y="14630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B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1783080" y="14630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(13 actuales + 1 nueva)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65176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685800" y="265176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B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1783080" y="26517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enumerados (roles, estados y tipos)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84048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685800" y="38404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B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1783080" y="3840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con clave foránea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931920" y="1463040"/>
            <a:ext cx="2377440" cy="3474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14800" y="1645920"/>
            <a:ext cx="548640" cy="54864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446" y="178856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754880" y="1645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y protectoras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114800" y="237744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FAF3E8"/>
          </a:solidFill>
          <a:ln w="12700">
            <a:solidFill>
              <a:srgbClr val="F5E6D0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206240" y="237744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114800" y="2779776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FAF3E8"/>
          </a:solidFill>
          <a:ln w="12700">
            <a:solidFill>
              <a:srgbClr val="F5E6D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206240" y="277977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password_reset_tokens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114800" y="3182112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FAF3E8"/>
          </a:solidFill>
          <a:ln w="12700">
            <a:solidFill>
              <a:srgbClr val="F5E6D0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206240" y="318211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protectoras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114800" y="3584448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FAF3E8"/>
          </a:solidFill>
          <a:ln w="12700">
            <a:solidFill>
              <a:srgbClr val="F5E6D0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206240" y="358444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miembros_protectora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4114800" y="3986784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FAF3E8"/>
          </a:solidFill>
          <a:ln w="12700">
            <a:solidFill>
              <a:srgbClr val="F5E6D0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206240" y="398678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invitaciones_protectora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114800" y="438912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FAF3E8"/>
          </a:solidFill>
          <a:ln w="12700">
            <a:solidFill>
              <a:srgbClr val="F5E6D0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206240" y="43891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6537960" y="1463040"/>
            <a:ext cx="2377440" cy="3474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720840" y="1645920"/>
            <a:ext cx="548640" cy="54864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486" y="1788566"/>
            <a:ext cx="263347" cy="263347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7360920" y="1645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Mascotas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6720840" y="237744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FAF3E8"/>
          </a:solidFill>
          <a:ln w="12700">
            <a:solidFill>
              <a:srgbClr val="F5E6D0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812280" y="237744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mascotas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6720840" y="2779776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FAF3E8"/>
          </a:solidFill>
          <a:ln w="12700">
            <a:solidFill>
              <a:srgbClr val="F5E6D0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812280" y="277977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razas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6720840" y="3182112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FAF3E8"/>
          </a:solidFill>
          <a:ln w="12700">
            <a:solidFill>
              <a:srgbClr val="F5E6D0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6812280" y="318211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vacunaciones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6720840" y="3584448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FAF3E8"/>
          </a:solidFill>
          <a:ln w="12700">
            <a:solidFill>
              <a:srgbClr val="F5E6D0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6812280" y="358444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seguimientos_adopcion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6720840" y="3986784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6812280" y="398678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media_mascota  · NUEVA</a:t>
            </a:r>
            <a:endParaRPr lang="en-US" sz="1050" dirty="0"/>
          </a:p>
        </p:txBody>
      </p:sp>
      <p:sp>
        <p:nvSpPr>
          <p:cNvPr id="46" name="Shape 40"/>
          <p:cNvSpPr/>
          <p:nvPr/>
        </p:nvSpPr>
        <p:spPr>
          <a:xfrm>
            <a:off x="9144000" y="1463040"/>
            <a:ext cx="2377440" cy="3474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47" name="Shape 41"/>
          <p:cNvSpPr/>
          <p:nvPr/>
        </p:nvSpPr>
        <p:spPr>
          <a:xfrm>
            <a:off x="9326880" y="1645920"/>
            <a:ext cx="548640" cy="54864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9526" y="1788566"/>
            <a:ext cx="263347" cy="263347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9966960" y="1645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</a:t>
            </a:r>
            <a:endParaRPr lang="en-US" sz="1400" dirty="0"/>
          </a:p>
        </p:txBody>
      </p:sp>
      <p:sp>
        <p:nvSpPr>
          <p:cNvPr id="50" name="Shape 43"/>
          <p:cNvSpPr/>
          <p:nvPr/>
        </p:nvSpPr>
        <p:spPr>
          <a:xfrm>
            <a:off x="9326880" y="237744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FAF3E8"/>
          </a:solidFill>
          <a:ln w="12700">
            <a:solidFill>
              <a:srgbClr val="F5E6D0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9418320" y="237744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adoptantes</a:t>
            </a:r>
            <a:endParaRPr lang="en-US" sz="1050" dirty="0"/>
          </a:p>
        </p:txBody>
      </p:sp>
      <p:sp>
        <p:nvSpPr>
          <p:cNvPr id="52" name="Shape 45"/>
          <p:cNvSpPr/>
          <p:nvPr/>
        </p:nvSpPr>
        <p:spPr>
          <a:xfrm>
            <a:off x="9326880" y="2779776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FAF3E8"/>
          </a:solidFill>
          <a:ln w="12700">
            <a:solidFill>
              <a:srgbClr val="F5E6D0"/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9418320" y="277977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solicitudes_adopcion</a:t>
            </a:r>
            <a:endParaRPr lang="en-US" sz="1050" dirty="0"/>
          </a:p>
        </p:txBody>
      </p:sp>
      <p:sp>
        <p:nvSpPr>
          <p:cNvPr id="54" name="Shape 47"/>
          <p:cNvSpPr/>
          <p:nvPr/>
        </p:nvSpPr>
        <p:spPr>
          <a:xfrm>
            <a:off x="9326880" y="3182112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FAF3E8"/>
          </a:solidFill>
          <a:ln w="12700">
            <a:solidFill>
              <a:srgbClr val="F5E6D0"/>
            </a:solidFill>
            <a:prstDash val="solid"/>
          </a:ln>
        </p:spPr>
      </p:sp>
      <p:sp>
        <p:nvSpPr>
          <p:cNvPr id="55" name="Text 48"/>
          <p:cNvSpPr txBox="1"/>
          <p:nvPr/>
        </p:nvSpPr>
        <p:spPr>
          <a:xfrm>
            <a:off x="9418320" y="318211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favoritos</a:t>
            </a:r>
            <a:endParaRPr lang="en-US" sz="1050" dirty="0"/>
          </a:p>
        </p:txBody>
      </p:sp>
      <p:sp>
        <p:nvSpPr>
          <p:cNvPr id="56" name="Shape 49"/>
          <p:cNvSpPr/>
          <p:nvPr/>
        </p:nvSpPr>
        <p:spPr>
          <a:xfrm>
            <a:off x="3931920" y="5166360"/>
            <a:ext cx="7726680" cy="868680"/>
          </a:xfrm>
          <a:prstGeom prst="roundRect">
            <a:avLst>
              <a:gd name="adj" fmla="val 12632"/>
            </a:avLst>
          </a:prstGeom>
          <a:solidFill>
            <a:srgbClr val="F5E6D0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57" name="Text 50"/>
          <p:cNvSpPr txBox="1"/>
          <p:nvPr/>
        </p:nvSpPr>
        <p:spPr>
          <a:xfrm>
            <a:off x="4160520" y="516636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propuesto: </a:t>
            </a:r>
            <a:pPr indent="0" marL="0">
              <a:buNone/>
            </a:pPr>
            <a:r>
              <a:rPr lang="en-US" sz="13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mascotas guarda fotos (JSON), mediaUrl y mediaType, y mediaUrl es una URL blob: que no persiste entre navegadores. Esos tres campos pasan a la tabla media_mascota, con los archivos en la nube.</a:t>
            </a:r>
            <a:endParaRPr lang="en-US" sz="1300" dirty="0"/>
          </a:p>
        </p:txBody>
      </p:sp>
      <p:sp>
        <p:nvSpPr>
          <p:cNvPr id="58" name="Shape 51"/>
          <p:cNvSpPr/>
          <p:nvPr/>
        </p:nvSpPr>
        <p:spPr>
          <a:xfrm>
            <a:off x="548640" y="5166360"/>
            <a:ext cx="3108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59" name="Shape 52"/>
          <p:cNvSpPr/>
          <p:nvPr/>
        </p:nvSpPr>
        <p:spPr>
          <a:xfrm>
            <a:off x="731520" y="5440680"/>
            <a:ext cx="68580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822960" y="536752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877824" y="536752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 flipV="1">
            <a:off x="1271016" y="5367528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1271016" y="5440680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1156716" y="5399532"/>
            <a:ext cx="82296" cy="82296"/>
          </a:xfrm>
          <a:prstGeom prst="ellipse">
            <a:avLst/>
          </a:prstGeom>
          <a:solidFill>
            <a:srgbClr val="FDF6EE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65" name="Text 58"/>
          <p:cNvSpPr txBox="1"/>
          <p:nvPr/>
        </p:nvSpPr>
        <p:spPr>
          <a:xfrm>
            <a:off x="1554480" y="53218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muchos (0..N)</a:t>
            </a:r>
            <a:endParaRPr lang="en-US" sz="1000" dirty="0"/>
          </a:p>
        </p:txBody>
      </p:sp>
      <p:sp>
        <p:nvSpPr>
          <p:cNvPr id="66" name="Shape 59"/>
          <p:cNvSpPr/>
          <p:nvPr/>
        </p:nvSpPr>
        <p:spPr>
          <a:xfrm>
            <a:off x="731520" y="5779008"/>
            <a:ext cx="68580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67" name="Shape 60"/>
          <p:cNvSpPr/>
          <p:nvPr/>
        </p:nvSpPr>
        <p:spPr>
          <a:xfrm>
            <a:off x="822960" y="5705856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877824" y="5705856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69" name="Shape 62"/>
          <p:cNvSpPr/>
          <p:nvPr/>
        </p:nvSpPr>
        <p:spPr>
          <a:xfrm>
            <a:off x="1325880" y="5705856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70" name="Shape 63"/>
          <p:cNvSpPr/>
          <p:nvPr/>
        </p:nvSpPr>
        <p:spPr>
          <a:xfrm>
            <a:off x="1271016" y="5705856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71" name="Text 64"/>
          <p:cNvSpPr txBox="1"/>
          <p:nvPr/>
        </p:nvSpPr>
        <p:spPr>
          <a:xfrm>
            <a:off x="1554480" y="566013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4747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3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1 · Usuarios y protectoras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8961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Autenticación, roles y administración de cada protectora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1384280" y="6172200"/>
            <a:ext cx="365760" cy="365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417320"/>
            <a:ext cx="2377440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48640" y="1417320"/>
            <a:ext cx="2377440" cy="310896"/>
          </a:xfrm>
          <a:prstGeom prst="rect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14173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password_reset_tokens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12648" y="172821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11" name="Text 7"/>
          <p:cNvSpPr txBox="1"/>
          <p:nvPr/>
        </p:nvSpPr>
        <p:spPr>
          <a:xfrm>
            <a:off x="932688" y="1728216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975104" y="172821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57784" y="1929384"/>
            <a:ext cx="235915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12648" y="192938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UQ</a:t>
            </a:r>
            <a:endParaRPr lang="en-US" sz="700" dirty="0"/>
          </a:p>
        </p:txBody>
      </p:sp>
      <p:sp>
        <p:nvSpPr>
          <p:cNvPr id="15" name="Text 11"/>
          <p:cNvSpPr txBox="1"/>
          <p:nvPr/>
        </p:nvSpPr>
        <p:spPr>
          <a:xfrm>
            <a:off x="932688" y="1929384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975104" y="192938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612648" y="213055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18" name="Text 14"/>
          <p:cNvSpPr txBox="1"/>
          <p:nvPr/>
        </p:nvSpPr>
        <p:spPr>
          <a:xfrm>
            <a:off x="932688" y="2130552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975104" y="213055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557784" y="2331720"/>
            <a:ext cx="235915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32688" y="2331720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expiresAt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975104" y="233172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932688" y="2532888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usedAt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1975104" y="253288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557784" y="2734056"/>
            <a:ext cx="235915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32688" y="2734056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975104" y="273405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548640" y="3429000"/>
            <a:ext cx="2377440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48640" y="3429000"/>
            <a:ext cx="2377440" cy="310896"/>
          </a:xfrm>
          <a:prstGeom prst="rect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40080" y="34290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adoptantes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612648" y="373989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32" name="Text 28"/>
          <p:cNvSpPr txBox="1"/>
          <p:nvPr/>
        </p:nvSpPr>
        <p:spPr>
          <a:xfrm>
            <a:off x="932688" y="3739896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1975104" y="373989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557784" y="3941064"/>
            <a:ext cx="235915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612648" y="394106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FK·UQ</a:t>
            </a:r>
            <a:endParaRPr lang="en-US" sz="700" dirty="0"/>
          </a:p>
        </p:txBody>
      </p:sp>
      <p:sp>
        <p:nvSpPr>
          <p:cNvPr id="36" name="Text 32"/>
          <p:cNvSpPr txBox="1"/>
          <p:nvPr/>
        </p:nvSpPr>
        <p:spPr>
          <a:xfrm>
            <a:off x="932688" y="3941064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1975104" y="394106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38" name="Text 34"/>
          <p:cNvSpPr txBox="1"/>
          <p:nvPr/>
        </p:nvSpPr>
        <p:spPr>
          <a:xfrm>
            <a:off x="932688" y="4142232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1975104" y="414223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557784" y="4343400"/>
            <a:ext cx="235915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932688" y="4343400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tipoVivienda</a:t>
            </a:r>
            <a:endParaRPr lang="en-US" sz="900" dirty="0"/>
          </a:p>
        </p:txBody>
      </p:sp>
      <p:sp>
        <p:nvSpPr>
          <p:cNvPr id="42" name="Text 38"/>
          <p:cNvSpPr txBox="1"/>
          <p:nvPr/>
        </p:nvSpPr>
        <p:spPr>
          <a:xfrm>
            <a:off x="1975104" y="434340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43" name="Text 39"/>
          <p:cNvSpPr txBox="1"/>
          <p:nvPr/>
        </p:nvSpPr>
        <p:spPr>
          <a:xfrm>
            <a:off x="932688" y="4544568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tieneOtrasMascotas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1975104" y="454456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557784" y="4745736"/>
            <a:ext cx="235915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932688" y="4745736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tieneHijos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1975104" y="474573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800" dirty="0"/>
          </a:p>
        </p:txBody>
      </p:sp>
      <p:sp>
        <p:nvSpPr>
          <p:cNvPr id="48" name="Text 44"/>
          <p:cNvSpPr txBox="1"/>
          <p:nvPr/>
        </p:nvSpPr>
        <p:spPr>
          <a:xfrm>
            <a:off x="932688" y="4946904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</a:t>
            </a:r>
            <a:endParaRPr lang="en-US" sz="900" dirty="0"/>
          </a:p>
        </p:txBody>
      </p:sp>
      <p:sp>
        <p:nvSpPr>
          <p:cNvPr id="49" name="Text 45"/>
          <p:cNvSpPr txBox="1"/>
          <p:nvPr/>
        </p:nvSpPr>
        <p:spPr>
          <a:xfrm>
            <a:off x="1975104" y="494690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50" name="Shape 46"/>
          <p:cNvSpPr/>
          <p:nvPr/>
        </p:nvSpPr>
        <p:spPr>
          <a:xfrm>
            <a:off x="557784" y="5148072"/>
            <a:ext cx="235915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932688" y="5148072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900" dirty="0"/>
          </a:p>
        </p:txBody>
      </p:sp>
      <p:sp>
        <p:nvSpPr>
          <p:cNvPr id="52" name="Text 48"/>
          <p:cNvSpPr txBox="1"/>
          <p:nvPr/>
        </p:nvSpPr>
        <p:spPr>
          <a:xfrm>
            <a:off x="1975104" y="514807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53" name="Text 49"/>
          <p:cNvSpPr txBox="1"/>
          <p:nvPr/>
        </p:nvSpPr>
        <p:spPr>
          <a:xfrm>
            <a:off x="932688" y="5349240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updatedAt</a:t>
            </a:r>
            <a:endParaRPr lang="en-US" sz="900" dirty="0"/>
          </a:p>
        </p:txBody>
      </p:sp>
      <p:sp>
        <p:nvSpPr>
          <p:cNvPr id="54" name="Text 50"/>
          <p:cNvSpPr txBox="1"/>
          <p:nvPr/>
        </p:nvSpPr>
        <p:spPr>
          <a:xfrm>
            <a:off x="1975104" y="534924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55" name="Shape 51"/>
          <p:cNvSpPr/>
          <p:nvPr/>
        </p:nvSpPr>
        <p:spPr>
          <a:xfrm>
            <a:off x="3456432" y="1417320"/>
            <a:ext cx="23774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56" name="Shape 52"/>
          <p:cNvSpPr/>
          <p:nvPr/>
        </p:nvSpPr>
        <p:spPr>
          <a:xfrm>
            <a:off x="3456432" y="1417320"/>
            <a:ext cx="2377440" cy="310896"/>
          </a:xfrm>
          <a:prstGeom prst="rect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3547872" y="14173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58" name="Text 54"/>
          <p:cNvSpPr txBox="1"/>
          <p:nvPr/>
        </p:nvSpPr>
        <p:spPr>
          <a:xfrm>
            <a:off x="3520440" y="172821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59" name="Text 55"/>
          <p:cNvSpPr txBox="1"/>
          <p:nvPr/>
        </p:nvSpPr>
        <p:spPr>
          <a:xfrm>
            <a:off x="3840480" y="1728216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60" name="Text 56"/>
          <p:cNvSpPr txBox="1"/>
          <p:nvPr/>
        </p:nvSpPr>
        <p:spPr>
          <a:xfrm>
            <a:off x="4882896" y="172821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61" name="Shape 57"/>
          <p:cNvSpPr/>
          <p:nvPr/>
        </p:nvSpPr>
        <p:spPr>
          <a:xfrm>
            <a:off x="3465576" y="1929384"/>
            <a:ext cx="235915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3520440" y="192938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UQ</a:t>
            </a:r>
            <a:endParaRPr lang="en-US" sz="700" dirty="0"/>
          </a:p>
        </p:txBody>
      </p:sp>
      <p:sp>
        <p:nvSpPr>
          <p:cNvPr id="63" name="Text 59"/>
          <p:cNvSpPr txBox="1"/>
          <p:nvPr/>
        </p:nvSpPr>
        <p:spPr>
          <a:xfrm>
            <a:off x="3840480" y="1929384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64" name="Text 60"/>
          <p:cNvSpPr txBox="1"/>
          <p:nvPr/>
        </p:nvSpPr>
        <p:spPr>
          <a:xfrm>
            <a:off x="4882896" y="192938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65" name="Text 61"/>
          <p:cNvSpPr txBox="1"/>
          <p:nvPr/>
        </p:nvSpPr>
        <p:spPr>
          <a:xfrm>
            <a:off x="3840480" y="2130552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passwordHash</a:t>
            </a:r>
            <a:endParaRPr lang="en-US" sz="900" dirty="0"/>
          </a:p>
        </p:txBody>
      </p:sp>
      <p:sp>
        <p:nvSpPr>
          <p:cNvPr id="66" name="Text 62"/>
          <p:cNvSpPr txBox="1"/>
          <p:nvPr/>
        </p:nvSpPr>
        <p:spPr>
          <a:xfrm>
            <a:off x="4882896" y="213055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67" name="Shape 63"/>
          <p:cNvSpPr/>
          <p:nvPr/>
        </p:nvSpPr>
        <p:spPr>
          <a:xfrm>
            <a:off x="3465576" y="2331720"/>
            <a:ext cx="235915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3840480" y="2331720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900" dirty="0"/>
          </a:p>
        </p:txBody>
      </p:sp>
      <p:sp>
        <p:nvSpPr>
          <p:cNvPr id="69" name="Text 65"/>
          <p:cNvSpPr txBox="1"/>
          <p:nvPr/>
        </p:nvSpPr>
        <p:spPr>
          <a:xfrm>
            <a:off x="4882896" y="233172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70" name="Text 66"/>
          <p:cNvSpPr txBox="1"/>
          <p:nvPr/>
        </p:nvSpPr>
        <p:spPr>
          <a:xfrm>
            <a:off x="3840480" y="2532888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telefono</a:t>
            </a:r>
            <a:endParaRPr lang="en-US" sz="900" dirty="0"/>
          </a:p>
        </p:txBody>
      </p:sp>
      <p:sp>
        <p:nvSpPr>
          <p:cNvPr id="71" name="Text 67"/>
          <p:cNvSpPr txBox="1"/>
          <p:nvPr/>
        </p:nvSpPr>
        <p:spPr>
          <a:xfrm>
            <a:off x="4882896" y="253288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72" name="Shape 68"/>
          <p:cNvSpPr/>
          <p:nvPr/>
        </p:nvSpPr>
        <p:spPr>
          <a:xfrm>
            <a:off x="3465576" y="2734056"/>
            <a:ext cx="235915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3840480" y="2734056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900" dirty="0"/>
          </a:p>
        </p:txBody>
      </p:sp>
      <p:sp>
        <p:nvSpPr>
          <p:cNvPr id="74" name="Text 70"/>
          <p:cNvSpPr txBox="1"/>
          <p:nvPr/>
        </p:nvSpPr>
        <p:spPr>
          <a:xfrm>
            <a:off x="4882896" y="273405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RolGlobal</a:t>
            </a:r>
            <a:endParaRPr lang="en-US" sz="800" dirty="0"/>
          </a:p>
        </p:txBody>
      </p:sp>
      <p:sp>
        <p:nvSpPr>
          <p:cNvPr id="75" name="Text 71"/>
          <p:cNvSpPr txBox="1"/>
          <p:nvPr/>
        </p:nvSpPr>
        <p:spPr>
          <a:xfrm>
            <a:off x="3840480" y="2935224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900" dirty="0"/>
          </a:p>
        </p:txBody>
      </p:sp>
      <p:sp>
        <p:nvSpPr>
          <p:cNvPr id="76" name="Text 72"/>
          <p:cNvSpPr txBox="1"/>
          <p:nvPr/>
        </p:nvSpPr>
        <p:spPr>
          <a:xfrm>
            <a:off x="4882896" y="293522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77" name="Shape 73"/>
          <p:cNvSpPr/>
          <p:nvPr/>
        </p:nvSpPr>
        <p:spPr>
          <a:xfrm>
            <a:off x="3465576" y="3136392"/>
            <a:ext cx="235915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78" name="Text 74"/>
          <p:cNvSpPr txBox="1"/>
          <p:nvPr/>
        </p:nvSpPr>
        <p:spPr>
          <a:xfrm>
            <a:off x="3840480" y="3136392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updatedAt</a:t>
            </a:r>
            <a:endParaRPr lang="en-US" sz="900" dirty="0"/>
          </a:p>
        </p:txBody>
      </p:sp>
      <p:sp>
        <p:nvSpPr>
          <p:cNvPr id="79" name="Text 75"/>
          <p:cNvSpPr txBox="1"/>
          <p:nvPr/>
        </p:nvSpPr>
        <p:spPr>
          <a:xfrm>
            <a:off x="4882896" y="313639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80" name="Shape 76"/>
          <p:cNvSpPr/>
          <p:nvPr/>
        </p:nvSpPr>
        <p:spPr>
          <a:xfrm>
            <a:off x="3456432" y="3977640"/>
            <a:ext cx="2377440" cy="1316736"/>
          </a:xfrm>
          <a:prstGeom prst="rect">
            <a:avLst/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81" name="Shape 77"/>
          <p:cNvSpPr/>
          <p:nvPr/>
        </p:nvSpPr>
        <p:spPr>
          <a:xfrm>
            <a:off x="3456432" y="3977640"/>
            <a:ext cx="2377440" cy="310896"/>
          </a:xfrm>
          <a:prstGeom prst="rect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sp>
        <p:nvSpPr>
          <p:cNvPr id="82" name="Text 78"/>
          <p:cNvSpPr txBox="1"/>
          <p:nvPr/>
        </p:nvSpPr>
        <p:spPr>
          <a:xfrm>
            <a:off x="3547872" y="39776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miembros_protectora</a:t>
            </a:r>
            <a:endParaRPr lang="en-US" sz="1100" dirty="0"/>
          </a:p>
        </p:txBody>
      </p:sp>
      <p:sp>
        <p:nvSpPr>
          <p:cNvPr id="83" name="Text 79"/>
          <p:cNvSpPr txBox="1"/>
          <p:nvPr/>
        </p:nvSpPr>
        <p:spPr>
          <a:xfrm>
            <a:off x="3520440" y="428853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84" name="Text 80"/>
          <p:cNvSpPr txBox="1"/>
          <p:nvPr/>
        </p:nvSpPr>
        <p:spPr>
          <a:xfrm>
            <a:off x="3840480" y="4288536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85" name="Text 81"/>
          <p:cNvSpPr txBox="1"/>
          <p:nvPr/>
        </p:nvSpPr>
        <p:spPr>
          <a:xfrm>
            <a:off x="4882896" y="428853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86" name="Shape 82"/>
          <p:cNvSpPr/>
          <p:nvPr/>
        </p:nvSpPr>
        <p:spPr>
          <a:xfrm>
            <a:off x="3465576" y="4489704"/>
            <a:ext cx="235915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87" name="Text 83"/>
          <p:cNvSpPr txBox="1"/>
          <p:nvPr/>
        </p:nvSpPr>
        <p:spPr>
          <a:xfrm>
            <a:off x="3520440" y="448970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88" name="Text 84"/>
          <p:cNvSpPr txBox="1"/>
          <p:nvPr/>
        </p:nvSpPr>
        <p:spPr>
          <a:xfrm>
            <a:off x="3840480" y="4489704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</a:t>
            </a:r>
            <a:endParaRPr lang="en-US" sz="900" dirty="0"/>
          </a:p>
        </p:txBody>
      </p:sp>
      <p:sp>
        <p:nvSpPr>
          <p:cNvPr id="89" name="Text 85"/>
          <p:cNvSpPr txBox="1"/>
          <p:nvPr/>
        </p:nvSpPr>
        <p:spPr>
          <a:xfrm>
            <a:off x="4882896" y="448970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90" name="Text 86"/>
          <p:cNvSpPr txBox="1"/>
          <p:nvPr/>
        </p:nvSpPr>
        <p:spPr>
          <a:xfrm>
            <a:off x="3520440" y="46908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91" name="Text 87"/>
          <p:cNvSpPr txBox="1"/>
          <p:nvPr/>
        </p:nvSpPr>
        <p:spPr>
          <a:xfrm>
            <a:off x="3840480" y="4690872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protectoraId</a:t>
            </a:r>
            <a:endParaRPr lang="en-US" sz="900" dirty="0"/>
          </a:p>
        </p:txBody>
      </p:sp>
      <p:sp>
        <p:nvSpPr>
          <p:cNvPr id="92" name="Text 88"/>
          <p:cNvSpPr txBox="1"/>
          <p:nvPr/>
        </p:nvSpPr>
        <p:spPr>
          <a:xfrm>
            <a:off x="4882896" y="469087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93" name="Shape 89"/>
          <p:cNvSpPr/>
          <p:nvPr/>
        </p:nvSpPr>
        <p:spPr>
          <a:xfrm>
            <a:off x="3465576" y="4892040"/>
            <a:ext cx="235915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94" name="Text 90"/>
          <p:cNvSpPr txBox="1"/>
          <p:nvPr/>
        </p:nvSpPr>
        <p:spPr>
          <a:xfrm>
            <a:off x="3840480" y="4892040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900" dirty="0"/>
          </a:p>
        </p:txBody>
      </p:sp>
      <p:sp>
        <p:nvSpPr>
          <p:cNvPr id="95" name="Text 91"/>
          <p:cNvSpPr txBox="1"/>
          <p:nvPr/>
        </p:nvSpPr>
        <p:spPr>
          <a:xfrm>
            <a:off x="4882896" y="489204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800" dirty="0"/>
          </a:p>
        </p:txBody>
      </p:sp>
      <p:sp>
        <p:nvSpPr>
          <p:cNvPr id="96" name="Text 92"/>
          <p:cNvSpPr txBox="1"/>
          <p:nvPr/>
        </p:nvSpPr>
        <p:spPr>
          <a:xfrm>
            <a:off x="3840480" y="5093208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900" dirty="0"/>
          </a:p>
        </p:txBody>
      </p:sp>
      <p:sp>
        <p:nvSpPr>
          <p:cNvPr id="97" name="Text 93"/>
          <p:cNvSpPr txBox="1"/>
          <p:nvPr/>
        </p:nvSpPr>
        <p:spPr>
          <a:xfrm>
            <a:off x="4882896" y="509320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98" name="Shape 94"/>
          <p:cNvSpPr/>
          <p:nvPr/>
        </p:nvSpPr>
        <p:spPr>
          <a:xfrm>
            <a:off x="6364224" y="1417320"/>
            <a:ext cx="2377440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99" name="Shape 95"/>
          <p:cNvSpPr/>
          <p:nvPr/>
        </p:nvSpPr>
        <p:spPr>
          <a:xfrm>
            <a:off x="6364224" y="1417320"/>
            <a:ext cx="2377440" cy="310896"/>
          </a:xfrm>
          <a:prstGeom prst="rect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sp>
        <p:nvSpPr>
          <p:cNvPr id="100" name="Text 96"/>
          <p:cNvSpPr txBox="1"/>
          <p:nvPr/>
        </p:nvSpPr>
        <p:spPr>
          <a:xfrm>
            <a:off x="6455664" y="14173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protectoras</a:t>
            </a:r>
            <a:endParaRPr lang="en-US" sz="1100" dirty="0"/>
          </a:p>
        </p:txBody>
      </p:sp>
      <p:sp>
        <p:nvSpPr>
          <p:cNvPr id="101" name="Text 97"/>
          <p:cNvSpPr txBox="1"/>
          <p:nvPr/>
        </p:nvSpPr>
        <p:spPr>
          <a:xfrm>
            <a:off x="6428232" y="172821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102" name="Text 98"/>
          <p:cNvSpPr txBox="1"/>
          <p:nvPr/>
        </p:nvSpPr>
        <p:spPr>
          <a:xfrm>
            <a:off x="6748272" y="1728216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03" name="Text 99"/>
          <p:cNvSpPr txBox="1"/>
          <p:nvPr/>
        </p:nvSpPr>
        <p:spPr>
          <a:xfrm>
            <a:off x="7790688" y="172821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04" name="Shape 100"/>
          <p:cNvSpPr/>
          <p:nvPr/>
        </p:nvSpPr>
        <p:spPr>
          <a:xfrm>
            <a:off x="6373368" y="1929384"/>
            <a:ext cx="235915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105" name="Text 101"/>
          <p:cNvSpPr txBox="1"/>
          <p:nvPr/>
        </p:nvSpPr>
        <p:spPr>
          <a:xfrm>
            <a:off x="6748272" y="1929384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900" dirty="0"/>
          </a:p>
        </p:txBody>
      </p:sp>
      <p:sp>
        <p:nvSpPr>
          <p:cNvPr id="106" name="Text 102"/>
          <p:cNvSpPr txBox="1"/>
          <p:nvPr/>
        </p:nvSpPr>
        <p:spPr>
          <a:xfrm>
            <a:off x="7790688" y="192938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07" name="Text 103"/>
          <p:cNvSpPr txBox="1"/>
          <p:nvPr/>
        </p:nvSpPr>
        <p:spPr>
          <a:xfrm>
            <a:off x="6748272" y="2130552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descripcion</a:t>
            </a:r>
            <a:endParaRPr lang="en-US" sz="900" dirty="0"/>
          </a:p>
        </p:txBody>
      </p:sp>
      <p:sp>
        <p:nvSpPr>
          <p:cNvPr id="108" name="Text 104"/>
          <p:cNvSpPr txBox="1"/>
          <p:nvPr/>
        </p:nvSpPr>
        <p:spPr>
          <a:xfrm>
            <a:off x="7790688" y="213055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109" name="Shape 105"/>
          <p:cNvSpPr/>
          <p:nvPr/>
        </p:nvSpPr>
        <p:spPr>
          <a:xfrm>
            <a:off x="6373368" y="2331720"/>
            <a:ext cx="235915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110" name="Text 106"/>
          <p:cNvSpPr txBox="1"/>
          <p:nvPr/>
        </p:nvSpPr>
        <p:spPr>
          <a:xfrm>
            <a:off x="6748272" y="2331720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ubicacion</a:t>
            </a:r>
            <a:endParaRPr lang="en-US" sz="900" dirty="0"/>
          </a:p>
        </p:txBody>
      </p:sp>
      <p:sp>
        <p:nvSpPr>
          <p:cNvPr id="111" name="Text 107"/>
          <p:cNvSpPr txBox="1"/>
          <p:nvPr/>
        </p:nvSpPr>
        <p:spPr>
          <a:xfrm>
            <a:off x="7790688" y="233172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12" name="Text 108"/>
          <p:cNvSpPr txBox="1"/>
          <p:nvPr/>
        </p:nvSpPr>
        <p:spPr>
          <a:xfrm>
            <a:off x="6748272" y="2532888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telefono</a:t>
            </a:r>
            <a:endParaRPr lang="en-US" sz="900" dirty="0"/>
          </a:p>
        </p:txBody>
      </p:sp>
      <p:sp>
        <p:nvSpPr>
          <p:cNvPr id="113" name="Text 109"/>
          <p:cNvSpPr txBox="1"/>
          <p:nvPr/>
        </p:nvSpPr>
        <p:spPr>
          <a:xfrm>
            <a:off x="7790688" y="253288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14" name="Shape 110"/>
          <p:cNvSpPr/>
          <p:nvPr/>
        </p:nvSpPr>
        <p:spPr>
          <a:xfrm>
            <a:off x="6373368" y="2734056"/>
            <a:ext cx="235915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115" name="Text 111"/>
          <p:cNvSpPr txBox="1"/>
          <p:nvPr/>
        </p:nvSpPr>
        <p:spPr>
          <a:xfrm>
            <a:off x="6748272" y="2734056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16" name="Text 112"/>
          <p:cNvSpPr txBox="1"/>
          <p:nvPr/>
        </p:nvSpPr>
        <p:spPr>
          <a:xfrm>
            <a:off x="7790688" y="273405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17" name="Text 113"/>
          <p:cNvSpPr txBox="1"/>
          <p:nvPr/>
        </p:nvSpPr>
        <p:spPr>
          <a:xfrm>
            <a:off x="6748272" y="2935224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redSocial</a:t>
            </a:r>
            <a:endParaRPr lang="en-US" sz="900" dirty="0"/>
          </a:p>
        </p:txBody>
      </p:sp>
      <p:sp>
        <p:nvSpPr>
          <p:cNvPr id="118" name="Text 114"/>
          <p:cNvSpPr txBox="1"/>
          <p:nvPr/>
        </p:nvSpPr>
        <p:spPr>
          <a:xfrm>
            <a:off x="7790688" y="293522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19" name="Shape 115"/>
          <p:cNvSpPr/>
          <p:nvPr/>
        </p:nvSpPr>
        <p:spPr>
          <a:xfrm>
            <a:off x="6373368" y="3136392"/>
            <a:ext cx="235915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120" name="Text 116"/>
          <p:cNvSpPr txBox="1"/>
          <p:nvPr/>
        </p:nvSpPr>
        <p:spPr>
          <a:xfrm>
            <a:off x="6748272" y="3136392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logoUrl</a:t>
            </a:r>
            <a:endParaRPr lang="en-US" sz="900" dirty="0"/>
          </a:p>
        </p:txBody>
      </p:sp>
      <p:sp>
        <p:nvSpPr>
          <p:cNvPr id="121" name="Text 117"/>
          <p:cNvSpPr txBox="1"/>
          <p:nvPr/>
        </p:nvSpPr>
        <p:spPr>
          <a:xfrm>
            <a:off x="7790688" y="313639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122" name="Text 118"/>
          <p:cNvSpPr txBox="1"/>
          <p:nvPr/>
        </p:nvSpPr>
        <p:spPr>
          <a:xfrm>
            <a:off x="6428232" y="333756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123" name="Text 119"/>
          <p:cNvSpPr txBox="1"/>
          <p:nvPr/>
        </p:nvSpPr>
        <p:spPr>
          <a:xfrm>
            <a:off x="6748272" y="3337560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duenioId</a:t>
            </a:r>
            <a:endParaRPr lang="en-US" sz="900" dirty="0"/>
          </a:p>
        </p:txBody>
      </p:sp>
      <p:sp>
        <p:nvSpPr>
          <p:cNvPr id="124" name="Text 120"/>
          <p:cNvSpPr txBox="1"/>
          <p:nvPr/>
        </p:nvSpPr>
        <p:spPr>
          <a:xfrm>
            <a:off x="7790688" y="333756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25" name="Shape 121"/>
          <p:cNvSpPr/>
          <p:nvPr/>
        </p:nvSpPr>
        <p:spPr>
          <a:xfrm>
            <a:off x="6373368" y="3538728"/>
            <a:ext cx="235915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126" name="Text 122"/>
          <p:cNvSpPr txBox="1"/>
          <p:nvPr/>
        </p:nvSpPr>
        <p:spPr>
          <a:xfrm>
            <a:off x="6748272" y="3538728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900" dirty="0"/>
          </a:p>
        </p:txBody>
      </p:sp>
      <p:sp>
        <p:nvSpPr>
          <p:cNvPr id="127" name="Text 123"/>
          <p:cNvSpPr txBox="1"/>
          <p:nvPr/>
        </p:nvSpPr>
        <p:spPr>
          <a:xfrm>
            <a:off x="7790688" y="35387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128" name="Text 124"/>
          <p:cNvSpPr txBox="1"/>
          <p:nvPr/>
        </p:nvSpPr>
        <p:spPr>
          <a:xfrm>
            <a:off x="6748272" y="3739896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updatedAt</a:t>
            </a:r>
            <a:endParaRPr lang="en-US" sz="900" dirty="0"/>
          </a:p>
        </p:txBody>
      </p:sp>
      <p:sp>
        <p:nvSpPr>
          <p:cNvPr id="129" name="Text 125"/>
          <p:cNvSpPr txBox="1"/>
          <p:nvPr/>
        </p:nvSpPr>
        <p:spPr>
          <a:xfrm>
            <a:off x="7790688" y="373989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130" name="Shape 126"/>
          <p:cNvSpPr/>
          <p:nvPr/>
        </p:nvSpPr>
        <p:spPr>
          <a:xfrm>
            <a:off x="9272016" y="1417320"/>
            <a:ext cx="23774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131" name="Shape 127"/>
          <p:cNvSpPr/>
          <p:nvPr/>
        </p:nvSpPr>
        <p:spPr>
          <a:xfrm>
            <a:off x="9272016" y="1417320"/>
            <a:ext cx="2377440" cy="310896"/>
          </a:xfrm>
          <a:prstGeom prst="rect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sp>
        <p:nvSpPr>
          <p:cNvPr id="132" name="Text 128"/>
          <p:cNvSpPr txBox="1"/>
          <p:nvPr/>
        </p:nvSpPr>
        <p:spPr>
          <a:xfrm>
            <a:off x="9363456" y="14173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invitaciones_protectora</a:t>
            </a:r>
            <a:endParaRPr lang="en-US" sz="1100" dirty="0"/>
          </a:p>
        </p:txBody>
      </p:sp>
      <p:sp>
        <p:nvSpPr>
          <p:cNvPr id="133" name="Text 129"/>
          <p:cNvSpPr txBox="1"/>
          <p:nvPr/>
        </p:nvSpPr>
        <p:spPr>
          <a:xfrm>
            <a:off x="9336024" y="172821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134" name="Text 130"/>
          <p:cNvSpPr txBox="1"/>
          <p:nvPr/>
        </p:nvSpPr>
        <p:spPr>
          <a:xfrm>
            <a:off x="9656064" y="1728216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35" name="Text 131"/>
          <p:cNvSpPr txBox="1"/>
          <p:nvPr/>
        </p:nvSpPr>
        <p:spPr>
          <a:xfrm>
            <a:off x="10698480" y="172821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36" name="Shape 132"/>
          <p:cNvSpPr/>
          <p:nvPr/>
        </p:nvSpPr>
        <p:spPr>
          <a:xfrm>
            <a:off x="9281160" y="1929384"/>
            <a:ext cx="235915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137" name="Text 133"/>
          <p:cNvSpPr txBox="1"/>
          <p:nvPr/>
        </p:nvSpPr>
        <p:spPr>
          <a:xfrm>
            <a:off x="9336024" y="192938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UQ</a:t>
            </a:r>
            <a:endParaRPr lang="en-US" sz="700" dirty="0"/>
          </a:p>
        </p:txBody>
      </p:sp>
      <p:sp>
        <p:nvSpPr>
          <p:cNvPr id="138" name="Text 134"/>
          <p:cNvSpPr txBox="1"/>
          <p:nvPr/>
        </p:nvSpPr>
        <p:spPr>
          <a:xfrm>
            <a:off x="9656064" y="1929384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900" dirty="0"/>
          </a:p>
        </p:txBody>
      </p:sp>
      <p:sp>
        <p:nvSpPr>
          <p:cNvPr id="139" name="Text 135"/>
          <p:cNvSpPr txBox="1"/>
          <p:nvPr/>
        </p:nvSpPr>
        <p:spPr>
          <a:xfrm>
            <a:off x="10698480" y="192938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40" name="Text 136"/>
          <p:cNvSpPr txBox="1"/>
          <p:nvPr/>
        </p:nvSpPr>
        <p:spPr>
          <a:xfrm>
            <a:off x="9336024" y="213055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141" name="Text 137"/>
          <p:cNvSpPr txBox="1"/>
          <p:nvPr/>
        </p:nvSpPr>
        <p:spPr>
          <a:xfrm>
            <a:off x="9656064" y="2130552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protectoraId</a:t>
            </a:r>
            <a:endParaRPr lang="en-US" sz="900" dirty="0"/>
          </a:p>
        </p:txBody>
      </p:sp>
      <p:sp>
        <p:nvSpPr>
          <p:cNvPr id="142" name="Text 138"/>
          <p:cNvSpPr txBox="1"/>
          <p:nvPr/>
        </p:nvSpPr>
        <p:spPr>
          <a:xfrm>
            <a:off x="10698480" y="213055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43" name="Shape 139"/>
          <p:cNvSpPr/>
          <p:nvPr/>
        </p:nvSpPr>
        <p:spPr>
          <a:xfrm>
            <a:off x="9281160" y="2331720"/>
            <a:ext cx="235915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144" name="Text 140"/>
          <p:cNvSpPr txBox="1"/>
          <p:nvPr/>
        </p:nvSpPr>
        <p:spPr>
          <a:xfrm>
            <a:off x="9656064" y="2331720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45" name="Text 141"/>
          <p:cNvSpPr txBox="1"/>
          <p:nvPr/>
        </p:nvSpPr>
        <p:spPr>
          <a:xfrm>
            <a:off x="10698480" y="233172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46" name="Text 142"/>
          <p:cNvSpPr txBox="1"/>
          <p:nvPr/>
        </p:nvSpPr>
        <p:spPr>
          <a:xfrm>
            <a:off x="9656064" y="2532888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900" dirty="0"/>
          </a:p>
        </p:txBody>
      </p:sp>
      <p:sp>
        <p:nvSpPr>
          <p:cNvPr id="147" name="Text 143"/>
          <p:cNvSpPr txBox="1"/>
          <p:nvPr/>
        </p:nvSpPr>
        <p:spPr>
          <a:xfrm>
            <a:off x="10698480" y="253288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800" dirty="0"/>
          </a:p>
        </p:txBody>
      </p:sp>
      <p:sp>
        <p:nvSpPr>
          <p:cNvPr id="148" name="Shape 144"/>
          <p:cNvSpPr/>
          <p:nvPr/>
        </p:nvSpPr>
        <p:spPr>
          <a:xfrm>
            <a:off x="9281160" y="2734056"/>
            <a:ext cx="235915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149" name="Text 145"/>
          <p:cNvSpPr txBox="1"/>
          <p:nvPr/>
        </p:nvSpPr>
        <p:spPr>
          <a:xfrm>
            <a:off x="9656064" y="2734056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expiresAt</a:t>
            </a:r>
            <a:endParaRPr lang="en-US" sz="900" dirty="0"/>
          </a:p>
        </p:txBody>
      </p:sp>
      <p:sp>
        <p:nvSpPr>
          <p:cNvPr id="150" name="Text 146"/>
          <p:cNvSpPr txBox="1"/>
          <p:nvPr/>
        </p:nvSpPr>
        <p:spPr>
          <a:xfrm>
            <a:off x="10698480" y="273405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151" name="Text 147"/>
          <p:cNvSpPr txBox="1"/>
          <p:nvPr/>
        </p:nvSpPr>
        <p:spPr>
          <a:xfrm>
            <a:off x="9656064" y="2935224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usedAt</a:t>
            </a:r>
            <a:endParaRPr lang="en-US" sz="900" dirty="0"/>
          </a:p>
        </p:txBody>
      </p:sp>
      <p:sp>
        <p:nvSpPr>
          <p:cNvPr id="152" name="Text 148"/>
          <p:cNvSpPr txBox="1"/>
          <p:nvPr/>
        </p:nvSpPr>
        <p:spPr>
          <a:xfrm>
            <a:off x="10698480" y="293522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153" name="Shape 149"/>
          <p:cNvSpPr/>
          <p:nvPr/>
        </p:nvSpPr>
        <p:spPr>
          <a:xfrm>
            <a:off x="9281160" y="3136392"/>
            <a:ext cx="235915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154" name="Text 150"/>
          <p:cNvSpPr txBox="1"/>
          <p:nvPr/>
        </p:nvSpPr>
        <p:spPr>
          <a:xfrm>
            <a:off x="9656064" y="3136392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900" dirty="0"/>
          </a:p>
        </p:txBody>
      </p:sp>
      <p:sp>
        <p:nvSpPr>
          <p:cNvPr id="155" name="Text 151"/>
          <p:cNvSpPr txBox="1"/>
          <p:nvPr/>
        </p:nvSpPr>
        <p:spPr>
          <a:xfrm>
            <a:off x="10698480" y="313639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156" name="Shape 152"/>
          <p:cNvSpPr/>
          <p:nvPr/>
        </p:nvSpPr>
        <p:spPr>
          <a:xfrm>
            <a:off x="9272016" y="3611880"/>
            <a:ext cx="237744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157" name="Shape 153"/>
          <p:cNvSpPr/>
          <p:nvPr/>
        </p:nvSpPr>
        <p:spPr>
          <a:xfrm>
            <a:off x="9272016" y="3611880"/>
            <a:ext cx="2377440" cy="310896"/>
          </a:xfrm>
          <a:prstGeom prst="rect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sp>
        <p:nvSpPr>
          <p:cNvPr id="158" name="Text 154"/>
          <p:cNvSpPr txBox="1"/>
          <p:nvPr/>
        </p:nvSpPr>
        <p:spPr>
          <a:xfrm>
            <a:off x="9363456" y="36118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100" dirty="0"/>
          </a:p>
        </p:txBody>
      </p:sp>
      <p:sp>
        <p:nvSpPr>
          <p:cNvPr id="159" name="Text 155"/>
          <p:cNvSpPr txBox="1"/>
          <p:nvPr/>
        </p:nvSpPr>
        <p:spPr>
          <a:xfrm>
            <a:off x="9336024" y="392277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160" name="Text 156"/>
          <p:cNvSpPr txBox="1"/>
          <p:nvPr/>
        </p:nvSpPr>
        <p:spPr>
          <a:xfrm>
            <a:off x="9656064" y="3922776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61" name="Text 157"/>
          <p:cNvSpPr txBox="1"/>
          <p:nvPr/>
        </p:nvSpPr>
        <p:spPr>
          <a:xfrm>
            <a:off x="10698480" y="392277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62" name="Shape 158"/>
          <p:cNvSpPr/>
          <p:nvPr/>
        </p:nvSpPr>
        <p:spPr>
          <a:xfrm>
            <a:off x="9281160" y="4123944"/>
            <a:ext cx="235915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163" name="Text 159"/>
          <p:cNvSpPr txBox="1"/>
          <p:nvPr/>
        </p:nvSpPr>
        <p:spPr>
          <a:xfrm>
            <a:off x="9336024" y="412394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164" name="Text 160"/>
          <p:cNvSpPr txBox="1"/>
          <p:nvPr/>
        </p:nvSpPr>
        <p:spPr>
          <a:xfrm>
            <a:off x="9656064" y="4123944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protectoraId</a:t>
            </a:r>
            <a:endParaRPr lang="en-US" sz="900" dirty="0"/>
          </a:p>
        </p:txBody>
      </p:sp>
      <p:sp>
        <p:nvSpPr>
          <p:cNvPr id="165" name="Text 161"/>
          <p:cNvSpPr txBox="1"/>
          <p:nvPr/>
        </p:nvSpPr>
        <p:spPr>
          <a:xfrm>
            <a:off x="10698480" y="412394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66" name="Text 162"/>
          <p:cNvSpPr txBox="1"/>
          <p:nvPr/>
        </p:nvSpPr>
        <p:spPr>
          <a:xfrm>
            <a:off x="9656064" y="4325112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900" dirty="0"/>
          </a:p>
        </p:txBody>
      </p:sp>
      <p:sp>
        <p:nvSpPr>
          <p:cNvPr id="167" name="Text 163"/>
          <p:cNvSpPr txBox="1"/>
          <p:nvPr/>
        </p:nvSpPr>
        <p:spPr>
          <a:xfrm>
            <a:off x="10698480" y="432511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68" name="Shape 164"/>
          <p:cNvSpPr/>
          <p:nvPr/>
        </p:nvSpPr>
        <p:spPr>
          <a:xfrm>
            <a:off x="9281160" y="4526280"/>
            <a:ext cx="235915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169" name="Text 165"/>
          <p:cNvSpPr txBox="1"/>
          <p:nvPr/>
        </p:nvSpPr>
        <p:spPr>
          <a:xfrm>
            <a:off x="9656064" y="4526280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</a:t>
            </a:r>
            <a:endParaRPr lang="en-US" sz="900" dirty="0"/>
          </a:p>
        </p:txBody>
      </p:sp>
      <p:sp>
        <p:nvSpPr>
          <p:cNvPr id="170" name="Text 166"/>
          <p:cNvSpPr txBox="1"/>
          <p:nvPr/>
        </p:nvSpPr>
        <p:spPr>
          <a:xfrm>
            <a:off x="10698480" y="452628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171" name="Text 167"/>
          <p:cNvSpPr txBox="1"/>
          <p:nvPr/>
        </p:nvSpPr>
        <p:spPr>
          <a:xfrm>
            <a:off x="9656064" y="4727448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leida</a:t>
            </a:r>
            <a:endParaRPr lang="en-US" sz="900" dirty="0"/>
          </a:p>
        </p:txBody>
      </p:sp>
      <p:sp>
        <p:nvSpPr>
          <p:cNvPr id="172" name="Text 168"/>
          <p:cNvSpPr txBox="1"/>
          <p:nvPr/>
        </p:nvSpPr>
        <p:spPr>
          <a:xfrm>
            <a:off x="10698480" y="472744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800" dirty="0"/>
          </a:p>
        </p:txBody>
      </p:sp>
      <p:sp>
        <p:nvSpPr>
          <p:cNvPr id="173" name="Shape 169"/>
          <p:cNvSpPr/>
          <p:nvPr/>
        </p:nvSpPr>
        <p:spPr>
          <a:xfrm>
            <a:off x="9281160" y="4928616"/>
            <a:ext cx="235915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174" name="Text 170"/>
          <p:cNvSpPr txBox="1"/>
          <p:nvPr/>
        </p:nvSpPr>
        <p:spPr>
          <a:xfrm>
            <a:off x="9336024" y="492861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175" name="Text 171"/>
          <p:cNvSpPr txBox="1"/>
          <p:nvPr/>
        </p:nvSpPr>
        <p:spPr>
          <a:xfrm>
            <a:off x="9656064" y="4928616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solicitudId</a:t>
            </a:r>
            <a:endParaRPr lang="en-US" sz="900" dirty="0"/>
          </a:p>
        </p:txBody>
      </p:sp>
      <p:sp>
        <p:nvSpPr>
          <p:cNvPr id="176" name="Text 172"/>
          <p:cNvSpPr txBox="1"/>
          <p:nvPr/>
        </p:nvSpPr>
        <p:spPr>
          <a:xfrm>
            <a:off x="10698480" y="492861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77" name="Text 173"/>
          <p:cNvSpPr txBox="1"/>
          <p:nvPr/>
        </p:nvSpPr>
        <p:spPr>
          <a:xfrm>
            <a:off x="9656064" y="5129784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900" dirty="0"/>
          </a:p>
        </p:txBody>
      </p:sp>
      <p:sp>
        <p:nvSpPr>
          <p:cNvPr id="178" name="Text 174"/>
          <p:cNvSpPr txBox="1"/>
          <p:nvPr/>
        </p:nvSpPr>
        <p:spPr>
          <a:xfrm>
            <a:off x="10698480" y="512978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179" name="Shape 175"/>
          <p:cNvSpPr/>
          <p:nvPr/>
        </p:nvSpPr>
        <p:spPr>
          <a:xfrm>
            <a:off x="9272016" y="5623560"/>
            <a:ext cx="23774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180" name="Shape 176"/>
          <p:cNvSpPr/>
          <p:nvPr/>
        </p:nvSpPr>
        <p:spPr>
          <a:xfrm>
            <a:off x="9272016" y="5623560"/>
            <a:ext cx="2377440" cy="310896"/>
          </a:xfrm>
          <a:prstGeom prst="rect">
            <a:avLst/>
          </a:prstGeom>
          <a:solidFill>
            <a:srgbClr val="C8956C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181" name="Text 177"/>
          <p:cNvSpPr txBox="1"/>
          <p:nvPr/>
        </p:nvSpPr>
        <p:spPr>
          <a:xfrm>
            <a:off x="9363456" y="56235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solicitudes_adopcion</a:t>
            </a:r>
            <a:endParaRPr lang="en-US" sz="1100" dirty="0"/>
          </a:p>
        </p:txBody>
      </p:sp>
      <p:sp>
        <p:nvSpPr>
          <p:cNvPr id="182" name="Text 178"/>
          <p:cNvSpPr txBox="1"/>
          <p:nvPr/>
        </p:nvSpPr>
        <p:spPr>
          <a:xfrm>
            <a:off x="9363456" y="56235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i="1" dirty="0">
                <a:solidFill>
                  <a:srgbClr val="FD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DER 3</a:t>
            </a:r>
            <a:endParaRPr lang="en-US" sz="800" dirty="0"/>
          </a:p>
        </p:txBody>
      </p:sp>
      <p:sp>
        <p:nvSpPr>
          <p:cNvPr id="183" name="Text 179"/>
          <p:cNvSpPr txBox="1"/>
          <p:nvPr/>
        </p:nvSpPr>
        <p:spPr>
          <a:xfrm>
            <a:off x="9336024" y="593445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184" name="Text 180"/>
          <p:cNvSpPr txBox="1"/>
          <p:nvPr/>
        </p:nvSpPr>
        <p:spPr>
          <a:xfrm>
            <a:off x="9656064" y="5934456"/>
            <a:ext cx="10899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85" name="Text 181"/>
          <p:cNvSpPr txBox="1"/>
          <p:nvPr/>
        </p:nvSpPr>
        <p:spPr>
          <a:xfrm>
            <a:off x="10698480" y="593445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86" name="Shape 182"/>
          <p:cNvSpPr/>
          <p:nvPr/>
        </p:nvSpPr>
        <p:spPr>
          <a:xfrm>
            <a:off x="3191256" y="1828800"/>
            <a:ext cx="265176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87" name="Shape 183"/>
          <p:cNvSpPr/>
          <p:nvPr/>
        </p:nvSpPr>
        <p:spPr>
          <a:xfrm>
            <a:off x="3191256" y="1828800"/>
            <a:ext cx="0" cy="402336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88" name="Shape 184"/>
          <p:cNvSpPr/>
          <p:nvPr/>
        </p:nvSpPr>
        <p:spPr>
          <a:xfrm>
            <a:off x="2926080" y="2231136"/>
            <a:ext cx="265176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89" name="Shape 185"/>
          <p:cNvSpPr/>
          <p:nvPr/>
        </p:nvSpPr>
        <p:spPr>
          <a:xfrm>
            <a:off x="3364992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90" name="Shape 186"/>
          <p:cNvSpPr/>
          <p:nvPr/>
        </p:nvSpPr>
        <p:spPr>
          <a:xfrm>
            <a:off x="3310128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91" name="Shape 187"/>
          <p:cNvSpPr/>
          <p:nvPr/>
        </p:nvSpPr>
        <p:spPr>
          <a:xfrm>
            <a:off x="2926080" y="2157984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92" name="Shape 188"/>
          <p:cNvSpPr/>
          <p:nvPr/>
        </p:nvSpPr>
        <p:spPr>
          <a:xfrm flipV="1">
            <a:off x="2926080" y="2231136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93" name="Shape 189"/>
          <p:cNvSpPr/>
          <p:nvPr/>
        </p:nvSpPr>
        <p:spPr>
          <a:xfrm>
            <a:off x="3104388" y="2189988"/>
            <a:ext cx="82296" cy="82296"/>
          </a:xfrm>
          <a:prstGeom prst="ellipse">
            <a:avLst/>
          </a:prstGeom>
          <a:solidFill>
            <a:srgbClr val="FDF6EE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194" name="Shape 190"/>
          <p:cNvSpPr/>
          <p:nvPr/>
        </p:nvSpPr>
        <p:spPr>
          <a:xfrm>
            <a:off x="3191256" y="1828800"/>
            <a:ext cx="265176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95" name="Shape 191"/>
          <p:cNvSpPr/>
          <p:nvPr/>
        </p:nvSpPr>
        <p:spPr>
          <a:xfrm>
            <a:off x="3191256" y="1828800"/>
            <a:ext cx="0" cy="2212848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96" name="Shape 192"/>
          <p:cNvSpPr/>
          <p:nvPr/>
        </p:nvSpPr>
        <p:spPr>
          <a:xfrm>
            <a:off x="2926080" y="4041648"/>
            <a:ext cx="265176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97" name="Shape 193"/>
          <p:cNvSpPr/>
          <p:nvPr/>
        </p:nvSpPr>
        <p:spPr>
          <a:xfrm>
            <a:off x="3364992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98" name="Shape 194"/>
          <p:cNvSpPr/>
          <p:nvPr/>
        </p:nvSpPr>
        <p:spPr>
          <a:xfrm>
            <a:off x="3310128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99" name="Shape 195"/>
          <p:cNvSpPr/>
          <p:nvPr/>
        </p:nvSpPr>
        <p:spPr>
          <a:xfrm>
            <a:off x="3017520" y="3968496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00" name="Shape 196"/>
          <p:cNvSpPr/>
          <p:nvPr/>
        </p:nvSpPr>
        <p:spPr>
          <a:xfrm>
            <a:off x="3072384" y="3968496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01" name="Shape 197"/>
          <p:cNvSpPr/>
          <p:nvPr/>
        </p:nvSpPr>
        <p:spPr>
          <a:xfrm>
            <a:off x="3191256" y="1828800"/>
            <a:ext cx="265176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02" name="Shape 198"/>
          <p:cNvSpPr/>
          <p:nvPr/>
        </p:nvSpPr>
        <p:spPr>
          <a:xfrm>
            <a:off x="3191256" y="1828800"/>
            <a:ext cx="0" cy="2761488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03" name="Shape 199"/>
          <p:cNvSpPr/>
          <p:nvPr/>
        </p:nvSpPr>
        <p:spPr>
          <a:xfrm>
            <a:off x="3191256" y="4590288"/>
            <a:ext cx="265176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04" name="Shape 200"/>
          <p:cNvSpPr/>
          <p:nvPr/>
        </p:nvSpPr>
        <p:spPr>
          <a:xfrm>
            <a:off x="3364992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05" name="Shape 201"/>
          <p:cNvSpPr/>
          <p:nvPr/>
        </p:nvSpPr>
        <p:spPr>
          <a:xfrm>
            <a:off x="3310128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06" name="Shape 202"/>
          <p:cNvSpPr/>
          <p:nvPr/>
        </p:nvSpPr>
        <p:spPr>
          <a:xfrm flipV="1">
            <a:off x="3310128" y="4517136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07" name="Shape 203"/>
          <p:cNvSpPr/>
          <p:nvPr/>
        </p:nvSpPr>
        <p:spPr>
          <a:xfrm>
            <a:off x="3310128" y="4590288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08" name="Shape 204"/>
          <p:cNvSpPr/>
          <p:nvPr/>
        </p:nvSpPr>
        <p:spPr>
          <a:xfrm>
            <a:off x="3195828" y="4549140"/>
            <a:ext cx="82296" cy="82296"/>
          </a:xfrm>
          <a:prstGeom prst="ellipse">
            <a:avLst/>
          </a:prstGeom>
          <a:solidFill>
            <a:srgbClr val="FDF6EE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209" name="Shape 205"/>
          <p:cNvSpPr/>
          <p:nvPr/>
        </p:nvSpPr>
        <p:spPr>
          <a:xfrm>
            <a:off x="5833872" y="1828800"/>
            <a:ext cx="18288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10" name="Shape 206"/>
          <p:cNvSpPr/>
          <p:nvPr/>
        </p:nvSpPr>
        <p:spPr>
          <a:xfrm>
            <a:off x="6016752" y="1828800"/>
            <a:ext cx="0" cy="160934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11" name="Shape 207"/>
          <p:cNvSpPr/>
          <p:nvPr/>
        </p:nvSpPr>
        <p:spPr>
          <a:xfrm>
            <a:off x="6016752" y="3438144"/>
            <a:ext cx="347472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12" name="Shape 208"/>
          <p:cNvSpPr/>
          <p:nvPr/>
        </p:nvSpPr>
        <p:spPr>
          <a:xfrm>
            <a:off x="5925312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13" name="Shape 209"/>
          <p:cNvSpPr/>
          <p:nvPr/>
        </p:nvSpPr>
        <p:spPr>
          <a:xfrm>
            <a:off x="5980176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14" name="Shape 210"/>
          <p:cNvSpPr/>
          <p:nvPr/>
        </p:nvSpPr>
        <p:spPr>
          <a:xfrm flipV="1">
            <a:off x="6217920" y="3364992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15" name="Shape 211"/>
          <p:cNvSpPr/>
          <p:nvPr/>
        </p:nvSpPr>
        <p:spPr>
          <a:xfrm>
            <a:off x="6217920" y="3438144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16" name="Shape 212"/>
          <p:cNvSpPr/>
          <p:nvPr/>
        </p:nvSpPr>
        <p:spPr>
          <a:xfrm>
            <a:off x="6103620" y="3396996"/>
            <a:ext cx="82296" cy="82296"/>
          </a:xfrm>
          <a:prstGeom prst="ellipse">
            <a:avLst/>
          </a:prstGeom>
          <a:solidFill>
            <a:srgbClr val="FDF6EE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217" name="Shape 213"/>
          <p:cNvSpPr/>
          <p:nvPr/>
        </p:nvSpPr>
        <p:spPr>
          <a:xfrm>
            <a:off x="6199632" y="1828800"/>
            <a:ext cx="164592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18" name="Shape 214"/>
          <p:cNvSpPr/>
          <p:nvPr/>
        </p:nvSpPr>
        <p:spPr>
          <a:xfrm>
            <a:off x="6199632" y="1828800"/>
            <a:ext cx="0" cy="2962656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19" name="Shape 215"/>
          <p:cNvSpPr/>
          <p:nvPr/>
        </p:nvSpPr>
        <p:spPr>
          <a:xfrm>
            <a:off x="5833872" y="4791456"/>
            <a:ext cx="36576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20" name="Shape 216"/>
          <p:cNvSpPr/>
          <p:nvPr/>
        </p:nvSpPr>
        <p:spPr>
          <a:xfrm>
            <a:off x="6272784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21" name="Shape 217"/>
          <p:cNvSpPr/>
          <p:nvPr/>
        </p:nvSpPr>
        <p:spPr>
          <a:xfrm>
            <a:off x="6217920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22" name="Shape 218"/>
          <p:cNvSpPr/>
          <p:nvPr/>
        </p:nvSpPr>
        <p:spPr>
          <a:xfrm>
            <a:off x="5833872" y="4718304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23" name="Shape 219"/>
          <p:cNvSpPr/>
          <p:nvPr/>
        </p:nvSpPr>
        <p:spPr>
          <a:xfrm flipV="1">
            <a:off x="5833872" y="4791456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24" name="Shape 220"/>
          <p:cNvSpPr/>
          <p:nvPr/>
        </p:nvSpPr>
        <p:spPr>
          <a:xfrm>
            <a:off x="6012180" y="4750308"/>
            <a:ext cx="82296" cy="82296"/>
          </a:xfrm>
          <a:prstGeom prst="ellipse">
            <a:avLst/>
          </a:prstGeom>
          <a:solidFill>
            <a:srgbClr val="FDF6EE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225" name="Shape 221"/>
          <p:cNvSpPr/>
          <p:nvPr/>
        </p:nvSpPr>
        <p:spPr>
          <a:xfrm>
            <a:off x="8741664" y="1828800"/>
            <a:ext cx="265176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26" name="Shape 222"/>
          <p:cNvSpPr/>
          <p:nvPr/>
        </p:nvSpPr>
        <p:spPr>
          <a:xfrm>
            <a:off x="9006840" y="1828800"/>
            <a:ext cx="0" cy="402336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27" name="Shape 223"/>
          <p:cNvSpPr/>
          <p:nvPr/>
        </p:nvSpPr>
        <p:spPr>
          <a:xfrm>
            <a:off x="9006840" y="2231136"/>
            <a:ext cx="265176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28" name="Shape 224"/>
          <p:cNvSpPr/>
          <p:nvPr/>
        </p:nvSpPr>
        <p:spPr>
          <a:xfrm>
            <a:off x="8833104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29" name="Shape 225"/>
          <p:cNvSpPr/>
          <p:nvPr/>
        </p:nvSpPr>
        <p:spPr>
          <a:xfrm>
            <a:off x="8887968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30" name="Shape 226"/>
          <p:cNvSpPr/>
          <p:nvPr/>
        </p:nvSpPr>
        <p:spPr>
          <a:xfrm flipV="1">
            <a:off x="9125712" y="2157984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31" name="Shape 227"/>
          <p:cNvSpPr/>
          <p:nvPr/>
        </p:nvSpPr>
        <p:spPr>
          <a:xfrm>
            <a:off x="9125712" y="2231136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32" name="Shape 228"/>
          <p:cNvSpPr/>
          <p:nvPr/>
        </p:nvSpPr>
        <p:spPr>
          <a:xfrm>
            <a:off x="9011412" y="2189988"/>
            <a:ext cx="82296" cy="82296"/>
          </a:xfrm>
          <a:prstGeom prst="ellipse">
            <a:avLst/>
          </a:prstGeom>
          <a:solidFill>
            <a:srgbClr val="FDF6EE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233" name="Shape 229"/>
          <p:cNvSpPr/>
          <p:nvPr/>
        </p:nvSpPr>
        <p:spPr>
          <a:xfrm>
            <a:off x="8741664" y="1828800"/>
            <a:ext cx="265176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34" name="Shape 230"/>
          <p:cNvSpPr/>
          <p:nvPr/>
        </p:nvSpPr>
        <p:spPr>
          <a:xfrm>
            <a:off x="9006840" y="1828800"/>
            <a:ext cx="0" cy="2395728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35" name="Shape 231"/>
          <p:cNvSpPr/>
          <p:nvPr/>
        </p:nvSpPr>
        <p:spPr>
          <a:xfrm>
            <a:off x="9006840" y="4224528"/>
            <a:ext cx="265176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36" name="Shape 232"/>
          <p:cNvSpPr/>
          <p:nvPr/>
        </p:nvSpPr>
        <p:spPr>
          <a:xfrm>
            <a:off x="8833104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37" name="Shape 233"/>
          <p:cNvSpPr/>
          <p:nvPr/>
        </p:nvSpPr>
        <p:spPr>
          <a:xfrm>
            <a:off x="8887968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38" name="Shape 234"/>
          <p:cNvSpPr/>
          <p:nvPr/>
        </p:nvSpPr>
        <p:spPr>
          <a:xfrm flipV="1">
            <a:off x="9125712" y="4151376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39" name="Shape 235"/>
          <p:cNvSpPr/>
          <p:nvPr/>
        </p:nvSpPr>
        <p:spPr>
          <a:xfrm>
            <a:off x="9125712" y="4224528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40" name="Shape 236"/>
          <p:cNvSpPr/>
          <p:nvPr/>
        </p:nvSpPr>
        <p:spPr>
          <a:xfrm>
            <a:off x="9011412" y="4183380"/>
            <a:ext cx="82296" cy="82296"/>
          </a:xfrm>
          <a:prstGeom prst="ellipse">
            <a:avLst/>
          </a:prstGeom>
          <a:solidFill>
            <a:srgbClr val="FDF6EE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241" name="Shape 237"/>
          <p:cNvSpPr/>
          <p:nvPr/>
        </p:nvSpPr>
        <p:spPr>
          <a:xfrm>
            <a:off x="11649456" y="6035040"/>
            <a:ext cx="219456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42" name="Shape 238"/>
          <p:cNvSpPr/>
          <p:nvPr/>
        </p:nvSpPr>
        <p:spPr>
          <a:xfrm>
            <a:off x="11868912" y="5029200"/>
            <a:ext cx="0" cy="100584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43" name="Shape 239"/>
          <p:cNvSpPr/>
          <p:nvPr/>
        </p:nvSpPr>
        <p:spPr>
          <a:xfrm>
            <a:off x="11649456" y="5029200"/>
            <a:ext cx="219456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44" name="Shape 240"/>
          <p:cNvSpPr/>
          <p:nvPr/>
        </p:nvSpPr>
        <p:spPr>
          <a:xfrm>
            <a:off x="11740896" y="596188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45" name="Shape 241"/>
          <p:cNvSpPr/>
          <p:nvPr/>
        </p:nvSpPr>
        <p:spPr>
          <a:xfrm>
            <a:off x="11791188" y="5993892"/>
            <a:ext cx="82296" cy="82296"/>
          </a:xfrm>
          <a:prstGeom prst="ellipse">
            <a:avLst/>
          </a:prstGeom>
          <a:solidFill>
            <a:srgbClr val="FDF6EE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246" name="Shape 242"/>
          <p:cNvSpPr/>
          <p:nvPr/>
        </p:nvSpPr>
        <p:spPr>
          <a:xfrm>
            <a:off x="11649456" y="4956048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47" name="Shape 243"/>
          <p:cNvSpPr/>
          <p:nvPr/>
        </p:nvSpPr>
        <p:spPr>
          <a:xfrm flipV="1">
            <a:off x="11649456" y="5029200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48" name="Shape 244"/>
          <p:cNvSpPr/>
          <p:nvPr/>
        </p:nvSpPr>
        <p:spPr>
          <a:xfrm>
            <a:off x="11827764" y="4988052"/>
            <a:ext cx="82296" cy="82296"/>
          </a:xfrm>
          <a:prstGeom prst="ellipse">
            <a:avLst/>
          </a:prstGeom>
          <a:solidFill>
            <a:srgbClr val="FDF6EE"/>
          </a:solidFill>
          <a:ln w="12700">
            <a:solidFill>
              <a:srgbClr val="C8956C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4747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3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2 · Mascotas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8961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Legajo digital: raza, vacunas, seguimiento y la nueva tabla de fotos y videos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1384280" y="6172200"/>
            <a:ext cx="365760" cy="365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206240" y="1417320"/>
            <a:ext cx="2743200" cy="4736592"/>
          </a:xfrm>
          <a:prstGeom prst="rect">
            <a:avLst/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206240" y="1417320"/>
            <a:ext cx="2743200" cy="310896"/>
          </a:xfrm>
          <a:prstGeom prst="rect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297680" y="14173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mascotas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270248" y="172821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11" name="Text 7"/>
          <p:cNvSpPr txBox="1"/>
          <p:nvPr/>
        </p:nvSpPr>
        <p:spPr>
          <a:xfrm>
            <a:off x="4590288" y="172821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5852160" y="172821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215384" y="1929384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90288" y="192938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5852160" y="192938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4590288" y="213055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especie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5852160" y="21305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Especie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215384" y="2331720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270248" y="233172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20" name="Text 16"/>
          <p:cNvSpPr txBox="1"/>
          <p:nvPr/>
        </p:nvSpPr>
        <p:spPr>
          <a:xfrm>
            <a:off x="4590288" y="233172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razaId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5852160" y="233172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4590288" y="253288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razaTexto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5852160" y="25328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4215384" y="2734056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590288" y="273405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edadAproxMeses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5852160" y="27340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4590288" y="293522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edadTexto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5852160" y="293522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4215384" y="3136392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590288" y="313639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sexo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5852160" y="313639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32" name="Text 28"/>
          <p:cNvSpPr txBox="1"/>
          <p:nvPr/>
        </p:nvSpPr>
        <p:spPr>
          <a:xfrm>
            <a:off x="4590288" y="333756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tamanio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5852160" y="333756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4215384" y="3538728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590288" y="353872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descripcion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5852160" y="35387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37" name="Text 33"/>
          <p:cNvSpPr txBox="1"/>
          <p:nvPr/>
        </p:nvSpPr>
        <p:spPr>
          <a:xfrm>
            <a:off x="4590288" y="373989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estadoSalud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5852160" y="373989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varchar(280)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4215384" y="3941064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4590288" y="394106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aptaDepartamento</a:t>
            </a:r>
            <a:endParaRPr lang="en-US" sz="900" dirty="0"/>
          </a:p>
        </p:txBody>
      </p:sp>
      <p:sp>
        <p:nvSpPr>
          <p:cNvPr id="41" name="Text 37"/>
          <p:cNvSpPr txBox="1"/>
          <p:nvPr/>
        </p:nvSpPr>
        <p:spPr>
          <a:xfrm>
            <a:off x="5852160" y="394106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800" dirty="0"/>
          </a:p>
        </p:txBody>
      </p:sp>
      <p:sp>
        <p:nvSpPr>
          <p:cNvPr id="42" name="Text 38"/>
          <p:cNvSpPr txBox="1"/>
          <p:nvPr/>
        </p:nvSpPr>
        <p:spPr>
          <a:xfrm>
            <a:off x="4590288" y="414223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aptaNinos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5852160" y="414223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4215384" y="4343400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4590288" y="434340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nivelEnergia</a:t>
            </a:r>
            <a:endParaRPr lang="en-US" sz="900" dirty="0"/>
          </a:p>
        </p:txBody>
      </p:sp>
      <p:sp>
        <p:nvSpPr>
          <p:cNvPr id="46" name="Text 42"/>
          <p:cNvSpPr txBox="1"/>
          <p:nvPr/>
        </p:nvSpPr>
        <p:spPr>
          <a:xfrm>
            <a:off x="5852160" y="434340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47" name="Text 43"/>
          <p:cNvSpPr txBox="1"/>
          <p:nvPr/>
        </p:nvSpPr>
        <p:spPr>
          <a:xfrm>
            <a:off x="4590288" y="454456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conviveOtrasMascotas</a:t>
            </a:r>
            <a:endParaRPr lang="en-US" sz="900" dirty="0"/>
          </a:p>
        </p:txBody>
      </p:sp>
      <p:sp>
        <p:nvSpPr>
          <p:cNvPr id="48" name="Text 44"/>
          <p:cNvSpPr txBox="1"/>
          <p:nvPr/>
        </p:nvSpPr>
        <p:spPr>
          <a:xfrm>
            <a:off x="5852160" y="454456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800" dirty="0"/>
          </a:p>
        </p:txBody>
      </p:sp>
      <p:sp>
        <p:nvSpPr>
          <p:cNvPr id="49" name="Shape 45"/>
          <p:cNvSpPr/>
          <p:nvPr/>
        </p:nvSpPr>
        <p:spPr>
          <a:xfrm>
            <a:off x="4215384" y="4745736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4590288" y="474573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900" dirty="0"/>
          </a:p>
        </p:txBody>
      </p:sp>
      <p:sp>
        <p:nvSpPr>
          <p:cNvPr id="51" name="Text 47"/>
          <p:cNvSpPr txBox="1"/>
          <p:nvPr/>
        </p:nvSpPr>
        <p:spPr>
          <a:xfrm>
            <a:off x="5852160" y="47457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EstadoMascota</a:t>
            </a:r>
            <a:endParaRPr lang="en-US" sz="800" dirty="0"/>
          </a:p>
        </p:txBody>
      </p:sp>
      <p:sp>
        <p:nvSpPr>
          <p:cNvPr id="52" name="Text 48"/>
          <p:cNvSpPr txBox="1"/>
          <p:nvPr/>
        </p:nvSpPr>
        <p:spPr>
          <a:xfrm>
            <a:off x="4590288" y="494690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900" dirty="0"/>
          </a:p>
        </p:txBody>
      </p:sp>
      <p:sp>
        <p:nvSpPr>
          <p:cNvPr id="53" name="Text 49"/>
          <p:cNvSpPr txBox="1"/>
          <p:nvPr/>
        </p:nvSpPr>
        <p:spPr>
          <a:xfrm>
            <a:off x="5852160" y="494690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800" dirty="0"/>
          </a:p>
        </p:txBody>
      </p:sp>
      <p:sp>
        <p:nvSpPr>
          <p:cNvPr id="54" name="Shape 50"/>
          <p:cNvSpPr/>
          <p:nvPr/>
        </p:nvSpPr>
        <p:spPr>
          <a:xfrm>
            <a:off x="4215384" y="5148072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4590288" y="514807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fechaIngreso</a:t>
            </a:r>
            <a:endParaRPr lang="en-US" sz="900" dirty="0"/>
          </a:p>
        </p:txBody>
      </p:sp>
      <p:sp>
        <p:nvSpPr>
          <p:cNvPr id="56" name="Text 52"/>
          <p:cNvSpPr txBox="1"/>
          <p:nvPr/>
        </p:nvSpPr>
        <p:spPr>
          <a:xfrm>
            <a:off x="5852160" y="514807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57" name="Text 53"/>
          <p:cNvSpPr txBox="1"/>
          <p:nvPr/>
        </p:nvSpPr>
        <p:spPr>
          <a:xfrm>
            <a:off x="4270248" y="534924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58" name="Text 54"/>
          <p:cNvSpPr txBox="1"/>
          <p:nvPr/>
        </p:nvSpPr>
        <p:spPr>
          <a:xfrm>
            <a:off x="4590288" y="534924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protectoraId</a:t>
            </a:r>
            <a:endParaRPr lang="en-US" sz="900" dirty="0"/>
          </a:p>
        </p:txBody>
      </p:sp>
      <p:sp>
        <p:nvSpPr>
          <p:cNvPr id="59" name="Text 55"/>
          <p:cNvSpPr txBox="1"/>
          <p:nvPr/>
        </p:nvSpPr>
        <p:spPr>
          <a:xfrm>
            <a:off x="5852160" y="534924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60" name="Shape 56"/>
          <p:cNvSpPr/>
          <p:nvPr/>
        </p:nvSpPr>
        <p:spPr>
          <a:xfrm>
            <a:off x="4215384" y="5550408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4270248" y="555040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62" name="Text 58"/>
          <p:cNvSpPr txBox="1"/>
          <p:nvPr/>
        </p:nvSpPr>
        <p:spPr>
          <a:xfrm>
            <a:off x="4590288" y="555040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adoptanteId</a:t>
            </a:r>
            <a:endParaRPr lang="en-US" sz="900" dirty="0"/>
          </a:p>
        </p:txBody>
      </p:sp>
      <p:sp>
        <p:nvSpPr>
          <p:cNvPr id="63" name="Text 59"/>
          <p:cNvSpPr txBox="1"/>
          <p:nvPr/>
        </p:nvSpPr>
        <p:spPr>
          <a:xfrm>
            <a:off x="5852160" y="555040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64" name="Text 60"/>
          <p:cNvSpPr txBox="1"/>
          <p:nvPr/>
        </p:nvSpPr>
        <p:spPr>
          <a:xfrm>
            <a:off x="4590288" y="575157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900" dirty="0"/>
          </a:p>
        </p:txBody>
      </p:sp>
      <p:sp>
        <p:nvSpPr>
          <p:cNvPr id="65" name="Text 61"/>
          <p:cNvSpPr txBox="1"/>
          <p:nvPr/>
        </p:nvSpPr>
        <p:spPr>
          <a:xfrm>
            <a:off x="5852160" y="575157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66" name="Shape 62"/>
          <p:cNvSpPr/>
          <p:nvPr/>
        </p:nvSpPr>
        <p:spPr>
          <a:xfrm>
            <a:off x="4215384" y="5952744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4590288" y="595274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updatedAt</a:t>
            </a:r>
            <a:endParaRPr lang="en-US" sz="900" dirty="0"/>
          </a:p>
        </p:txBody>
      </p:sp>
      <p:sp>
        <p:nvSpPr>
          <p:cNvPr id="68" name="Text 64"/>
          <p:cNvSpPr txBox="1"/>
          <p:nvPr/>
        </p:nvSpPr>
        <p:spPr>
          <a:xfrm>
            <a:off x="5852160" y="595274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69" name="Shape 65"/>
          <p:cNvSpPr/>
          <p:nvPr/>
        </p:nvSpPr>
        <p:spPr>
          <a:xfrm>
            <a:off x="548640" y="1417320"/>
            <a:ext cx="265176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70" name="Shape 66"/>
          <p:cNvSpPr/>
          <p:nvPr/>
        </p:nvSpPr>
        <p:spPr>
          <a:xfrm>
            <a:off x="548640" y="1417320"/>
            <a:ext cx="2651760" cy="310896"/>
          </a:xfrm>
          <a:prstGeom prst="rect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640080" y="14173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razas</a:t>
            </a:r>
            <a:endParaRPr lang="en-US" sz="1100" dirty="0"/>
          </a:p>
        </p:txBody>
      </p:sp>
      <p:sp>
        <p:nvSpPr>
          <p:cNvPr id="72" name="Text 68"/>
          <p:cNvSpPr txBox="1"/>
          <p:nvPr/>
        </p:nvSpPr>
        <p:spPr>
          <a:xfrm>
            <a:off x="612648" y="172821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73" name="Text 69"/>
          <p:cNvSpPr txBox="1"/>
          <p:nvPr/>
        </p:nvSpPr>
        <p:spPr>
          <a:xfrm>
            <a:off x="932688" y="1728216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74" name="Text 70"/>
          <p:cNvSpPr txBox="1"/>
          <p:nvPr/>
        </p:nvSpPr>
        <p:spPr>
          <a:xfrm>
            <a:off x="2139696" y="172821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75" name="Shape 71"/>
          <p:cNvSpPr/>
          <p:nvPr/>
        </p:nvSpPr>
        <p:spPr>
          <a:xfrm>
            <a:off x="557784" y="1929384"/>
            <a:ext cx="263347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76" name="Text 72"/>
          <p:cNvSpPr txBox="1"/>
          <p:nvPr/>
        </p:nvSpPr>
        <p:spPr>
          <a:xfrm>
            <a:off x="932688" y="1929384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900" dirty="0"/>
          </a:p>
        </p:txBody>
      </p:sp>
      <p:sp>
        <p:nvSpPr>
          <p:cNvPr id="77" name="Text 73"/>
          <p:cNvSpPr txBox="1"/>
          <p:nvPr/>
        </p:nvSpPr>
        <p:spPr>
          <a:xfrm>
            <a:off x="2139696" y="192938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78" name="Text 74"/>
          <p:cNvSpPr txBox="1"/>
          <p:nvPr/>
        </p:nvSpPr>
        <p:spPr>
          <a:xfrm>
            <a:off x="932688" y="2130552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especie</a:t>
            </a:r>
            <a:endParaRPr lang="en-US" sz="900" dirty="0"/>
          </a:p>
        </p:txBody>
      </p:sp>
      <p:sp>
        <p:nvSpPr>
          <p:cNvPr id="79" name="Text 75"/>
          <p:cNvSpPr txBox="1"/>
          <p:nvPr/>
        </p:nvSpPr>
        <p:spPr>
          <a:xfrm>
            <a:off x="2139696" y="213055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800" dirty="0"/>
          </a:p>
        </p:txBody>
      </p:sp>
      <p:sp>
        <p:nvSpPr>
          <p:cNvPr id="80" name="Shape 76"/>
          <p:cNvSpPr/>
          <p:nvPr/>
        </p:nvSpPr>
        <p:spPr>
          <a:xfrm>
            <a:off x="557784" y="2331720"/>
            <a:ext cx="263347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81" name="Text 77"/>
          <p:cNvSpPr txBox="1"/>
          <p:nvPr/>
        </p:nvSpPr>
        <p:spPr>
          <a:xfrm>
            <a:off x="932688" y="2331720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datos del catálogo</a:t>
            </a:r>
            <a:endParaRPr lang="en-US" sz="900" dirty="0"/>
          </a:p>
        </p:txBody>
      </p:sp>
      <p:sp>
        <p:nvSpPr>
          <p:cNvPr id="82" name="Shape 78"/>
          <p:cNvSpPr/>
          <p:nvPr/>
        </p:nvSpPr>
        <p:spPr>
          <a:xfrm>
            <a:off x="548640" y="2834640"/>
            <a:ext cx="265176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83" name="Shape 79"/>
          <p:cNvSpPr/>
          <p:nvPr/>
        </p:nvSpPr>
        <p:spPr>
          <a:xfrm>
            <a:off x="548640" y="2834640"/>
            <a:ext cx="2651760" cy="310896"/>
          </a:xfrm>
          <a:prstGeom prst="rect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sp>
        <p:nvSpPr>
          <p:cNvPr id="84" name="Text 80"/>
          <p:cNvSpPr txBox="1"/>
          <p:nvPr/>
        </p:nvSpPr>
        <p:spPr>
          <a:xfrm>
            <a:off x="640080" y="28346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vacunaciones</a:t>
            </a:r>
            <a:endParaRPr lang="en-US" sz="1100" dirty="0"/>
          </a:p>
        </p:txBody>
      </p:sp>
      <p:sp>
        <p:nvSpPr>
          <p:cNvPr id="85" name="Text 81"/>
          <p:cNvSpPr txBox="1"/>
          <p:nvPr/>
        </p:nvSpPr>
        <p:spPr>
          <a:xfrm>
            <a:off x="612648" y="314553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86" name="Text 82"/>
          <p:cNvSpPr txBox="1"/>
          <p:nvPr/>
        </p:nvSpPr>
        <p:spPr>
          <a:xfrm>
            <a:off x="932688" y="3145536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87" name="Text 83"/>
          <p:cNvSpPr txBox="1"/>
          <p:nvPr/>
        </p:nvSpPr>
        <p:spPr>
          <a:xfrm>
            <a:off x="2139696" y="314553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88" name="Shape 84"/>
          <p:cNvSpPr/>
          <p:nvPr/>
        </p:nvSpPr>
        <p:spPr>
          <a:xfrm>
            <a:off x="557784" y="3346704"/>
            <a:ext cx="263347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89" name="Text 85"/>
          <p:cNvSpPr txBox="1"/>
          <p:nvPr/>
        </p:nvSpPr>
        <p:spPr>
          <a:xfrm>
            <a:off x="612648" y="334670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90" name="Text 86"/>
          <p:cNvSpPr txBox="1"/>
          <p:nvPr/>
        </p:nvSpPr>
        <p:spPr>
          <a:xfrm>
            <a:off x="932688" y="3346704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mascotaId</a:t>
            </a:r>
            <a:endParaRPr lang="en-US" sz="900" dirty="0"/>
          </a:p>
        </p:txBody>
      </p:sp>
      <p:sp>
        <p:nvSpPr>
          <p:cNvPr id="91" name="Text 87"/>
          <p:cNvSpPr txBox="1"/>
          <p:nvPr/>
        </p:nvSpPr>
        <p:spPr>
          <a:xfrm>
            <a:off x="2139696" y="334670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92" name="Text 88"/>
          <p:cNvSpPr txBox="1"/>
          <p:nvPr/>
        </p:nvSpPr>
        <p:spPr>
          <a:xfrm>
            <a:off x="932688" y="3547872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nombreVacuna</a:t>
            </a:r>
            <a:endParaRPr lang="en-US" sz="900" dirty="0"/>
          </a:p>
        </p:txBody>
      </p:sp>
      <p:sp>
        <p:nvSpPr>
          <p:cNvPr id="93" name="Text 89"/>
          <p:cNvSpPr txBox="1"/>
          <p:nvPr/>
        </p:nvSpPr>
        <p:spPr>
          <a:xfrm>
            <a:off x="2139696" y="354787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94" name="Shape 90"/>
          <p:cNvSpPr/>
          <p:nvPr/>
        </p:nvSpPr>
        <p:spPr>
          <a:xfrm>
            <a:off x="557784" y="3749040"/>
            <a:ext cx="263347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95" name="Text 91"/>
          <p:cNvSpPr txBox="1"/>
          <p:nvPr/>
        </p:nvSpPr>
        <p:spPr>
          <a:xfrm>
            <a:off x="932688" y="3749040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fechaAplicacion</a:t>
            </a:r>
            <a:endParaRPr lang="en-US" sz="900" dirty="0"/>
          </a:p>
        </p:txBody>
      </p:sp>
      <p:sp>
        <p:nvSpPr>
          <p:cNvPr id="96" name="Text 92"/>
          <p:cNvSpPr txBox="1"/>
          <p:nvPr/>
        </p:nvSpPr>
        <p:spPr>
          <a:xfrm>
            <a:off x="2139696" y="374904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97" name="Text 93"/>
          <p:cNvSpPr txBox="1"/>
          <p:nvPr/>
        </p:nvSpPr>
        <p:spPr>
          <a:xfrm>
            <a:off x="932688" y="3950208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proximaDosis</a:t>
            </a:r>
            <a:endParaRPr lang="en-US" sz="900" dirty="0"/>
          </a:p>
        </p:txBody>
      </p:sp>
      <p:sp>
        <p:nvSpPr>
          <p:cNvPr id="98" name="Text 94"/>
          <p:cNvSpPr txBox="1"/>
          <p:nvPr/>
        </p:nvSpPr>
        <p:spPr>
          <a:xfrm>
            <a:off x="2139696" y="395020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99" name="Shape 95"/>
          <p:cNvSpPr/>
          <p:nvPr/>
        </p:nvSpPr>
        <p:spPr>
          <a:xfrm>
            <a:off x="557784" y="4151376"/>
            <a:ext cx="263347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100" name="Text 96"/>
          <p:cNvSpPr txBox="1"/>
          <p:nvPr/>
        </p:nvSpPr>
        <p:spPr>
          <a:xfrm>
            <a:off x="932688" y="4151376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</a:t>
            </a:r>
            <a:endParaRPr lang="en-US" sz="900" dirty="0"/>
          </a:p>
        </p:txBody>
      </p:sp>
      <p:sp>
        <p:nvSpPr>
          <p:cNvPr id="101" name="Text 97"/>
          <p:cNvSpPr txBox="1"/>
          <p:nvPr/>
        </p:nvSpPr>
        <p:spPr>
          <a:xfrm>
            <a:off x="2139696" y="41513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102" name="Text 98"/>
          <p:cNvSpPr txBox="1"/>
          <p:nvPr/>
        </p:nvSpPr>
        <p:spPr>
          <a:xfrm>
            <a:off x="932688" y="4352544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900" dirty="0"/>
          </a:p>
        </p:txBody>
      </p:sp>
      <p:sp>
        <p:nvSpPr>
          <p:cNvPr id="103" name="Text 99"/>
          <p:cNvSpPr txBox="1"/>
          <p:nvPr/>
        </p:nvSpPr>
        <p:spPr>
          <a:xfrm>
            <a:off x="2139696" y="435254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104" name="Shape 100"/>
          <p:cNvSpPr/>
          <p:nvPr/>
        </p:nvSpPr>
        <p:spPr>
          <a:xfrm>
            <a:off x="548640" y="4846320"/>
            <a:ext cx="26517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105" name="Shape 101"/>
          <p:cNvSpPr/>
          <p:nvPr/>
        </p:nvSpPr>
        <p:spPr>
          <a:xfrm>
            <a:off x="548640" y="4846320"/>
            <a:ext cx="2651760" cy="310896"/>
          </a:xfrm>
          <a:prstGeom prst="rect">
            <a:avLst/>
          </a:prstGeom>
          <a:solidFill>
            <a:srgbClr val="C8956C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106" name="Text 102"/>
          <p:cNvSpPr txBox="1"/>
          <p:nvPr/>
        </p:nvSpPr>
        <p:spPr>
          <a:xfrm>
            <a:off x="640080" y="48463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protectoras</a:t>
            </a:r>
            <a:endParaRPr lang="en-US" sz="1100" dirty="0"/>
          </a:p>
        </p:txBody>
      </p:sp>
      <p:sp>
        <p:nvSpPr>
          <p:cNvPr id="107" name="Text 103"/>
          <p:cNvSpPr txBox="1"/>
          <p:nvPr/>
        </p:nvSpPr>
        <p:spPr>
          <a:xfrm>
            <a:off x="640080" y="48463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i="1" dirty="0">
                <a:solidFill>
                  <a:srgbClr val="FD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DER 1</a:t>
            </a:r>
            <a:endParaRPr lang="en-US" sz="800" dirty="0"/>
          </a:p>
        </p:txBody>
      </p:sp>
      <p:sp>
        <p:nvSpPr>
          <p:cNvPr id="108" name="Text 104"/>
          <p:cNvSpPr txBox="1"/>
          <p:nvPr/>
        </p:nvSpPr>
        <p:spPr>
          <a:xfrm>
            <a:off x="612648" y="515721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109" name="Text 105"/>
          <p:cNvSpPr txBox="1"/>
          <p:nvPr/>
        </p:nvSpPr>
        <p:spPr>
          <a:xfrm>
            <a:off x="932688" y="5157216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10" name="Text 106"/>
          <p:cNvSpPr txBox="1"/>
          <p:nvPr/>
        </p:nvSpPr>
        <p:spPr>
          <a:xfrm>
            <a:off x="2139696" y="515721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11" name="Shape 107"/>
          <p:cNvSpPr/>
          <p:nvPr/>
        </p:nvSpPr>
        <p:spPr>
          <a:xfrm>
            <a:off x="548640" y="5623560"/>
            <a:ext cx="26517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112" name="Shape 108"/>
          <p:cNvSpPr/>
          <p:nvPr/>
        </p:nvSpPr>
        <p:spPr>
          <a:xfrm>
            <a:off x="548640" y="5623560"/>
            <a:ext cx="2651760" cy="310896"/>
          </a:xfrm>
          <a:prstGeom prst="rect">
            <a:avLst/>
          </a:prstGeom>
          <a:solidFill>
            <a:srgbClr val="C8956C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113" name="Text 109"/>
          <p:cNvSpPr txBox="1"/>
          <p:nvPr/>
        </p:nvSpPr>
        <p:spPr>
          <a:xfrm>
            <a:off x="640080" y="56235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adoptantes</a:t>
            </a:r>
            <a:endParaRPr lang="en-US" sz="1100" dirty="0"/>
          </a:p>
        </p:txBody>
      </p:sp>
      <p:sp>
        <p:nvSpPr>
          <p:cNvPr id="114" name="Text 110"/>
          <p:cNvSpPr txBox="1"/>
          <p:nvPr/>
        </p:nvSpPr>
        <p:spPr>
          <a:xfrm>
            <a:off x="640080" y="56235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i="1" dirty="0">
                <a:solidFill>
                  <a:srgbClr val="FD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DER 3</a:t>
            </a:r>
            <a:endParaRPr lang="en-US" sz="800" dirty="0"/>
          </a:p>
        </p:txBody>
      </p:sp>
      <p:sp>
        <p:nvSpPr>
          <p:cNvPr id="115" name="Text 111"/>
          <p:cNvSpPr txBox="1"/>
          <p:nvPr/>
        </p:nvSpPr>
        <p:spPr>
          <a:xfrm>
            <a:off x="612648" y="593445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116" name="Text 112"/>
          <p:cNvSpPr txBox="1"/>
          <p:nvPr/>
        </p:nvSpPr>
        <p:spPr>
          <a:xfrm>
            <a:off x="932688" y="5934456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17" name="Text 113"/>
          <p:cNvSpPr txBox="1"/>
          <p:nvPr/>
        </p:nvSpPr>
        <p:spPr>
          <a:xfrm>
            <a:off x="2139696" y="593445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18" name="Shape 114"/>
          <p:cNvSpPr/>
          <p:nvPr/>
        </p:nvSpPr>
        <p:spPr>
          <a:xfrm>
            <a:off x="7589520" y="1417320"/>
            <a:ext cx="2743200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119" name="Shape 115"/>
          <p:cNvSpPr/>
          <p:nvPr/>
        </p:nvSpPr>
        <p:spPr>
          <a:xfrm>
            <a:off x="7589520" y="1417320"/>
            <a:ext cx="2743200" cy="310896"/>
          </a:xfrm>
          <a:prstGeom prst="rect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sp>
        <p:nvSpPr>
          <p:cNvPr id="120" name="Text 116"/>
          <p:cNvSpPr txBox="1"/>
          <p:nvPr/>
        </p:nvSpPr>
        <p:spPr>
          <a:xfrm>
            <a:off x="7680960" y="14173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seguimientos_adopcion</a:t>
            </a:r>
            <a:endParaRPr lang="en-US" sz="1100" dirty="0"/>
          </a:p>
        </p:txBody>
      </p:sp>
      <p:sp>
        <p:nvSpPr>
          <p:cNvPr id="121" name="Text 117"/>
          <p:cNvSpPr txBox="1"/>
          <p:nvPr/>
        </p:nvSpPr>
        <p:spPr>
          <a:xfrm>
            <a:off x="7653528" y="172821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122" name="Text 118"/>
          <p:cNvSpPr txBox="1"/>
          <p:nvPr/>
        </p:nvSpPr>
        <p:spPr>
          <a:xfrm>
            <a:off x="7973568" y="172821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23" name="Text 119"/>
          <p:cNvSpPr txBox="1"/>
          <p:nvPr/>
        </p:nvSpPr>
        <p:spPr>
          <a:xfrm>
            <a:off x="9235440" y="172821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24" name="Shape 120"/>
          <p:cNvSpPr/>
          <p:nvPr/>
        </p:nvSpPr>
        <p:spPr>
          <a:xfrm>
            <a:off x="7598664" y="1929384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125" name="Text 121"/>
          <p:cNvSpPr txBox="1"/>
          <p:nvPr/>
        </p:nvSpPr>
        <p:spPr>
          <a:xfrm>
            <a:off x="7653528" y="192938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126" name="Text 122"/>
          <p:cNvSpPr txBox="1"/>
          <p:nvPr/>
        </p:nvSpPr>
        <p:spPr>
          <a:xfrm>
            <a:off x="7973568" y="192938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mascotaId</a:t>
            </a:r>
            <a:endParaRPr lang="en-US" sz="900" dirty="0"/>
          </a:p>
        </p:txBody>
      </p:sp>
      <p:sp>
        <p:nvSpPr>
          <p:cNvPr id="127" name="Text 123"/>
          <p:cNvSpPr txBox="1"/>
          <p:nvPr/>
        </p:nvSpPr>
        <p:spPr>
          <a:xfrm>
            <a:off x="9235440" y="192938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28" name="Text 124"/>
          <p:cNvSpPr txBox="1"/>
          <p:nvPr/>
        </p:nvSpPr>
        <p:spPr>
          <a:xfrm>
            <a:off x="7973568" y="213055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900" dirty="0"/>
          </a:p>
        </p:txBody>
      </p:sp>
      <p:sp>
        <p:nvSpPr>
          <p:cNvPr id="129" name="Text 125"/>
          <p:cNvSpPr txBox="1"/>
          <p:nvPr/>
        </p:nvSpPr>
        <p:spPr>
          <a:xfrm>
            <a:off x="9235440" y="21305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Checkpoint</a:t>
            </a:r>
            <a:endParaRPr lang="en-US" sz="800" dirty="0"/>
          </a:p>
        </p:txBody>
      </p:sp>
      <p:sp>
        <p:nvSpPr>
          <p:cNvPr id="130" name="Shape 126"/>
          <p:cNvSpPr/>
          <p:nvPr/>
        </p:nvSpPr>
        <p:spPr>
          <a:xfrm>
            <a:off x="7598664" y="2331720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131" name="Text 127"/>
          <p:cNvSpPr txBox="1"/>
          <p:nvPr/>
        </p:nvSpPr>
        <p:spPr>
          <a:xfrm>
            <a:off x="7973568" y="233172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fechaProgramada</a:t>
            </a:r>
            <a:endParaRPr lang="en-US" sz="900" dirty="0"/>
          </a:p>
        </p:txBody>
      </p:sp>
      <p:sp>
        <p:nvSpPr>
          <p:cNvPr id="132" name="Text 128"/>
          <p:cNvSpPr txBox="1"/>
          <p:nvPr/>
        </p:nvSpPr>
        <p:spPr>
          <a:xfrm>
            <a:off x="9235440" y="233172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133" name="Text 129"/>
          <p:cNvSpPr txBox="1"/>
          <p:nvPr/>
        </p:nvSpPr>
        <p:spPr>
          <a:xfrm>
            <a:off x="7973568" y="253288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fechaRealizada</a:t>
            </a:r>
            <a:endParaRPr lang="en-US" sz="900" dirty="0"/>
          </a:p>
        </p:txBody>
      </p:sp>
      <p:sp>
        <p:nvSpPr>
          <p:cNvPr id="134" name="Text 130"/>
          <p:cNvSpPr txBox="1"/>
          <p:nvPr/>
        </p:nvSpPr>
        <p:spPr>
          <a:xfrm>
            <a:off x="9235440" y="25328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135" name="Shape 131"/>
          <p:cNvSpPr/>
          <p:nvPr/>
        </p:nvSpPr>
        <p:spPr>
          <a:xfrm>
            <a:off x="7598664" y="2734056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136" name="Text 132"/>
          <p:cNvSpPr txBox="1"/>
          <p:nvPr/>
        </p:nvSpPr>
        <p:spPr>
          <a:xfrm>
            <a:off x="7973568" y="273405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900" dirty="0"/>
          </a:p>
        </p:txBody>
      </p:sp>
      <p:sp>
        <p:nvSpPr>
          <p:cNvPr id="137" name="Text 133"/>
          <p:cNvSpPr txBox="1"/>
          <p:nvPr/>
        </p:nvSpPr>
        <p:spPr>
          <a:xfrm>
            <a:off x="9235440" y="27340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138" name="Text 134"/>
          <p:cNvSpPr txBox="1"/>
          <p:nvPr/>
        </p:nvSpPr>
        <p:spPr>
          <a:xfrm>
            <a:off x="7973568" y="293522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fotoUrl</a:t>
            </a:r>
            <a:endParaRPr lang="en-US" sz="900" dirty="0"/>
          </a:p>
        </p:txBody>
      </p:sp>
      <p:sp>
        <p:nvSpPr>
          <p:cNvPr id="139" name="Text 135"/>
          <p:cNvSpPr txBox="1"/>
          <p:nvPr/>
        </p:nvSpPr>
        <p:spPr>
          <a:xfrm>
            <a:off x="9235440" y="293522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140" name="Shape 136"/>
          <p:cNvSpPr/>
          <p:nvPr/>
        </p:nvSpPr>
        <p:spPr>
          <a:xfrm>
            <a:off x="7598664" y="3136392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141" name="Text 137"/>
          <p:cNvSpPr txBox="1"/>
          <p:nvPr/>
        </p:nvSpPr>
        <p:spPr>
          <a:xfrm>
            <a:off x="7973568" y="313639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900" dirty="0"/>
          </a:p>
        </p:txBody>
      </p:sp>
      <p:sp>
        <p:nvSpPr>
          <p:cNvPr id="142" name="Text 138"/>
          <p:cNvSpPr txBox="1"/>
          <p:nvPr/>
        </p:nvSpPr>
        <p:spPr>
          <a:xfrm>
            <a:off x="9235440" y="313639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143" name="Text 139"/>
          <p:cNvSpPr txBox="1"/>
          <p:nvPr/>
        </p:nvSpPr>
        <p:spPr>
          <a:xfrm>
            <a:off x="7973568" y="333756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updatedAt</a:t>
            </a:r>
            <a:endParaRPr lang="en-US" sz="900" dirty="0"/>
          </a:p>
        </p:txBody>
      </p:sp>
      <p:sp>
        <p:nvSpPr>
          <p:cNvPr id="144" name="Text 140"/>
          <p:cNvSpPr txBox="1"/>
          <p:nvPr/>
        </p:nvSpPr>
        <p:spPr>
          <a:xfrm>
            <a:off x="9235440" y="333756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145" name="Shape 141"/>
          <p:cNvSpPr/>
          <p:nvPr/>
        </p:nvSpPr>
        <p:spPr>
          <a:xfrm>
            <a:off x="7589520" y="3840480"/>
            <a:ext cx="2743200" cy="2121408"/>
          </a:xfrm>
          <a:prstGeom prst="rect">
            <a:avLst/>
          </a:prstGeom>
          <a:solidFill>
            <a:srgbClr val="FFFFFF"/>
          </a:solidFill>
          <a:ln w="19050">
            <a:solidFill>
              <a:srgbClr val="D4A843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146" name="Shape 142"/>
          <p:cNvSpPr/>
          <p:nvPr/>
        </p:nvSpPr>
        <p:spPr>
          <a:xfrm>
            <a:off x="7589520" y="3840480"/>
            <a:ext cx="2743200" cy="31089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47" name="Text 143"/>
          <p:cNvSpPr txBox="1"/>
          <p:nvPr/>
        </p:nvSpPr>
        <p:spPr>
          <a:xfrm>
            <a:off x="7680960" y="38404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media_mascota</a:t>
            </a:r>
            <a:endParaRPr lang="en-US" sz="1100" dirty="0"/>
          </a:p>
        </p:txBody>
      </p:sp>
      <p:sp>
        <p:nvSpPr>
          <p:cNvPr id="148" name="Text 144"/>
          <p:cNvSpPr txBox="1"/>
          <p:nvPr/>
        </p:nvSpPr>
        <p:spPr>
          <a:xfrm>
            <a:off x="7680960" y="38404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</a:t>
            </a:r>
            <a:endParaRPr lang="en-US" sz="800" dirty="0"/>
          </a:p>
        </p:txBody>
      </p:sp>
      <p:sp>
        <p:nvSpPr>
          <p:cNvPr id="149" name="Text 145"/>
          <p:cNvSpPr txBox="1"/>
          <p:nvPr/>
        </p:nvSpPr>
        <p:spPr>
          <a:xfrm>
            <a:off x="7653528" y="415137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150" name="Text 146"/>
          <p:cNvSpPr txBox="1"/>
          <p:nvPr/>
        </p:nvSpPr>
        <p:spPr>
          <a:xfrm>
            <a:off x="7973568" y="415137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51" name="Text 147"/>
          <p:cNvSpPr txBox="1"/>
          <p:nvPr/>
        </p:nvSpPr>
        <p:spPr>
          <a:xfrm>
            <a:off x="9235440" y="415137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52" name="Shape 148"/>
          <p:cNvSpPr/>
          <p:nvPr/>
        </p:nvSpPr>
        <p:spPr>
          <a:xfrm>
            <a:off x="7598664" y="4352544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153" name="Text 149"/>
          <p:cNvSpPr txBox="1"/>
          <p:nvPr/>
        </p:nvSpPr>
        <p:spPr>
          <a:xfrm>
            <a:off x="7653528" y="435254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154" name="Text 150"/>
          <p:cNvSpPr txBox="1"/>
          <p:nvPr/>
        </p:nvSpPr>
        <p:spPr>
          <a:xfrm>
            <a:off x="7973568" y="435254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mascotaId</a:t>
            </a:r>
            <a:endParaRPr lang="en-US" sz="900" dirty="0"/>
          </a:p>
        </p:txBody>
      </p:sp>
      <p:sp>
        <p:nvSpPr>
          <p:cNvPr id="155" name="Text 151"/>
          <p:cNvSpPr txBox="1"/>
          <p:nvPr/>
        </p:nvSpPr>
        <p:spPr>
          <a:xfrm>
            <a:off x="9235440" y="435254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56" name="Text 152"/>
          <p:cNvSpPr txBox="1"/>
          <p:nvPr/>
        </p:nvSpPr>
        <p:spPr>
          <a:xfrm>
            <a:off x="7973568" y="455371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900" dirty="0"/>
          </a:p>
        </p:txBody>
      </p:sp>
      <p:sp>
        <p:nvSpPr>
          <p:cNvPr id="157" name="Text 153"/>
          <p:cNvSpPr txBox="1"/>
          <p:nvPr/>
        </p:nvSpPr>
        <p:spPr>
          <a:xfrm>
            <a:off x="9235440" y="455371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158" name="Shape 154"/>
          <p:cNvSpPr/>
          <p:nvPr/>
        </p:nvSpPr>
        <p:spPr>
          <a:xfrm>
            <a:off x="7598664" y="4754880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159" name="Text 155"/>
          <p:cNvSpPr txBox="1"/>
          <p:nvPr/>
        </p:nvSpPr>
        <p:spPr>
          <a:xfrm>
            <a:off x="7653528" y="475488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UQ</a:t>
            </a:r>
            <a:endParaRPr lang="en-US" sz="700" dirty="0"/>
          </a:p>
        </p:txBody>
      </p:sp>
      <p:sp>
        <p:nvSpPr>
          <p:cNvPr id="160" name="Text 156"/>
          <p:cNvSpPr txBox="1"/>
          <p:nvPr/>
        </p:nvSpPr>
        <p:spPr>
          <a:xfrm>
            <a:off x="7973568" y="475488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</a:t>
            </a:r>
            <a:endParaRPr lang="en-US" sz="900" dirty="0"/>
          </a:p>
        </p:txBody>
      </p:sp>
      <p:sp>
        <p:nvSpPr>
          <p:cNvPr id="161" name="Text 157"/>
          <p:cNvSpPr txBox="1"/>
          <p:nvPr/>
        </p:nvSpPr>
        <p:spPr>
          <a:xfrm>
            <a:off x="9235440" y="475488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62" name="Text 158"/>
          <p:cNvSpPr txBox="1"/>
          <p:nvPr/>
        </p:nvSpPr>
        <p:spPr>
          <a:xfrm>
            <a:off x="7973568" y="495604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900" dirty="0"/>
          </a:p>
        </p:txBody>
      </p:sp>
      <p:sp>
        <p:nvSpPr>
          <p:cNvPr id="163" name="Text 159"/>
          <p:cNvSpPr txBox="1"/>
          <p:nvPr/>
        </p:nvSpPr>
        <p:spPr>
          <a:xfrm>
            <a:off x="9235440" y="495604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FOTO|VIDEO</a:t>
            </a:r>
            <a:endParaRPr lang="en-US" sz="800" dirty="0"/>
          </a:p>
        </p:txBody>
      </p:sp>
      <p:sp>
        <p:nvSpPr>
          <p:cNvPr id="164" name="Shape 160"/>
          <p:cNvSpPr/>
          <p:nvPr/>
        </p:nvSpPr>
        <p:spPr>
          <a:xfrm>
            <a:off x="7598664" y="5157216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165" name="Text 161"/>
          <p:cNvSpPr txBox="1"/>
          <p:nvPr/>
        </p:nvSpPr>
        <p:spPr>
          <a:xfrm>
            <a:off x="7973568" y="515721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mimeType</a:t>
            </a:r>
            <a:endParaRPr lang="en-US" sz="900" dirty="0"/>
          </a:p>
        </p:txBody>
      </p:sp>
      <p:sp>
        <p:nvSpPr>
          <p:cNvPr id="166" name="Text 162"/>
          <p:cNvSpPr txBox="1"/>
          <p:nvPr/>
        </p:nvSpPr>
        <p:spPr>
          <a:xfrm>
            <a:off x="9235440" y="515721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67" name="Text 163"/>
          <p:cNvSpPr txBox="1"/>
          <p:nvPr/>
        </p:nvSpPr>
        <p:spPr>
          <a:xfrm>
            <a:off x="7973568" y="535838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tamanioBytes</a:t>
            </a:r>
            <a:endParaRPr lang="en-US" sz="900" dirty="0"/>
          </a:p>
        </p:txBody>
      </p:sp>
      <p:sp>
        <p:nvSpPr>
          <p:cNvPr id="168" name="Text 164"/>
          <p:cNvSpPr txBox="1"/>
          <p:nvPr/>
        </p:nvSpPr>
        <p:spPr>
          <a:xfrm>
            <a:off x="9235440" y="535838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169" name="Shape 165"/>
          <p:cNvSpPr/>
          <p:nvPr/>
        </p:nvSpPr>
        <p:spPr>
          <a:xfrm>
            <a:off x="7598664" y="5559552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170" name="Text 166"/>
          <p:cNvSpPr txBox="1"/>
          <p:nvPr/>
        </p:nvSpPr>
        <p:spPr>
          <a:xfrm>
            <a:off x="7973568" y="555955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</a:t>
            </a:r>
            <a:endParaRPr lang="en-US" sz="900" dirty="0"/>
          </a:p>
        </p:txBody>
      </p:sp>
      <p:sp>
        <p:nvSpPr>
          <p:cNvPr id="171" name="Text 167"/>
          <p:cNvSpPr txBox="1"/>
          <p:nvPr/>
        </p:nvSpPr>
        <p:spPr>
          <a:xfrm>
            <a:off x="9235440" y="55595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172" name="Text 168"/>
          <p:cNvSpPr txBox="1"/>
          <p:nvPr/>
        </p:nvSpPr>
        <p:spPr>
          <a:xfrm>
            <a:off x="7973568" y="576072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900" dirty="0"/>
          </a:p>
        </p:txBody>
      </p:sp>
      <p:sp>
        <p:nvSpPr>
          <p:cNvPr id="173" name="Text 169"/>
          <p:cNvSpPr txBox="1"/>
          <p:nvPr/>
        </p:nvSpPr>
        <p:spPr>
          <a:xfrm>
            <a:off x="9235440" y="576072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174" name="Shape 170"/>
          <p:cNvSpPr/>
          <p:nvPr/>
        </p:nvSpPr>
        <p:spPr>
          <a:xfrm>
            <a:off x="3200400" y="1828800"/>
            <a:ext cx="27432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75" name="Shape 171"/>
          <p:cNvSpPr/>
          <p:nvPr/>
        </p:nvSpPr>
        <p:spPr>
          <a:xfrm>
            <a:off x="3474720" y="1828800"/>
            <a:ext cx="0" cy="6035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76" name="Shape 172"/>
          <p:cNvSpPr/>
          <p:nvPr/>
        </p:nvSpPr>
        <p:spPr>
          <a:xfrm>
            <a:off x="3474720" y="2432304"/>
            <a:ext cx="73152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77" name="Shape 173"/>
          <p:cNvSpPr/>
          <p:nvPr/>
        </p:nvSpPr>
        <p:spPr>
          <a:xfrm>
            <a:off x="3291840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78" name="Shape 174"/>
          <p:cNvSpPr/>
          <p:nvPr/>
        </p:nvSpPr>
        <p:spPr>
          <a:xfrm>
            <a:off x="3342132" y="1787652"/>
            <a:ext cx="82296" cy="82296"/>
          </a:xfrm>
          <a:prstGeom prst="ellipse">
            <a:avLst/>
          </a:prstGeom>
          <a:solidFill>
            <a:srgbClr val="FDF6EE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179" name="Shape 175"/>
          <p:cNvSpPr/>
          <p:nvPr/>
        </p:nvSpPr>
        <p:spPr>
          <a:xfrm flipV="1">
            <a:off x="4059936" y="2359152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80" name="Shape 176"/>
          <p:cNvSpPr/>
          <p:nvPr/>
        </p:nvSpPr>
        <p:spPr>
          <a:xfrm>
            <a:off x="4059936" y="2432304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81" name="Shape 177"/>
          <p:cNvSpPr/>
          <p:nvPr/>
        </p:nvSpPr>
        <p:spPr>
          <a:xfrm>
            <a:off x="3945636" y="2391156"/>
            <a:ext cx="82296" cy="82296"/>
          </a:xfrm>
          <a:prstGeom prst="ellipse">
            <a:avLst/>
          </a:prstGeom>
          <a:solidFill>
            <a:srgbClr val="FDF6EE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182" name="Shape 178"/>
          <p:cNvSpPr/>
          <p:nvPr/>
        </p:nvSpPr>
        <p:spPr>
          <a:xfrm>
            <a:off x="3840480" y="1828800"/>
            <a:ext cx="36576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83" name="Shape 179"/>
          <p:cNvSpPr/>
          <p:nvPr/>
        </p:nvSpPr>
        <p:spPr>
          <a:xfrm>
            <a:off x="3840480" y="1828800"/>
            <a:ext cx="0" cy="1618488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84" name="Shape 180"/>
          <p:cNvSpPr/>
          <p:nvPr/>
        </p:nvSpPr>
        <p:spPr>
          <a:xfrm>
            <a:off x="3200400" y="3447288"/>
            <a:ext cx="64008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85" name="Shape 181"/>
          <p:cNvSpPr/>
          <p:nvPr/>
        </p:nvSpPr>
        <p:spPr>
          <a:xfrm>
            <a:off x="4114800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86" name="Shape 182"/>
          <p:cNvSpPr/>
          <p:nvPr/>
        </p:nvSpPr>
        <p:spPr>
          <a:xfrm>
            <a:off x="4059936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87" name="Shape 183"/>
          <p:cNvSpPr/>
          <p:nvPr/>
        </p:nvSpPr>
        <p:spPr>
          <a:xfrm>
            <a:off x="3200400" y="3374136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88" name="Shape 184"/>
          <p:cNvSpPr/>
          <p:nvPr/>
        </p:nvSpPr>
        <p:spPr>
          <a:xfrm flipV="1">
            <a:off x="3200400" y="3447288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89" name="Shape 185"/>
          <p:cNvSpPr/>
          <p:nvPr/>
        </p:nvSpPr>
        <p:spPr>
          <a:xfrm>
            <a:off x="3378708" y="3406140"/>
            <a:ext cx="82296" cy="82296"/>
          </a:xfrm>
          <a:prstGeom prst="ellipse">
            <a:avLst/>
          </a:prstGeom>
          <a:solidFill>
            <a:srgbClr val="FDF6EE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190" name="Shape 186"/>
          <p:cNvSpPr/>
          <p:nvPr/>
        </p:nvSpPr>
        <p:spPr>
          <a:xfrm>
            <a:off x="3200400" y="5257800"/>
            <a:ext cx="36576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91" name="Shape 187"/>
          <p:cNvSpPr/>
          <p:nvPr/>
        </p:nvSpPr>
        <p:spPr>
          <a:xfrm>
            <a:off x="3566160" y="5257800"/>
            <a:ext cx="0" cy="19202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92" name="Shape 188"/>
          <p:cNvSpPr/>
          <p:nvPr/>
        </p:nvSpPr>
        <p:spPr>
          <a:xfrm>
            <a:off x="3566160" y="5449824"/>
            <a:ext cx="64008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93" name="Shape 189"/>
          <p:cNvSpPr/>
          <p:nvPr/>
        </p:nvSpPr>
        <p:spPr>
          <a:xfrm>
            <a:off x="3291840" y="5184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94" name="Shape 190"/>
          <p:cNvSpPr/>
          <p:nvPr/>
        </p:nvSpPr>
        <p:spPr>
          <a:xfrm>
            <a:off x="3346704" y="5184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95" name="Shape 191"/>
          <p:cNvSpPr/>
          <p:nvPr/>
        </p:nvSpPr>
        <p:spPr>
          <a:xfrm flipV="1">
            <a:off x="4059936" y="5376672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96" name="Shape 192"/>
          <p:cNvSpPr/>
          <p:nvPr/>
        </p:nvSpPr>
        <p:spPr>
          <a:xfrm>
            <a:off x="4059936" y="5449824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97" name="Shape 193"/>
          <p:cNvSpPr/>
          <p:nvPr/>
        </p:nvSpPr>
        <p:spPr>
          <a:xfrm>
            <a:off x="3945636" y="5408676"/>
            <a:ext cx="82296" cy="82296"/>
          </a:xfrm>
          <a:prstGeom prst="ellipse">
            <a:avLst/>
          </a:prstGeom>
          <a:solidFill>
            <a:srgbClr val="FDF6EE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198" name="Shape 194"/>
          <p:cNvSpPr/>
          <p:nvPr/>
        </p:nvSpPr>
        <p:spPr>
          <a:xfrm>
            <a:off x="3200400" y="6035040"/>
            <a:ext cx="64008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99" name="Shape 195"/>
          <p:cNvSpPr/>
          <p:nvPr/>
        </p:nvSpPr>
        <p:spPr>
          <a:xfrm>
            <a:off x="3840480" y="5650992"/>
            <a:ext cx="0" cy="384048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00" name="Shape 196"/>
          <p:cNvSpPr/>
          <p:nvPr/>
        </p:nvSpPr>
        <p:spPr>
          <a:xfrm>
            <a:off x="3840480" y="5650992"/>
            <a:ext cx="36576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01" name="Shape 197"/>
          <p:cNvSpPr/>
          <p:nvPr/>
        </p:nvSpPr>
        <p:spPr>
          <a:xfrm>
            <a:off x="3291840" y="596188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02" name="Shape 198"/>
          <p:cNvSpPr/>
          <p:nvPr/>
        </p:nvSpPr>
        <p:spPr>
          <a:xfrm>
            <a:off x="3342132" y="5993892"/>
            <a:ext cx="82296" cy="82296"/>
          </a:xfrm>
          <a:prstGeom prst="ellipse">
            <a:avLst/>
          </a:prstGeom>
          <a:solidFill>
            <a:srgbClr val="FDF6EE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203" name="Shape 199"/>
          <p:cNvSpPr/>
          <p:nvPr/>
        </p:nvSpPr>
        <p:spPr>
          <a:xfrm flipV="1">
            <a:off x="4059936" y="5577840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04" name="Shape 200"/>
          <p:cNvSpPr/>
          <p:nvPr/>
        </p:nvSpPr>
        <p:spPr>
          <a:xfrm>
            <a:off x="4059936" y="5650992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05" name="Shape 201"/>
          <p:cNvSpPr/>
          <p:nvPr/>
        </p:nvSpPr>
        <p:spPr>
          <a:xfrm>
            <a:off x="3945636" y="5609844"/>
            <a:ext cx="82296" cy="82296"/>
          </a:xfrm>
          <a:prstGeom prst="ellipse">
            <a:avLst/>
          </a:prstGeom>
          <a:solidFill>
            <a:srgbClr val="FDF6EE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206" name="Shape 202"/>
          <p:cNvSpPr/>
          <p:nvPr/>
        </p:nvSpPr>
        <p:spPr>
          <a:xfrm>
            <a:off x="6949440" y="1828800"/>
            <a:ext cx="32004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07" name="Shape 203"/>
          <p:cNvSpPr/>
          <p:nvPr/>
        </p:nvSpPr>
        <p:spPr>
          <a:xfrm>
            <a:off x="7269480" y="1828800"/>
            <a:ext cx="0" cy="201168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08" name="Shape 204"/>
          <p:cNvSpPr/>
          <p:nvPr/>
        </p:nvSpPr>
        <p:spPr>
          <a:xfrm>
            <a:off x="7269480" y="2029968"/>
            <a:ext cx="32004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09" name="Shape 205"/>
          <p:cNvSpPr/>
          <p:nvPr/>
        </p:nvSpPr>
        <p:spPr>
          <a:xfrm>
            <a:off x="7040880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10" name="Shape 206"/>
          <p:cNvSpPr/>
          <p:nvPr/>
        </p:nvSpPr>
        <p:spPr>
          <a:xfrm>
            <a:off x="7095744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11" name="Shape 207"/>
          <p:cNvSpPr/>
          <p:nvPr/>
        </p:nvSpPr>
        <p:spPr>
          <a:xfrm flipV="1">
            <a:off x="7443216" y="1956816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12" name="Shape 208"/>
          <p:cNvSpPr/>
          <p:nvPr/>
        </p:nvSpPr>
        <p:spPr>
          <a:xfrm>
            <a:off x="7443216" y="2029968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13" name="Shape 209"/>
          <p:cNvSpPr/>
          <p:nvPr/>
        </p:nvSpPr>
        <p:spPr>
          <a:xfrm>
            <a:off x="7328916" y="1988820"/>
            <a:ext cx="82296" cy="82296"/>
          </a:xfrm>
          <a:prstGeom prst="ellipse">
            <a:avLst/>
          </a:prstGeom>
          <a:solidFill>
            <a:srgbClr val="FDF6EE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214" name="Shape 210"/>
          <p:cNvSpPr/>
          <p:nvPr/>
        </p:nvSpPr>
        <p:spPr>
          <a:xfrm>
            <a:off x="6949440" y="1828800"/>
            <a:ext cx="32004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15" name="Shape 211"/>
          <p:cNvSpPr/>
          <p:nvPr/>
        </p:nvSpPr>
        <p:spPr>
          <a:xfrm>
            <a:off x="7269480" y="1828800"/>
            <a:ext cx="0" cy="2624328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16" name="Shape 212"/>
          <p:cNvSpPr/>
          <p:nvPr/>
        </p:nvSpPr>
        <p:spPr>
          <a:xfrm>
            <a:off x="7269480" y="4453128"/>
            <a:ext cx="32004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17" name="Shape 213"/>
          <p:cNvSpPr/>
          <p:nvPr/>
        </p:nvSpPr>
        <p:spPr>
          <a:xfrm>
            <a:off x="7040880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18" name="Shape 214"/>
          <p:cNvSpPr/>
          <p:nvPr/>
        </p:nvSpPr>
        <p:spPr>
          <a:xfrm>
            <a:off x="7095744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19" name="Shape 215"/>
          <p:cNvSpPr/>
          <p:nvPr/>
        </p:nvSpPr>
        <p:spPr>
          <a:xfrm flipV="1">
            <a:off x="7443216" y="4379976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20" name="Shape 216"/>
          <p:cNvSpPr/>
          <p:nvPr/>
        </p:nvSpPr>
        <p:spPr>
          <a:xfrm>
            <a:off x="7443216" y="4453128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221" name="Shape 217"/>
          <p:cNvSpPr/>
          <p:nvPr/>
        </p:nvSpPr>
        <p:spPr>
          <a:xfrm>
            <a:off x="7328916" y="4411980"/>
            <a:ext cx="82296" cy="82296"/>
          </a:xfrm>
          <a:prstGeom prst="ellipse">
            <a:avLst/>
          </a:prstGeom>
          <a:solidFill>
            <a:srgbClr val="FDF6EE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222" name="Text 218"/>
          <p:cNvSpPr txBox="1"/>
          <p:nvPr/>
        </p:nvSpPr>
        <p:spPr>
          <a:xfrm>
            <a:off x="7589520" y="59893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quitan de mascotas: </a:t>
            </a:r>
            <a:pPr indent="0" marL="0">
              <a:buNone/>
            </a:pPr>
            <a:r>
              <a:rPr lang="en-US" sz="11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fotos, mediaUrl y mediaType (pasan a media_mascota).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4747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3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3 · Proceso de adopción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8961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Adoptantes, solicitudes con quiz de compatibilidad y favoritos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1384280" y="6172200"/>
            <a:ext cx="365760" cy="365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417320"/>
            <a:ext cx="2651760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48640" y="1417320"/>
            <a:ext cx="2651760" cy="310896"/>
          </a:xfrm>
          <a:prstGeom prst="rect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14173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adoptantes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12648" y="172821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11" name="Text 7"/>
          <p:cNvSpPr txBox="1"/>
          <p:nvPr/>
        </p:nvSpPr>
        <p:spPr>
          <a:xfrm>
            <a:off x="932688" y="1728216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172821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57784" y="1929384"/>
            <a:ext cx="263347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12648" y="192938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FK·UQ</a:t>
            </a:r>
            <a:endParaRPr lang="en-US" sz="700" dirty="0"/>
          </a:p>
        </p:txBody>
      </p:sp>
      <p:sp>
        <p:nvSpPr>
          <p:cNvPr id="15" name="Text 11"/>
          <p:cNvSpPr txBox="1"/>
          <p:nvPr/>
        </p:nvSpPr>
        <p:spPr>
          <a:xfrm>
            <a:off x="932688" y="1929384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2139696" y="192938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932688" y="2130552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2139696" y="213055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57784" y="2331720"/>
            <a:ext cx="263347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32688" y="2331720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tipoVivienda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2139696" y="233172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932688" y="2532888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tieneOtrasMascotas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2139696" y="253288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557784" y="2734056"/>
            <a:ext cx="263347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32688" y="2734056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tieneHijos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2139696" y="273405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932688" y="2935224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2139696" y="293522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557784" y="3136392"/>
            <a:ext cx="263347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932688" y="3136392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2139696" y="313639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32" name="Text 28"/>
          <p:cNvSpPr txBox="1"/>
          <p:nvPr/>
        </p:nvSpPr>
        <p:spPr>
          <a:xfrm>
            <a:off x="932688" y="3337560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updatedAt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2139696" y="333756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548640" y="4023360"/>
            <a:ext cx="26517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548640" y="4023360"/>
            <a:ext cx="2651760" cy="310896"/>
          </a:xfrm>
          <a:prstGeom prst="rect">
            <a:avLst/>
          </a:prstGeom>
          <a:solidFill>
            <a:srgbClr val="C8956C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40080" y="40233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640080" y="40233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i="1" dirty="0">
                <a:solidFill>
                  <a:srgbClr val="FD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DER 1</a:t>
            </a:r>
            <a:endParaRPr lang="en-US" sz="800" dirty="0"/>
          </a:p>
        </p:txBody>
      </p:sp>
      <p:sp>
        <p:nvSpPr>
          <p:cNvPr id="38" name="Text 34"/>
          <p:cNvSpPr txBox="1"/>
          <p:nvPr/>
        </p:nvSpPr>
        <p:spPr>
          <a:xfrm>
            <a:off x="612648" y="433425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39" name="Text 35"/>
          <p:cNvSpPr txBox="1"/>
          <p:nvPr/>
        </p:nvSpPr>
        <p:spPr>
          <a:xfrm>
            <a:off x="932688" y="4334256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2139696" y="433425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4343400" y="1417320"/>
            <a:ext cx="2743200" cy="2322576"/>
          </a:xfrm>
          <a:prstGeom prst="rect">
            <a:avLst/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4343400" y="1417320"/>
            <a:ext cx="2743200" cy="310896"/>
          </a:xfrm>
          <a:prstGeom prst="rect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4434840" y="14173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solicitudes_adopcion</a:t>
            </a:r>
            <a:endParaRPr lang="en-US" sz="1100" dirty="0"/>
          </a:p>
        </p:txBody>
      </p:sp>
      <p:sp>
        <p:nvSpPr>
          <p:cNvPr id="44" name="Text 40"/>
          <p:cNvSpPr txBox="1"/>
          <p:nvPr/>
        </p:nvSpPr>
        <p:spPr>
          <a:xfrm>
            <a:off x="4407408" y="172821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45" name="Text 41"/>
          <p:cNvSpPr txBox="1"/>
          <p:nvPr/>
        </p:nvSpPr>
        <p:spPr>
          <a:xfrm>
            <a:off x="4727448" y="172821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46" name="Text 42"/>
          <p:cNvSpPr txBox="1"/>
          <p:nvPr/>
        </p:nvSpPr>
        <p:spPr>
          <a:xfrm>
            <a:off x="5989320" y="172821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4352544" y="1929384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4407408" y="192938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49" name="Text 45"/>
          <p:cNvSpPr txBox="1"/>
          <p:nvPr/>
        </p:nvSpPr>
        <p:spPr>
          <a:xfrm>
            <a:off x="4727448" y="192938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mascotaId</a:t>
            </a:r>
            <a:endParaRPr lang="en-US" sz="900" dirty="0"/>
          </a:p>
        </p:txBody>
      </p:sp>
      <p:sp>
        <p:nvSpPr>
          <p:cNvPr id="50" name="Text 46"/>
          <p:cNvSpPr txBox="1"/>
          <p:nvPr/>
        </p:nvSpPr>
        <p:spPr>
          <a:xfrm>
            <a:off x="5989320" y="192938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51" name="Text 47"/>
          <p:cNvSpPr txBox="1"/>
          <p:nvPr/>
        </p:nvSpPr>
        <p:spPr>
          <a:xfrm>
            <a:off x="4407408" y="213055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52" name="Text 48"/>
          <p:cNvSpPr txBox="1"/>
          <p:nvPr/>
        </p:nvSpPr>
        <p:spPr>
          <a:xfrm>
            <a:off x="4727448" y="213055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adoptanteId</a:t>
            </a:r>
            <a:endParaRPr lang="en-US" sz="900" dirty="0"/>
          </a:p>
        </p:txBody>
      </p:sp>
      <p:sp>
        <p:nvSpPr>
          <p:cNvPr id="53" name="Text 49"/>
          <p:cNvSpPr txBox="1"/>
          <p:nvPr/>
        </p:nvSpPr>
        <p:spPr>
          <a:xfrm>
            <a:off x="5989320" y="21305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54" name="Shape 50"/>
          <p:cNvSpPr/>
          <p:nvPr/>
        </p:nvSpPr>
        <p:spPr>
          <a:xfrm>
            <a:off x="4352544" y="2331720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4727448" y="233172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900" dirty="0"/>
          </a:p>
        </p:txBody>
      </p:sp>
      <p:sp>
        <p:nvSpPr>
          <p:cNvPr id="56" name="Text 52"/>
          <p:cNvSpPr txBox="1"/>
          <p:nvPr/>
        </p:nvSpPr>
        <p:spPr>
          <a:xfrm>
            <a:off x="5989320" y="233172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EstadoSolicitud</a:t>
            </a:r>
            <a:endParaRPr lang="en-US" sz="800" dirty="0"/>
          </a:p>
        </p:txBody>
      </p:sp>
      <p:sp>
        <p:nvSpPr>
          <p:cNvPr id="57" name="Text 53"/>
          <p:cNvSpPr txBox="1"/>
          <p:nvPr/>
        </p:nvSpPr>
        <p:spPr>
          <a:xfrm>
            <a:off x="4727448" y="253288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</a:t>
            </a:r>
            <a:endParaRPr lang="en-US" sz="900" dirty="0"/>
          </a:p>
        </p:txBody>
      </p:sp>
      <p:sp>
        <p:nvSpPr>
          <p:cNvPr id="58" name="Text 54"/>
          <p:cNvSpPr txBox="1"/>
          <p:nvPr/>
        </p:nvSpPr>
        <p:spPr>
          <a:xfrm>
            <a:off x="5989320" y="25328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59" name="Shape 55"/>
          <p:cNvSpPr/>
          <p:nvPr/>
        </p:nvSpPr>
        <p:spPr>
          <a:xfrm>
            <a:off x="4352544" y="2734056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4727448" y="273405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quizRespuestas</a:t>
            </a:r>
            <a:endParaRPr lang="en-US" sz="900" dirty="0"/>
          </a:p>
        </p:txBody>
      </p:sp>
      <p:sp>
        <p:nvSpPr>
          <p:cNvPr id="61" name="Text 57"/>
          <p:cNvSpPr txBox="1"/>
          <p:nvPr/>
        </p:nvSpPr>
        <p:spPr>
          <a:xfrm>
            <a:off x="5989320" y="27340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800" dirty="0"/>
          </a:p>
        </p:txBody>
      </p:sp>
      <p:sp>
        <p:nvSpPr>
          <p:cNvPr id="62" name="Text 58"/>
          <p:cNvSpPr txBox="1"/>
          <p:nvPr/>
        </p:nvSpPr>
        <p:spPr>
          <a:xfrm>
            <a:off x="4727448" y="293522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quizPorcentaje</a:t>
            </a:r>
            <a:endParaRPr lang="en-US" sz="900" dirty="0"/>
          </a:p>
        </p:txBody>
      </p:sp>
      <p:sp>
        <p:nvSpPr>
          <p:cNvPr id="63" name="Text 59"/>
          <p:cNvSpPr txBox="1"/>
          <p:nvPr/>
        </p:nvSpPr>
        <p:spPr>
          <a:xfrm>
            <a:off x="5989320" y="293522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64" name="Shape 60"/>
          <p:cNvSpPr/>
          <p:nvPr/>
        </p:nvSpPr>
        <p:spPr>
          <a:xfrm>
            <a:off x="4352544" y="3136392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4727448" y="313639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quizEraRecomendada</a:t>
            </a:r>
            <a:endParaRPr lang="en-US" sz="900" dirty="0"/>
          </a:p>
        </p:txBody>
      </p:sp>
      <p:sp>
        <p:nvSpPr>
          <p:cNvPr id="66" name="Text 62"/>
          <p:cNvSpPr txBox="1"/>
          <p:nvPr/>
        </p:nvSpPr>
        <p:spPr>
          <a:xfrm>
            <a:off x="5989320" y="313639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800" dirty="0"/>
          </a:p>
        </p:txBody>
      </p:sp>
      <p:sp>
        <p:nvSpPr>
          <p:cNvPr id="67" name="Text 63"/>
          <p:cNvSpPr txBox="1"/>
          <p:nvPr/>
        </p:nvSpPr>
        <p:spPr>
          <a:xfrm>
            <a:off x="4727448" y="333756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900" dirty="0"/>
          </a:p>
        </p:txBody>
      </p:sp>
      <p:sp>
        <p:nvSpPr>
          <p:cNvPr id="68" name="Text 64"/>
          <p:cNvSpPr txBox="1"/>
          <p:nvPr/>
        </p:nvSpPr>
        <p:spPr>
          <a:xfrm>
            <a:off x="5989320" y="333756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69" name="Shape 65"/>
          <p:cNvSpPr/>
          <p:nvPr/>
        </p:nvSpPr>
        <p:spPr>
          <a:xfrm>
            <a:off x="4352544" y="3538728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4727448" y="353872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updatedAt</a:t>
            </a:r>
            <a:endParaRPr lang="en-US" sz="900" dirty="0"/>
          </a:p>
        </p:txBody>
      </p:sp>
      <p:sp>
        <p:nvSpPr>
          <p:cNvPr id="71" name="Text 67"/>
          <p:cNvSpPr txBox="1"/>
          <p:nvPr/>
        </p:nvSpPr>
        <p:spPr>
          <a:xfrm>
            <a:off x="5989320" y="35387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72" name="Shape 68"/>
          <p:cNvSpPr/>
          <p:nvPr/>
        </p:nvSpPr>
        <p:spPr>
          <a:xfrm>
            <a:off x="4343400" y="4206240"/>
            <a:ext cx="27432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73" name="Shape 69"/>
          <p:cNvSpPr/>
          <p:nvPr/>
        </p:nvSpPr>
        <p:spPr>
          <a:xfrm>
            <a:off x="4343400" y="4206240"/>
            <a:ext cx="2743200" cy="310896"/>
          </a:xfrm>
          <a:prstGeom prst="rect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sp>
        <p:nvSpPr>
          <p:cNvPr id="74" name="Text 70"/>
          <p:cNvSpPr txBox="1"/>
          <p:nvPr/>
        </p:nvSpPr>
        <p:spPr>
          <a:xfrm>
            <a:off x="4434840" y="42062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favoritos</a:t>
            </a:r>
            <a:endParaRPr lang="en-US" sz="1100" dirty="0"/>
          </a:p>
        </p:txBody>
      </p:sp>
      <p:sp>
        <p:nvSpPr>
          <p:cNvPr id="75" name="Text 71"/>
          <p:cNvSpPr txBox="1"/>
          <p:nvPr/>
        </p:nvSpPr>
        <p:spPr>
          <a:xfrm>
            <a:off x="4407408" y="451713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76" name="Text 72"/>
          <p:cNvSpPr txBox="1"/>
          <p:nvPr/>
        </p:nvSpPr>
        <p:spPr>
          <a:xfrm>
            <a:off x="4727448" y="451713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77" name="Text 73"/>
          <p:cNvSpPr txBox="1"/>
          <p:nvPr/>
        </p:nvSpPr>
        <p:spPr>
          <a:xfrm>
            <a:off x="5989320" y="45171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78" name="Shape 74"/>
          <p:cNvSpPr/>
          <p:nvPr/>
        </p:nvSpPr>
        <p:spPr>
          <a:xfrm>
            <a:off x="4352544" y="4718304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79" name="Text 75"/>
          <p:cNvSpPr txBox="1"/>
          <p:nvPr/>
        </p:nvSpPr>
        <p:spPr>
          <a:xfrm>
            <a:off x="4407408" y="471830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80" name="Text 76"/>
          <p:cNvSpPr txBox="1"/>
          <p:nvPr/>
        </p:nvSpPr>
        <p:spPr>
          <a:xfrm>
            <a:off x="4727448" y="471830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adoptanteId</a:t>
            </a:r>
            <a:endParaRPr lang="en-US" sz="900" dirty="0"/>
          </a:p>
        </p:txBody>
      </p:sp>
      <p:sp>
        <p:nvSpPr>
          <p:cNvPr id="81" name="Text 77"/>
          <p:cNvSpPr txBox="1"/>
          <p:nvPr/>
        </p:nvSpPr>
        <p:spPr>
          <a:xfrm>
            <a:off x="5989320" y="471830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82" name="Text 78"/>
          <p:cNvSpPr txBox="1"/>
          <p:nvPr/>
        </p:nvSpPr>
        <p:spPr>
          <a:xfrm>
            <a:off x="4407408" y="49194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83" name="Text 79"/>
          <p:cNvSpPr txBox="1"/>
          <p:nvPr/>
        </p:nvSpPr>
        <p:spPr>
          <a:xfrm>
            <a:off x="4727448" y="491947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mascotaId</a:t>
            </a:r>
            <a:endParaRPr lang="en-US" sz="900" dirty="0"/>
          </a:p>
        </p:txBody>
      </p:sp>
      <p:sp>
        <p:nvSpPr>
          <p:cNvPr id="84" name="Text 80"/>
          <p:cNvSpPr txBox="1"/>
          <p:nvPr/>
        </p:nvSpPr>
        <p:spPr>
          <a:xfrm>
            <a:off x="5989320" y="491947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85" name="Shape 81"/>
          <p:cNvSpPr/>
          <p:nvPr/>
        </p:nvSpPr>
        <p:spPr>
          <a:xfrm>
            <a:off x="4352544" y="5120640"/>
            <a:ext cx="272491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86" name="Text 82"/>
          <p:cNvSpPr txBox="1"/>
          <p:nvPr/>
        </p:nvSpPr>
        <p:spPr>
          <a:xfrm>
            <a:off x="4727448" y="512064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900" dirty="0"/>
          </a:p>
        </p:txBody>
      </p:sp>
      <p:sp>
        <p:nvSpPr>
          <p:cNvPr id="87" name="Text 83"/>
          <p:cNvSpPr txBox="1"/>
          <p:nvPr/>
        </p:nvSpPr>
        <p:spPr>
          <a:xfrm>
            <a:off x="5989320" y="512064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88" name="Shape 84"/>
          <p:cNvSpPr/>
          <p:nvPr/>
        </p:nvSpPr>
        <p:spPr>
          <a:xfrm>
            <a:off x="8595360" y="1417320"/>
            <a:ext cx="26517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89" name="Shape 85"/>
          <p:cNvSpPr/>
          <p:nvPr/>
        </p:nvSpPr>
        <p:spPr>
          <a:xfrm>
            <a:off x="8595360" y="1417320"/>
            <a:ext cx="2651760" cy="310896"/>
          </a:xfrm>
          <a:prstGeom prst="rect">
            <a:avLst/>
          </a:prstGeom>
          <a:solidFill>
            <a:srgbClr val="C8956C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90" name="Text 86"/>
          <p:cNvSpPr txBox="1"/>
          <p:nvPr/>
        </p:nvSpPr>
        <p:spPr>
          <a:xfrm>
            <a:off x="8686800" y="14173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100" dirty="0"/>
          </a:p>
        </p:txBody>
      </p:sp>
      <p:sp>
        <p:nvSpPr>
          <p:cNvPr id="91" name="Text 87"/>
          <p:cNvSpPr txBox="1"/>
          <p:nvPr/>
        </p:nvSpPr>
        <p:spPr>
          <a:xfrm>
            <a:off x="8686800" y="14173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i="1" dirty="0">
                <a:solidFill>
                  <a:srgbClr val="FD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DER 1</a:t>
            </a:r>
            <a:endParaRPr lang="en-US" sz="800" dirty="0"/>
          </a:p>
        </p:txBody>
      </p:sp>
      <p:sp>
        <p:nvSpPr>
          <p:cNvPr id="92" name="Text 88"/>
          <p:cNvSpPr txBox="1"/>
          <p:nvPr/>
        </p:nvSpPr>
        <p:spPr>
          <a:xfrm>
            <a:off x="8659368" y="172821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93" name="Text 89"/>
          <p:cNvSpPr txBox="1"/>
          <p:nvPr/>
        </p:nvSpPr>
        <p:spPr>
          <a:xfrm>
            <a:off x="8979408" y="1728216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94" name="Text 90"/>
          <p:cNvSpPr txBox="1"/>
          <p:nvPr/>
        </p:nvSpPr>
        <p:spPr>
          <a:xfrm>
            <a:off x="10186416" y="172821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95" name="Shape 91"/>
          <p:cNvSpPr/>
          <p:nvPr/>
        </p:nvSpPr>
        <p:spPr>
          <a:xfrm>
            <a:off x="8604504" y="1929384"/>
            <a:ext cx="2633472" cy="201168"/>
          </a:xfrm>
          <a:prstGeom prst="rect">
            <a:avLst/>
          </a:prstGeom>
          <a:solidFill>
            <a:srgbClr val="FAF3E8"/>
          </a:solidFill>
          <a:ln w="12700">
            <a:solidFill>
              <a:srgbClr val="FAF3E8"/>
            </a:solidFill>
            <a:prstDash val="solid"/>
          </a:ln>
        </p:spPr>
      </p:sp>
      <p:sp>
        <p:nvSpPr>
          <p:cNvPr id="96" name="Text 92"/>
          <p:cNvSpPr txBox="1"/>
          <p:nvPr/>
        </p:nvSpPr>
        <p:spPr>
          <a:xfrm>
            <a:off x="8659368" y="192938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97" name="Text 93"/>
          <p:cNvSpPr txBox="1"/>
          <p:nvPr/>
        </p:nvSpPr>
        <p:spPr>
          <a:xfrm>
            <a:off x="8979408" y="1929384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solicitudId</a:t>
            </a:r>
            <a:endParaRPr lang="en-US" sz="900" dirty="0"/>
          </a:p>
        </p:txBody>
      </p:sp>
      <p:sp>
        <p:nvSpPr>
          <p:cNvPr id="98" name="Text 94"/>
          <p:cNvSpPr txBox="1"/>
          <p:nvPr/>
        </p:nvSpPr>
        <p:spPr>
          <a:xfrm>
            <a:off x="10186416" y="192938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99" name="Shape 95"/>
          <p:cNvSpPr/>
          <p:nvPr/>
        </p:nvSpPr>
        <p:spPr>
          <a:xfrm>
            <a:off x="8595360" y="4206240"/>
            <a:ext cx="26517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100" name="Shape 96"/>
          <p:cNvSpPr/>
          <p:nvPr/>
        </p:nvSpPr>
        <p:spPr>
          <a:xfrm>
            <a:off x="8595360" y="4206240"/>
            <a:ext cx="2651760" cy="310896"/>
          </a:xfrm>
          <a:prstGeom prst="rect">
            <a:avLst/>
          </a:prstGeom>
          <a:solidFill>
            <a:srgbClr val="C8956C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101" name="Text 97"/>
          <p:cNvSpPr txBox="1"/>
          <p:nvPr/>
        </p:nvSpPr>
        <p:spPr>
          <a:xfrm>
            <a:off x="8686800" y="42062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mascotas</a:t>
            </a:r>
            <a:endParaRPr lang="en-US" sz="1100" dirty="0"/>
          </a:p>
        </p:txBody>
      </p:sp>
      <p:sp>
        <p:nvSpPr>
          <p:cNvPr id="102" name="Text 98"/>
          <p:cNvSpPr txBox="1"/>
          <p:nvPr/>
        </p:nvSpPr>
        <p:spPr>
          <a:xfrm>
            <a:off x="8686800" y="42062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i="1" dirty="0">
                <a:solidFill>
                  <a:srgbClr val="FD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DER 2</a:t>
            </a:r>
            <a:endParaRPr lang="en-US" sz="800" dirty="0"/>
          </a:p>
        </p:txBody>
      </p:sp>
      <p:sp>
        <p:nvSpPr>
          <p:cNvPr id="103" name="Text 99"/>
          <p:cNvSpPr txBox="1"/>
          <p:nvPr/>
        </p:nvSpPr>
        <p:spPr>
          <a:xfrm>
            <a:off x="8659368" y="451713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104" name="Text 100"/>
          <p:cNvSpPr txBox="1"/>
          <p:nvPr/>
        </p:nvSpPr>
        <p:spPr>
          <a:xfrm>
            <a:off x="8979408" y="4517136"/>
            <a:ext cx="12600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05" name="Text 101"/>
          <p:cNvSpPr txBox="1"/>
          <p:nvPr/>
        </p:nvSpPr>
        <p:spPr>
          <a:xfrm>
            <a:off x="10186416" y="451713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800" dirty="0"/>
          </a:p>
        </p:txBody>
      </p:sp>
      <p:sp>
        <p:nvSpPr>
          <p:cNvPr id="106" name="Shape 102"/>
          <p:cNvSpPr/>
          <p:nvPr/>
        </p:nvSpPr>
        <p:spPr>
          <a:xfrm>
            <a:off x="320040" y="4434840"/>
            <a:ext cx="22860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320040" y="2029968"/>
            <a:ext cx="0" cy="240487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320040" y="2029968"/>
            <a:ext cx="22860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457200" y="436168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402336" y="436168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457200" y="1956816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402336" y="1956816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3200400" y="1828800"/>
            <a:ext cx="54864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3749040" y="1828800"/>
            <a:ext cx="0" cy="402336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3749040" y="2231136"/>
            <a:ext cx="59436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3291840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3346704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 flipV="1">
            <a:off x="4197096" y="2157984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4197096" y="2231136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4082796" y="2189988"/>
            <a:ext cx="82296" cy="82296"/>
          </a:xfrm>
          <a:prstGeom prst="ellipse">
            <a:avLst/>
          </a:prstGeom>
          <a:solidFill>
            <a:srgbClr val="FDF6EE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3200400" y="1828800"/>
            <a:ext cx="54864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3749040" y="1828800"/>
            <a:ext cx="0" cy="2990088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3749040" y="4818888"/>
            <a:ext cx="59436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3291840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3346704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 flipV="1">
            <a:off x="4197096" y="4745736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4197096" y="4818888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4082796" y="4777740"/>
            <a:ext cx="82296" cy="82296"/>
          </a:xfrm>
          <a:prstGeom prst="ellipse">
            <a:avLst/>
          </a:prstGeom>
          <a:solidFill>
            <a:srgbClr val="FDF6EE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7589520" y="4617720"/>
            <a:ext cx="100584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7589520" y="2029968"/>
            <a:ext cx="0" cy="25877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7086600" y="2029968"/>
            <a:ext cx="50292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8503920" y="454456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8449056" y="454456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7086600" y="1956816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 flipV="1">
            <a:off x="7086600" y="2029968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7264908" y="1988820"/>
            <a:ext cx="82296" cy="82296"/>
          </a:xfrm>
          <a:prstGeom prst="ellipse">
            <a:avLst/>
          </a:prstGeom>
          <a:solidFill>
            <a:srgbClr val="FDF6EE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7589520" y="4617720"/>
            <a:ext cx="100584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7589520" y="4617720"/>
            <a:ext cx="0" cy="402336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7086600" y="5020056"/>
            <a:ext cx="50292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8503920" y="454456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8449056" y="454456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42" name="Shape 138"/>
          <p:cNvSpPr/>
          <p:nvPr/>
        </p:nvSpPr>
        <p:spPr>
          <a:xfrm>
            <a:off x="7086600" y="4946904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43" name="Shape 139"/>
          <p:cNvSpPr/>
          <p:nvPr/>
        </p:nvSpPr>
        <p:spPr>
          <a:xfrm flipV="1">
            <a:off x="7086600" y="5020056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44" name="Shape 140"/>
          <p:cNvSpPr/>
          <p:nvPr/>
        </p:nvSpPr>
        <p:spPr>
          <a:xfrm>
            <a:off x="7264908" y="4978908"/>
            <a:ext cx="82296" cy="82296"/>
          </a:xfrm>
          <a:prstGeom prst="ellipse">
            <a:avLst/>
          </a:prstGeom>
          <a:solidFill>
            <a:srgbClr val="FDF6EE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145" name="Shape 141"/>
          <p:cNvSpPr/>
          <p:nvPr/>
        </p:nvSpPr>
        <p:spPr>
          <a:xfrm>
            <a:off x="7086600" y="1828800"/>
            <a:ext cx="91440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46" name="Shape 142"/>
          <p:cNvSpPr/>
          <p:nvPr/>
        </p:nvSpPr>
        <p:spPr>
          <a:xfrm>
            <a:off x="8001000" y="1828800"/>
            <a:ext cx="0" cy="201168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47" name="Shape 143"/>
          <p:cNvSpPr/>
          <p:nvPr/>
        </p:nvSpPr>
        <p:spPr>
          <a:xfrm>
            <a:off x="8001000" y="2029968"/>
            <a:ext cx="594360" cy="0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48" name="Shape 144"/>
          <p:cNvSpPr/>
          <p:nvPr/>
        </p:nvSpPr>
        <p:spPr>
          <a:xfrm>
            <a:off x="7178040" y="1755648"/>
            <a:ext cx="0" cy="146304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49" name="Shape 145"/>
          <p:cNvSpPr/>
          <p:nvPr/>
        </p:nvSpPr>
        <p:spPr>
          <a:xfrm>
            <a:off x="7228332" y="1787652"/>
            <a:ext cx="82296" cy="82296"/>
          </a:xfrm>
          <a:prstGeom prst="ellipse">
            <a:avLst/>
          </a:prstGeom>
          <a:solidFill>
            <a:srgbClr val="FDF6EE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150" name="Shape 146"/>
          <p:cNvSpPr/>
          <p:nvPr/>
        </p:nvSpPr>
        <p:spPr>
          <a:xfrm flipV="1">
            <a:off x="8449056" y="1956816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51" name="Shape 147"/>
          <p:cNvSpPr/>
          <p:nvPr/>
        </p:nvSpPr>
        <p:spPr>
          <a:xfrm>
            <a:off x="8449056" y="2029968"/>
            <a:ext cx="146304" cy="73152"/>
          </a:xfrm>
          <a:prstGeom prst="line">
            <a:avLst/>
          </a:prstGeom>
          <a:noFill/>
          <a:ln w="15875">
            <a:solidFill>
              <a:srgbClr val="C8956C"/>
            </a:solidFill>
            <a:prstDash val="solid"/>
          </a:ln>
        </p:spPr>
      </p:sp>
      <p:sp>
        <p:nvSpPr>
          <p:cNvPr id="152" name="Shape 148"/>
          <p:cNvSpPr/>
          <p:nvPr/>
        </p:nvSpPr>
        <p:spPr>
          <a:xfrm>
            <a:off x="8334756" y="1988820"/>
            <a:ext cx="82296" cy="82296"/>
          </a:xfrm>
          <a:prstGeom prst="ellipse">
            <a:avLst/>
          </a:prstGeom>
          <a:solidFill>
            <a:srgbClr val="FDF6EE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153" name="Shape 149"/>
          <p:cNvSpPr/>
          <p:nvPr/>
        </p:nvSpPr>
        <p:spPr>
          <a:xfrm>
            <a:off x="8595360" y="5120640"/>
            <a:ext cx="3063240" cy="868680"/>
          </a:xfrm>
          <a:prstGeom prst="roundRect">
            <a:avLst>
              <a:gd name="adj" fmla="val 12632"/>
            </a:avLst>
          </a:prstGeom>
          <a:solidFill>
            <a:srgbClr val="F5E6D0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154" name="Text 150"/>
          <p:cNvSpPr txBox="1"/>
          <p:nvPr/>
        </p:nvSpPr>
        <p:spPr>
          <a:xfrm>
            <a:off x="8732520" y="51206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</a:t>
            </a:r>
            <a:pPr indent="0" marL="0">
              <a:buNone/>
            </a:pPr>
            <a:r>
              <a:rPr lang="en-US" sz="11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adoptante no puede marcar dos veces la misma mascota como favorita (UQ adoptanteId + mascotaId).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4747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3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de las fotos y videos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8961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ilustrativa para protectoras con 500 mascotas en total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1384280" y="6172200"/>
            <a:ext cx="365760" cy="365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4630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31520" y="1554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B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2.500</a:t>
            </a:r>
            <a:endParaRPr lang="en-US" sz="44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2377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2743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por mascota × ~2 MB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43400" y="14630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526280" y="1554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B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44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377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743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MB cada uno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38160" y="14630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8321040" y="1554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84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11 GB</a:t>
            </a:r>
            <a:endParaRPr lang="en-US" sz="4400" dirty="0"/>
          </a:p>
        </p:txBody>
      </p:sp>
      <p:sp>
        <p:nvSpPr>
          <p:cNvPr id="17" name="Text 13"/>
          <p:cNvSpPr txBox="1"/>
          <p:nvPr/>
        </p:nvSpPr>
        <p:spPr>
          <a:xfrm>
            <a:off x="8321040" y="2377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archivos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8321040" y="2743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crecen con cada alta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3474720"/>
            <a:ext cx="111099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822960" y="3611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de la base de datos según dónde se guarden los archivos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822960" y="4206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dentro de MySQL (BLOB)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4023360" y="4251960"/>
            <a:ext cx="6309360" cy="384048"/>
          </a:xfrm>
          <a:prstGeom prst="rect">
            <a:avLst/>
          </a:prstGeom>
          <a:solidFill>
            <a:srgbClr val="A8472F"/>
          </a:solidFill>
          <a:ln w="12700">
            <a:solidFill>
              <a:srgbClr val="A8472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424160" y="4206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11 GB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822960" y="4892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URL en MySQL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4023360" y="4937760"/>
            <a:ext cx="54864" cy="384048"/>
          </a:xfrm>
          <a:prstGeom prst="rect">
            <a:avLst/>
          </a:prstGeom>
          <a:solidFill>
            <a:srgbClr val="5A8A5A"/>
          </a:solidFill>
          <a:ln w="12700">
            <a:solidFill>
              <a:srgbClr val="5A8A5A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206240" y="4892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MB  (2.700 filas × ~300 bytes)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822960" y="5486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aproximados, calculados por el equipo como ejemplo.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4747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3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Investigación con Gemini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8961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consultamos a Gemini cómo guardar las fotos y videos de las mascotas sin saturar la base de datos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1384280" y="6172200"/>
            <a:ext cx="365760" cy="365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463040"/>
            <a:ext cx="3291840" cy="4526280"/>
          </a:xfrm>
          <a:prstGeom prst="roundRect">
            <a:avLst>
              <a:gd name="adj" fmla="val 3333"/>
            </a:avLst>
          </a:prstGeom>
          <a:solidFill>
            <a:srgbClr val="6B3F1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1691640" y="1783080"/>
            <a:ext cx="1005840" cy="100584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158" y="2044598"/>
            <a:ext cx="482803" cy="48280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7724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pregunta</a:t>
            </a:r>
            <a:endParaRPr lang="en-US" sz="2200" dirty="0"/>
          </a:p>
        </p:txBody>
      </p:sp>
      <p:sp>
        <p:nvSpPr>
          <p:cNvPr id="11" name="Text 6"/>
          <p:cNvSpPr txBox="1"/>
          <p:nvPr/>
        </p:nvSpPr>
        <p:spPr>
          <a:xfrm>
            <a:off x="777240" y="352044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protectoras van a subir muchas fotos y videos. ¿Dónde conviene guardarlos para que la base de datos no se sature?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4114800" y="1463040"/>
            <a:ext cx="7543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297680" y="1600200"/>
            <a:ext cx="411480" cy="411480"/>
          </a:xfrm>
          <a:prstGeom prst="ellipse">
            <a:avLst/>
          </a:prstGeom>
          <a:solidFill>
            <a:srgbClr val="5A8A5A"/>
          </a:solidFill>
          <a:ln w="12700">
            <a:solidFill>
              <a:srgbClr val="5A8A5A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4665" y="1707185"/>
            <a:ext cx="197510" cy="19751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846320" y="15727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1: URL en la BD + archivos en la nube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9601200" y="15727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5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 Gemini recomienda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4343400" y="2103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150" dirty="0"/>
          </a:p>
        </p:txBody>
      </p:sp>
      <p:sp>
        <p:nvSpPr>
          <p:cNvPr id="18" name="Text 12"/>
          <p:cNvSpPr txBox="1"/>
          <p:nvPr/>
        </p:nvSpPr>
        <p:spPr>
          <a:xfrm>
            <a:off x="5806440" y="21031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se sube a un almacenamiento de objetos (Amazon S3, Google Cloud Storage, Cloudinary o Supabase Storage). En la BD solo se guarda la ruta o URL.</a:t>
            </a:r>
            <a:endParaRPr lang="en-US" sz="1150" dirty="0"/>
          </a:p>
        </p:txBody>
      </p:sp>
      <p:sp>
        <p:nvSpPr>
          <p:cNvPr id="19" name="Text 13"/>
          <p:cNvSpPr txBox="1"/>
          <p:nvPr/>
        </p:nvSpPr>
        <p:spPr>
          <a:xfrm>
            <a:off x="4343400" y="2606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la BD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5806440" y="26060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Mínimo: solo guarda texto. Backups, consultas e índices siguen siendo rápidos.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4343400" y="3108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5806440" y="31089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barato, entrega global por CDN y una base liviana.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114800" y="3840480"/>
            <a:ext cx="7543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297680" y="3977640"/>
            <a:ext cx="411480" cy="411480"/>
          </a:xfrm>
          <a:prstGeom prst="ellipse">
            <a:avLst/>
          </a:prstGeom>
          <a:solidFill>
            <a:srgbClr val="A8472F"/>
          </a:solidFill>
          <a:ln w="12700">
            <a:solidFill>
              <a:srgbClr val="A8472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4665" y="4084625"/>
            <a:ext cx="197510" cy="19751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846320" y="39502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2: archivo binario dentro de la BD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9601200" y="39502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A8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recomendada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4343400" y="4480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150" dirty="0"/>
          </a:p>
        </p:txBody>
      </p:sp>
      <p:sp>
        <p:nvSpPr>
          <p:cNvPr id="29" name="Text 22"/>
          <p:cNvSpPr txBox="1"/>
          <p:nvPr/>
        </p:nvSpPr>
        <p:spPr>
          <a:xfrm>
            <a:off x="5806440" y="44805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se convierte en un bloque binario y se guarda en una columna (BYTEA en PostgreSQL).</a:t>
            </a:r>
            <a:endParaRPr lang="en-US" sz="1150" dirty="0"/>
          </a:p>
        </p:txBody>
      </p:sp>
      <p:sp>
        <p:nvSpPr>
          <p:cNvPr id="30" name="Text 23"/>
          <p:cNvSpPr txBox="1"/>
          <p:nvPr/>
        </p:nvSpPr>
        <p:spPr>
          <a:xfrm>
            <a:off x="4343400" y="5166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B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la BD</a:t>
            </a:r>
            <a:endParaRPr lang="en-US" sz="1150" dirty="0"/>
          </a:p>
        </p:txBody>
      </p:sp>
      <p:sp>
        <p:nvSpPr>
          <p:cNvPr id="31" name="Text 24"/>
          <p:cNvSpPr txBox="1"/>
          <p:nvPr/>
        </p:nvSpPr>
        <p:spPr>
          <a:xfrm>
            <a:off x="5806440" y="51663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 de MB a GB o TB, los backups tardan horas, cada SELECT carga MB en memoria y el GB de disco de BD es más caro.</a:t>
            </a:r>
            <a:endParaRPr lang="en-US" sz="1150" dirty="0"/>
          </a:p>
        </p:txBody>
      </p:sp>
      <p:sp>
        <p:nvSpPr>
          <p:cNvPr id="32" name="Text 25"/>
          <p:cNvSpPr txBox="1"/>
          <p:nvPr/>
        </p:nvSpPr>
        <p:spPr>
          <a:xfrm>
            <a:off x="411480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respuesta de Gemini (Google) a la consulta del equipo, resumida.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4747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3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la propuesta de Gemini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8961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Revisamos las dos opciones que planteó y las adaptamos a nuestro stack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1384280" y="6172200"/>
            <a:ext cx="365760" cy="365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463040"/>
            <a:ext cx="53949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5A8A5A"/>
          </a:solidFill>
          <a:ln w="12700">
            <a:solidFill>
              <a:srgbClr val="5A8A5A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776679"/>
            <a:ext cx="241402" cy="24140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417320" y="16459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1: URL en la BD + archivo en la nube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822960" y="22860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Correcta. Es la práctica estándar: la BD queda liviana, los backups son rápidos y el CDN entrega los videos rápido.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48640" y="37947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A8472F"/>
          </a:solidFill>
          <a:ln w="12700">
            <a:solidFill>
              <a:srgbClr val="A8472F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4108399"/>
            <a:ext cx="241402" cy="24140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17320" y="39776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2: archivo binario en la BD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822960" y="46177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Correcto descartarla: crecimiento desmedido, backups lentos, más RAM en cada consulta y almacenamiento más caro por GB.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6263640" y="146304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F5E6D0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18" name="Text 12"/>
          <p:cNvSpPr txBox="1"/>
          <p:nvPr/>
        </p:nvSpPr>
        <p:spPr>
          <a:xfrm>
            <a:off x="653796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3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ajustamos o agregamos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6537960" y="210312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distinto: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habla de PostgreSQL y BYTEA. En MySQL el equivalente es LONGBLOB, con los mismos problemas.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más que la URL: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el ID del archivo en la nube, tipo, tamaño y la mascota a la que pertenece, para poder borrarlo o reemplazarlo.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 directa: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sube a la nube con una URL firmada; así el servidor Next.js no carga con los videos.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antes de subir: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y tamaño máximo, y comprimir los videos.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borrar una mascota, borrar también sus archivos para no pagar por archivos huérfanos.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4747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3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propuesta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8961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dato va al lugar que mejor lo maneja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1384280" y="6172200"/>
            <a:ext cx="365760" cy="365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" y="1828800"/>
            <a:ext cx="2286000" cy="246888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1371600" y="2011680"/>
            <a:ext cx="822960" cy="822960"/>
          </a:xfrm>
          <a:prstGeom prst="ellipse">
            <a:avLst/>
          </a:prstGeom>
          <a:solidFill>
            <a:srgbClr val="C8956C"/>
          </a:solidFill>
          <a:ln w="12700">
            <a:solidFill>
              <a:srgbClr val="C8956C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70" y="2225650"/>
            <a:ext cx="395021" cy="395021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3152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777240" y="3337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foto o video de la mascota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2971800" y="3063240"/>
            <a:ext cx="548640" cy="0"/>
          </a:xfrm>
          <a:prstGeom prst="line">
            <a:avLst/>
          </a:prstGeom>
          <a:noFill/>
          <a:ln w="31750">
            <a:solidFill>
              <a:srgbClr val="9B6B47"/>
            </a:solidFill>
            <a:prstDash val="solid"/>
            <a:tailEnd type="triangle"/>
          </a:ln>
        </p:spPr>
      </p:sp>
      <p:sp>
        <p:nvSpPr>
          <p:cNvPr id="13" name="Shape 8"/>
          <p:cNvSpPr/>
          <p:nvPr/>
        </p:nvSpPr>
        <p:spPr>
          <a:xfrm>
            <a:off x="3520440" y="1828800"/>
            <a:ext cx="2286000" cy="246888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251960" y="2011680"/>
            <a:ext cx="822960" cy="82296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930" y="2225650"/>
            <a:ext cx="395021" cy="395021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61188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3657600" y="3337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y genera una URL firmada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852160" y="3063240"/>
            <a:ext cx="548640" cy="0"/>
          </a:xfrm>
          <a:prstGeom prst="line">
            <a:avLst/>
          </a:prstGeom>
          <a:noFill/>
          <a:ln w="31750">
            <a:solidFill>
              <a:srgbClr val="9B6B47"/>
            </a:solidFill>
            <a:prstDash val="solid"/>
            <a:tailEnd type="triangle"/>
          </a:ln>
        </p:spPr>
      </p:sp>
      <p:sp>
        <p:nvSpPr>
          <p:cNvPr id="19" name="Shape 13"/>
          <p:cNvSpPr/>
          <p:nvPr/>
        </p:nvSpPr>
        <p:spPr>
          <a:xfrm>
            <a:off x="6400800" y="1828800"/>
            <a:ext cx="2286000" cy="246888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132320" y="2011680"/>
            <a:ext cx="822960" cy="82296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6290" y="2225650"/>
            <a:ext cx="395021" cy="395021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9224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de archivos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537960" y="3337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el archivo y lo sirve por CDN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8732520" y="3063240"/>
            <a:ext cx="548640" cy="0"/>
          </a:xfrm>
          <a:prstGeom prst="line">
            <a:avLst/>
          </a:prstGeom>
          <a:noFill/>
          <a:ln w="31750">
            <a:solidFill>
              <a:srgbClr val="9B6B47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9281160" y="1828800"/>
            <a:ext cx="2286000" cy="246888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10012680" y="2011680"/>
            <a:ext cx="822960" cy="822960"/>
          </a:xfrm>
          <a:prstGeom prst="ellipse">
            <a:avLst/>
          </a:prstGeom>
          <a:solidFill>
            <a:srgbClr val="6B3F1F"/>
          </a:solidFill>
          <a:ln w="12700">
            <a:solidFill>
              <a:srgbClr val="6B3F1F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6650" y="2225650"/>
            <a:ext cx="395021" cy="395021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37260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Prisma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9418320" y="3337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URL, ID, tipo, tamaño y mascota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548640" y="4663440"/>
            <a:ext cx="11109960" cy="1325880"/>
          </a:xfrm>
          <a:prstGeom prst="roundRect">
            <a:avLst>
              <a:gd name="adj" fmla="val 8276"/>
            </a:avLst>
          </a:prstGeom>
          <a:solidFill>
            <a:srgbClr val="F5E6D0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31" name="Text 23"/>
          <p:cNvSpPr txBox="1"/>
          <p:nvPr/>
        </p:nvSpPr>
        <p:spPr>
          <a:xfrm>
            <a:off x="822960" y="475488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nueva: </a:t>
            </a:r>
            <a:pPr indent="0" marL="0">
              <a:buNone/>
            </a:pPr>
            <a:r>
              <a:rPr lang="en-US" sz="14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media_mascota (id, mascotaId, url, publicId, tipo [FOTO|VIDEO], mimeType, tamanioBytes, orden, createdAt), detallada en el DER 2. </a:t>
            </a:r>
            <a:pPr indent="0" marL="0">
              <a:buNone/>
            </a:pPr>
            <a:r>
              <a:rPr lang="en-US" sz="14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guarda solo texto y números: la BD sigue siendo liviana aunque se suban miles de videos.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4747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3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de almacenamiento en la nube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8961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5 opciones (precios en USD, septiembre 2026)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1384280" y="6172200"/>
            <a:ext cx="365760" cy="365760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1828800"/>
                <a:gridCol w="1828800"/>
                <a:gridCol w="1828800"/>
                <a:gridCol w="18745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Cloudflare R2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4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gratuito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créditos/mes, sin tarjeta (1 crédito = 1 GB guardado o 1 GB transferido)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GB + 1 M escrituras + 10 M lecturas por 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GB; máx. 50 MB por archivo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Cuentas nuevas: USD 200 en créditos por 6 meses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Requiere plan Blaze (tarjeta); cupo gratis solo en regiones de EE. UU.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al crecer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Plus USD 89/mes (225 créditos)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A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0,015 por GB/mes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USD 25/mes con 100 GB; extra USD 0,0213/GB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0,023 por GB/mes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Precios de Google Cloud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Transferencia (descargas)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 créditos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A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Gratis, sin límite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Incluida por cuota del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0,09/GB (100 GB/mes gratis)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Según Google 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 fotos y videos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A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Sí: miniaturas, WebP/AVIF, compresión y conversión de video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(requiere otro servicio)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imágenes, con costo extra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(requiere Lambda u otro servicio)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con extensión de redimensionado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Integración con Next.js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A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simple: librería next-cloudinary y widget de subida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compatible con S3 y URLs firmadas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 JS; pensado para bases PostgreSQL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 completo; configuración compleja (IAM)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 de Firebase; otro ecosistema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E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548640" y="61264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documentación de Supabase y Firebase; guías de precios 2026 de Cloudinary (theimagecdn.com), Cloudflare R2 (egresscost.com) y AWS S3 (cloudzero.com). Verificar antes de contratar.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4747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3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servicio de nube conviene?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8961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recomendación para hoy y un plan para cuando crezca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1384280" y="6172200"/>
            <a:ext cx="365760" cy="365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463040"/>
            <a:ext cx="539496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68680" y="169164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6868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· PILOTO CON FUPA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1945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3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Cloudinary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2880360"/>
            <a:ext cx="4754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y sin tarjeta para empezar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miniaturas y comprime fotos y videos solo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directa con Next.js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Ojo: los videos consumen créditos rápido; si se pasa del límite, avisa y luego suspende la cuenta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263640" y="1463040"/>
            <a:ext cx="539496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83680" y="169164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5A8A5A"/>
          </a:solidFill>
          <a:ln w="12700">
            <a:solidFill>
              <a:srgbClr val="5A8A5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58368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CRECE · MUCHOS VIDEOS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21945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3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Cloudflare R2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6629400" y="2880360"/>
            <a:ext cx="4754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más barato de la comparación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Descargas gratis, sin importar el tráfico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compatible con S3: fácil de migrar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cambio: hay que resolver la optimización de fotos y videos por nuestra cuenta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6000"/>
            </a:avLst>
          </a:prstGeom>
          <a:solidFill>
            <a:srgbClr val="F5E6D0"/>
          </a:solidFill>
          <a:ln w="9525">
            <a:solidFill>
              <a:srgbClr val="F5E6D0"/>
            </a:solidFill>
            <a:prstDash val="solid"/>
          </a:ln>
          <a:effectLst>
            <a:outerShdw sx="100000" sy="100000" kx="0" ky="0" algn="bl" rotWithShape="0" blurRad="101600" dist="25400" dir="5400000">
              <a:srgbClr val="6B3F1F">
                <a:alpha val="12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822960" y="54406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Descartados por ahora: </a:t>
            </a:r>
            <a:pPr indent="0" marL="0">
              <a:buNone/>
            </a:pPr>
            <a:r>
              <a:rPr lang="en-US" sz="13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(1 GB y 50 MB por archivo en el plan gratis), AWS S3 (cobra descargas y es complejo de configurar) y Firebase (pide tarjeta desde el inicio).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6B3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10058400" y="45720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" y="681228"/>
            <a:ext cx="329184" cy="32918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508760" y="4572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3800" dirty="0"/>
          </a:p>
        </p:txBody>
      </p:sp>
      <p:sp>
        <p:nvSpPr>
          <p:cNvPr id="6" name="Shape 2"/>
          <p:cNvSpPr/>
          <p:nvPr/>
        </p:nvSpPr>
        <p:spPr>
          <a:xfrm>
            <a:off x="640080" y="16002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rgbClr val="6B3F1F"/>
          </a:solidFill>
          <a:ln w="12700">
            <a:solidFill>
              <a:srgbClr val="6B3F1F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1995221"/>
            <a:ext cx="307238" cy="30723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69164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914400" y="26517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relacional: MySQL</a:t>
            </a:r>
            <a:endParaRPr lang="en-US" sz="1900" dirty="0"/>
          </a:p>
        </p:txBody>
      </p:sp>
      <p:sp>
        <p:nvSpPr>
          <p:cNvPr id="11" name="Text 6"/>
          <p:cNvSpPr txBox="1"/>
          <p:nvPr/>
        </p:nvSpPr>
        <p:spPr>
          <a:xfrm>
            <a:off x="914400" y="329184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D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Nuestros datos son relacionales. MySQL 8.4 LTS con Prisma 6 da integridad, transacciones y continuidad con lo ya construido. MariaDB queda como alternativa compatible.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4343400" y="16002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617720" y="1828800"/>
            <a:ext cx="640080" cy="640080"/>
          </a:xfrm>
          <a:prstGeom prst="ellipse">
            <a:avLst/>
          </a:prstGeom>
          <a:solidFill>
            <a:srgbClr val="6B3F1F"/>
          </a:solidFill>
          <a:ln w="12700">
            <a:solidFill>
              <a:srgbClr val="6B3F1F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141" y="1995221"/>
            <a:ext cx="307238" cy="30723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39496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4617720" y="26517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Archivos en la nube</a:t>
            </a:r>
            <a:endParaRPr lang="en-US" sz="1900" dirty="0"/>
          </a:p>
        </p:txBody>
      </p:sp>
      <p:sp>
        <p:nvSpPr>
          <p:cNvPr id="17" name="Text 11"/>
          <p:cNvSpPr txBox="1"/>
          <p:nvPr/>
        </p:nvSpPr>
        <p:spPr>
          <a:xfrm>
            <a:off x="4617720" y="329184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D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y videos van a Cloudinary en la etapa piloto; si el volumen de video crece, se evalúa migrar a Cloudflare R2.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8046720" y="16002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9B6B47"/>
          </a:solidFill>
          <a:ln w="12700">
            <a:solidFill>
              <a:srgbClr val="9B6B47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321040" y="1828800"/>
            <a:ext cx="640080" cy="640080"/>
          </a:xfrm>
          <a:prstGeom prst="ellipse">
            <a:avLst/>
          </a:prstGeom>
          <a:solidFill>
            <a:srgbClr val="6B3F1F"/>
          </a:solidFill>
          <a:ln w="12700">
            <a:solidFill>
              <a:srgbClr val="6B3F1F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461" y="1995221"/>
            <a:ext cx="307238" cy="30723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09828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UNIÓN DE AMBOS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321040" y="26517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la referencia en la BD</a:t>
            </a:r>
            <a:endParaRPr lang="en-US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8321040" y="329184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D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guarda URL, ID, tipo, tamaño y mascota. Confirmamos lo que planteó Gemini: nunca guardar binarios en la base.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640080" y="5440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la tabla media_mascota con Prisma · configurar la subida firmada a Cloudinary · definir límites de tamaño y formato · probar con fotos reales de FUPA.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Base de Datos – Happy Paws</dc:title>
  <dc:subject>PptxGenJS Presentation</dc:subject>
  <dc:creator>Daniel Bosio, Martin Oviedo, Pablo Tinunin</dc:creator>
  <cp:lastModifiedBy>Daniel Bosio, Martin Oviedo, Pablo Tinunin</cp:lastModifiedBy>
  <cp:revision>1</cp:revision>
  <dcterms:created xsi:type="dcterms:W3CDTF">2026-09-24T22:06:05Z</dcterms:created>
  <dcterms:modified xsi:type="dcterms:W3CDTF">2026-09-24T22:06:05Z</dcterms:modified>
</cp:coreProperties>
</file>